
<file path=[Content_Types].xml><?xml version="1.0" encoding="utf-8"?>
<Types xmlns="http://schemas.openxmlformats.org/package/2006/content-types">
  <Default Extension="png" ContentType="image/png"/>
  <Default Extension="svg" ContentType="image/svg+xml"/>
  <Default Extension="jpeg" ContentType="image/jpeg"/>
  <Default Extension="rels" ContentType="application/vnd.openxmlformats-package.relationships+xml"/>
  <Default Extension="xml" ContentType="application/xml"/>
  <Default Extension="fntdata" ContentType="application/x-fontdata"/>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Lst>
  <p:sldSz cx="18288000" cy="10287000"/>
  <p:notesSz cx="6858000" cy="9144000"/>
  <p:embeddedFontLst>
    <p:embeddedFont>
      <p:font typeface="Canva Sans Bold" panose="020B0604020202020204" charset="0"/>
      <p:regular r:id="rId22"/>
    </p:embeddedFont>
    <p:embeddedFont>
      <p:font typeface="Cheddar" panose="020B0604020202020204" charset="0"/>
      <p:regular r:id="rId23"/>
    </p:embeddedFont>
    <p:embeddedFont>
      <p:font typeface="Telegraf Medium" panose="020B0604020202020204" charset="0"/>
      <p:regular r:id="rId24"/>
    </p:embeddedFont>
    <p:embeddedFont>
      <p:font typeface="TT Berlinerins" panose="020B0604020202020204" charset="0"/>
      <p:regular r:id="rId25"/>
    </p:embeddedFont>
    <p:embeddedFont>
      <p:font typeface="Telegraf Bold" panose="020B0604020202020204" charset="0"/>
      <p:regular r:id="rId26"/>
    </p:embeddedFont>
    <p:embeddedFont>
      <p:font typeface="Telegraf" panose="020B0604020202020204" charset="0"/>
      <p:regular r:id="rId27"/>
    </p:embeddedFont>
    <p:embeddedFont>
      <p:font typeface="Canva Sans" panose="020B0604020202020204" charset="0"/>
      <p:regular r:id="rId28"/>
    </p:embeddedFont>
    <p:embeddedFont>
      <p:font typeface="Calibri" panose="020F0502020204030204" pitchFamily="34" charset="0"/>
      <p:regular r:id="rId29"/>
      <p:bold r:id="rId30"/>
      <p:italic r:id="rId31"/>
      <p:boldItalic r:id="rId32"/>
    </p:embeddedFont>
    <p:embeddedFont>
      <p:font typeface="Arimo" panose="020B0604020202020204" charset="0"/>
      <p:regular r:id="rId33"/>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autoAdjust="0"/>
    <p:restoredTop sz="94622" autoAdjust="0"/>
  </p:normalViewPr>
  <p:slideViewPr>
    <p:cSldViewPr>
      <p:cViewPr varScale="1">
        <p:scale>
          <a:sx n="44" d="100"/>
          <a:sy n="44" d="100"/>
        </p:scale>
        <p:origin x="660" y="48"/>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font" Target="fonts/font5.fntdata"/><Relationship Id="rId21" Type="http://schemas.openxmlformats.org/officeDocument/2006/relationships/slide" Target="slides/slide20.xml"/><Relationship Id="rId34"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font" Target="fonts/font4.fntdata"/><Relationship Id="rId33" Type="http://schemas.openxmlformats.org/officeDocument/2006/relationships/font" Target="fonts/font12.fntdata"/><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font" Target="fonts/font8.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3.fntdata"/><Relationship Id="rId32" Type="http://schemas.openxmlformats.org/officeDocument/2006/relationships/font" Target="fonts/font11.fntdata"/><Relationship Id="rId37"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2.fntdata"/><Relationship Id="rId28" Type="http://schemas.openxmlformats.org/officeDocument/2006/relationships/font" Target="fonts/font7.fntdata"/><Relationship Id="rId36"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font" Target="fonts/font10.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1.fntdata"/><Relationship Id="rId27" Type="http://schemas.openxmlformats.org/officeDocument/2006/relationships/font" Target="fonts/font6.fntdata"/><Relationship Id="rId30" Type="http://schemas.openxmlformats.org/officeDocument/2006/relationships/font" Target="fonts/font9.fntdata"/><Relationship Id="rId35" Type="http://schemas.openxmlformats.org/officeDocument/2006/relationships/viewProps" Target="viewProps.xml"/><Relationship Id="rId8" Type="http://schemas.openxmlformats.org/officeDocument/2006/relationships/slide" Target="slides/slide7.xml"/><Relationship Id="rId3" Type="http://schemas.openxmlformats.org/officeDocument/2006/relationships/slide" Target="slides/slide2.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3/21/2025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‹N°›</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3/21/2025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‹N°›</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3/21/2025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‹N°›</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3/21/2025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‹N°›</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3/21/2025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‹N°›</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3/21/2025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‹N°›</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3/21/2025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‹N°›</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3/21/2025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‹N°›</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3/21/2025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‹N°›</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3/21/2025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‹N°›</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3/21/2025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‹N°›</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3/21/2025</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‹N°›</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13.png"/><Relationship Id="rId7" Type="http://schemas.openxmlformats.org/officeDocument/2006/relationships/image" Target="../media/image2.svg"/><Relationship Id="rId2" Type="http://schemas.openxmlformats.org/officeDocument/2006/relationships/image" Target="../media/image12.png"/><Relationship Id="rId1" Type="http://schemas.openxmlformats.org/officeDocument/2006/relationships/slideLayout" Target="../slideLayouts/slideLayout7.xml"/><Relationship Id="rId6" Type="http://schemas.openxmlformats.org/officeDocument/2006/relationships/image" Target="../media/image4.png"/><Relationship Id="rId5" Type="http://schemas.openxmlformats.org/officeDocument/2006/relationships/image" Target="../media/image15.png"/><Relationship Id="rId4" Type="http://schemas.openxmlformats.org/officeDocument/2006/relationships/image" Target="../media/image14.png"/></Relationships>
</file>

<file path=ppt/slides/_rels/slide11.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9.pn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2.png"/><Relationship Id="rId1" Type="http://schemas.openxmlformats.org/officeDocument/2006/relationships/slideLayout" Target="../slideLayouts/slideLayout7.xml"/><Relationship Id="rId4" Type="http://schemas.openxmlformats.org/officeDocument/2006/relationships/image" Target="../media/image16.svg"/></Relationships>
</file>

<file path=ppt/slides/_rels/slide17.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24.png"/><Relationship Id="rId1" Type="http://schemas.openxmlformats.org/officeDocument/2006/relationships/slideLayout" Target="../slideLayouts/slideLayout7.xml"/><Relationship Id="rId4" Type="http://schemas.openxmlformats.org/officeDocument/2006/relationships/image" Target="../media/image26.png"/></Relationships>
</file>

<file path=ppt/slides/_rels/slide18.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7.png"/><Relationship Id="rId1" Type="http://schemas.openxmlformats.org/officeDocument/2006/relationships/slideLayout" Target="../slideLayouts/slideLayout7.xml"/><Relationship Id="rId6" Type="http://schemas.openxmlformats.org/officeDocument/2006/relationships/image" Target="../media/image29.png"/><Relationship Id="rId5" Type="http://schemas.openxmlformats.org/officeDocument/2006/relationships/image" Target="../media/image28.png"/><Relationship Id="rId4" Type="http://schemas.openxmlformats.org/officeDocument/2006/relationships/image" Target="../media/image16.svg"/></Relationships>
</file>

<file path=ppt/slides/_rels/slide19.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image" Target="../media/image30.png"/><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image" Target="../media/image32.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EEF4F3"/>
        </a:solidFill>
        <a:effectLst/>
      </p:bgPr>
    </p:bg>
    <p:spTree>
      <p:nvGrpSpPr>
        <p:cNvPr id="1" name=""/>
        <p:cNvGrpSpPr/>
        <p:nvPr/>
      </p:nvGrpSpPr>
      <p:grpSpPr>
        <a:xfrm>
          <a:off x="0" y="0"/>
          <a:ext cx="0" cy="0"/>
          <a:chOff x="0" y="0"/>
          <a:chExt cx="0" cy="0"/>
        </a:xfrm>
      </p:grpSpPr>
      <p:grpSp>
        <p:nvGrpSpPr>
          <p:cNvPr id="3" name="Group 3"/>
          <p:cNvGrpSpPr/>
          <p:nvPr/>
        </p:nvGrpSpPr>
        <p:grpSpPr>
          <a:xfrm>
            <a:off x="8487088" y="5765719"/>
            <a:ext cx="8556670" cy="1571081"/>
            <a:chOff x="-11400" y="-28878"/>
            <a:chExt cx="2155374" cy="346271"/>
          </a:xfrm>
        </p:grpSpPr>
        <p:sp>
          <p:nvSpPr>
            <p:cNvPr id="4" name="Freeform 4"/>
            <p:cNvSpPr/>
            <p:nvPr/>
          </p:nvSpPr>
          <p:spPr>
            <a:xfrm>
              <a:off x="0" y="0"/>
              <a:ext cx="2143974" cy="298646"/>
            </a:xfrm>
            <a:custGeom>
              <a:avLst/>
              <a:gdLst/>
              <a:ahLst/>
              <a:cxnLst/>
              <a:rect l="l" t="t" r="r" b="b"/>
              <a:pathLst>
                <a:path w="2143974" h="298646">
                  <a:moveTo>
                    <a:pt x="46389" y="0"/>
                  </a:moveTo>
                  <a:lnTo>
                    <a:pt x="2097585" y="0"/>
                  </a:lnTo>
                  <a:cubicBezTo>
                    <a:pt x="2123205" y="0"/>
                    <a:pt x="2143974" y="20769"/>
                    <a:pt x="2143974" y="46389"/>
                  </a:cubicBezTo>
                  <a:lnTo>
                    <a:pt x="2143974" y="252257"/>
                  </a:lnTo>
                  <a:cubicBezTo>
                    <a:pt x="2143974" y="264560"/>
                    <a:pt x="2139086" y="276359"/>
                    <a:pt x="2130387" y="285059"/>
                  </a:cubicBezTo>
                  <a:cubicBezTo>
                    <a:pt x="2121687" y="293759"/>
                    <a:pt x="2109888" y="298646"/>
                    <a:pt x="2097585" y="298646"/>
                  </a:cubicBezTo>
                  <a:lnTo>
                    <a:pt x="46389" y="298646"/>
                  </a:lnTo>
                  <a:cubicBezTo>
                    <a:pt x="34086" y="298646"/>
                    <a:pt x="22287" y="293759"/>
                    <a:pt x="13587" y="285059"/>
                  </a:cubicBezTo>
                  <a:cubicBezTo>
                    <a:pt x="4887" y="276359"/>
                    <a:pt x="0" y="264560"/>
                    <a:pt x="0" y="252257"/>
                  </a:cubicBezTo>
                  <a:lnTo>
                    <a:pt x="0" y="46389"/>
                  </a:lnTo>
                  <a:cubicBezTo>
                    <a:pt x="0" y="34086"/>
                    <a:pt x="4887" y="22287"/>
                    <a:pt x="13587" y="13587"/>
                  </a:cubicBezTo>
                  <a:cubicBezTo>
                    <a:pt x="22287" y="4887"/>
                    <a:pt x="34086" y="0"/>
                    <a:pt x="46389" y="0"/>
                  </a:cubicBezTo>
                  <a:close/>
                </a:path>
              </a:pathLst>
            </a:custGeom>
            <a:solidFill>
              <a:srgbClr val="02B676"/>
            </a:solidFill>
          </p:spPr>
        </p:sp>
        <p:sp>
          <p:nvSpPr>
            <p:cNvPr id="5" name="TextBox 5"/>
            <p:cNvSpPr txBox="1"/>
            <p:nvPr/>
          </p:nvSpPr>
          <p:spPr>
            <a:xfrm>
              <a:off x="-11400" y="-28878"/>
              <a:ext cx="2143974" cy="346271"/>
            </a:xfrm>
            <a:prstGeom prst="rect">
              <a:avLst/>
            </a:prstGeom>
          </p:spPr>
          <p:txBody>
            <a:bodyPr lIns="50800" tIns="50800" rIns="50800" bIns="50800" rtlCol="0" anchor="ctr"/>
            <a:lstStyle/>
            <a:p>
              <a:pPr algn="ctr">
                <a:lnSpc>
                  <a:spcPts val="4199"/>
                </a:lnSpc>
              </a:pPr>
              <a:r>
                <a:rPr lang="en-US" sz="2999" b="1" dirty="0">
                  <a:solidFill>
                    <a:srgbClr val="FFFFFF"/>
                  </a:solidFill>
                  <a:latin typeface="Canva Sans Bold"/>
                  <a:ea typeface="Canva Sans Bold"/>
                  <a:cs typeface="Canva Sans Bold"/>
                  <a:sym typeface="Canva Sans Bold"/>
                </a:rPr>
                <a:t>PRÉSENTÉ PAR :</a:t>
              </a:r>
            </a:p>
            <a:p>
              <a:pPr algn="ctr">
                <a:lnSpc>
                  <a:spcPts val="4199"/>
                </a:lnSpc>
                <a:spcBef>
                  <a:spcPct val="0"/>
                </a:spcBef>
              </a:pPr>
              <a:r>
                <a:rPr lang="en-US" sz="2999" b="1" dirty="0">
                  <a:solidFill>
                    <a:srgbClr val="FFFFFF"/>
                  </a:solidFill>
                  <a:latin typeface="Canva Sans Bold"/>
                  <a:ea typeface="Canva Sans Bold"/>
                  <a:cs typeface="Canva Sans Bold"/>
                  <a:sym typeface="Canva Sans Bold"/>
                </a:rPr>
                <a:t> SARA SOUHAIL &amp; KHADIJA BOUCHAMA</a:t>
              </a:r>
            </a:p>
          </p:txBody>
        </p:sp>
      </p:grpSp>
      <p:grpSp>
        <p:nvGrpSpPr>
          <p:cNvPr id="6" name="Group 6"/>
          <p:cNvGrpSpPr/>
          <p:nvPr/>
        </p:nvGrpSpPr>
        <p:grpSpPr>
          <a:xfrm>
            <a:off x="8532345" y="7344375"/>
            <a:ext cx="5400507" cy="1658509"/>
            <a:chOff x="0" y="-95250"/>
            <a:chExt cx="1360355" cy="401783"/>
          </a:xfrm>
        </p:grpSpPr>
        <p:sp>
          <p:nvSpPr>
            <p:cNvPr id="7" name="Freeform 7"/>
            <p:cNvSpPr/>
            <p:nvPr/>
          </p:nvSpPr>
          <p:spPr>
            <a:xfrm>
              <a:off x="8226" y="-43098"/>
              <a:ext cx="1352129" cy="306533"/>
            </a:xfrm>
            <a:custGeom>
              <a:avLst/>
              <a:gdLst/>
              <a:ahLst/>
              <a:cxnLst/>
              <a:rect l="l" t="t" r="r" b="b"/>
              <a:pathLst>
                <a:path w="1352129" h="306533">
                  <a:moveTo>
                    <a:pt x="73556" y="0"/>
                  </a:moveTo>
                  <a:lnTo>
                    <a:pt x="1278573" y="0"/>
                  </a:lnTo>
                  <a:cubicBezTo>
                    <a:pt x="1319197" y="0"/>
                    <a:pt x="1352129" y="32932"/>
                    <a:pt x="1352129" y="73556"/>
                  </a:cubicBezTo>
                  <a:lnTo>
                    <a:pt x="1352129" y="232977"/>
                  </a:lnTo>
                  <a:cubicBezTo>
                    <a:pt x="1352129" y="273601"/>
                    <a:pt x="1319197" y="306533"/>
                    <a:pt x="1278573" y="306533"/>
                  </a:cubicBezTo>
                  <a:lnTo>
                    <a:pt x="73556" y="306533"/>
                  </a:lnTo>
                  <a:cubicBezTo>
                    <a:pt x="32932" y="306533"/>
                    <a:pt x="0" y="273601"/>
                    <a:pt x="0" y="232977"/>
                  </a:cubicBezTo>
                  <a:lnTo>
                    <a:pt x="0" y="73556"/>
                  </a:lnTo>
                  <a:cubicBezTo>
                    <a:pt x="0" y="32932"/>
                    <a:pt x="32932" y="0"/>
                    <a:pt x="73556" y="0"/>
                  </a:cubicBezTo>
                  <a:close/>
                </a:path>
              </a:pathLst>
            </a:custGeom>
            <a:solidFill>
              <a:srgbClr val="F7562B"/>
            </a:solidFill>
          </p:spPr>
        </p:sp>
        <p:sp>
          <p:nvSpPr>
            <p:cNvPr id="8" name="TextBox 8"/>
            <p:cNvSpPr txBox="1"/>
            <p:nvPr/>
          </p:nvSpPr>
          <p:spPr>
            <a:xfrm>
              <a:off x="0" y="-95250"/>
              <a:ext cx="1352129" cy="401783"/>
            </a:xfrm>
            <a:prstGeom prst="rect">
              <a:avLst/>
            </a:prstGeom>
          </p:spPr>
          <p:txBody>
            <a:bodyPr lIns="50800" tIns="50800" rIns="50800" bIns="50800" rtlCol="0" anchor="ctr"/>
            <a:lstStyle/>
            <a:p>
              <a:pPr algn="ctr">
                <a:lnSpc>
                  <a:spcPts val="4199"/>
                </a:lnSpc>
              </a:pPr>
              <a:r>
                <a:rPr lang="en-US" sz="2999" b="1" dirty="0">
                  <a:solidFill>
                    <a:srgbClr val="FFFFFF"/>
                  </a:solidFill>
                  <a:latin typeface="Telegraf Bold"/>
                  <a:ea typeface="Telegraf Bold"/>
                  <a:cs typeface="Telegraf Bold"/>
                  <a:sym typeface="Telegraf Bold"/>
                </a:rPr>
                <a:t>ENCADRÉ PAR : </a:t>
              </a:r>
            </a:p>
            <a:p>
              <a:pPr algn="ctr">
                <a:lnSpc>
                  <a:spcPts val="4199"/>
                </a:lnSpc>
                <a:spcBef>
                  <a:spcPct val="0"/>
                </a:spcBef>
              </a:pPr>
              <a:r>
                <a:rPr lang="en-US" sz="2999" b="1" dirty="0">
                  <a:solidFill>
                    <a:srgbClr val="FFFFFF"/>
                  </a:solidFill>
                  <a:latin typeface="Telegraf Bold"/>
                  <a:ea typeface="Telegraf Bold"/>
                  <a:cs typeface="Telegraf Bold"/>
                  <a:sym typeface="Telegraf Bold"/>
                </a:rPr>
                <a:t>PR. IBRAHIM OUAHBI</a:t>
              </a:r>
            </a:p>
          </p:txBody>
        </p:sp>
      </p:grpSp>
      <p:sp>
        <p:nvSpPr>
          <p:cNvPr id="9" name="Freeform 9"/>
          <p:cNvSpPr/>
          <p:nvPr/>
        </p:nvSpPr>
        <p:spPr>
          <a:xfrm>
            <a:off x="315180" y="952500"/>
            <a:ext cx="1185163" cy="1144988"/>
          </a:xfrm>
          <a:custGeom>
            <a:avLst/>
            <a:gdLst/>
            <a:ahLst/>
            <a:cxnLst/>
            <a:rect l="l" t="t" r="r" b="b"/>
            <a:pathLst>
              <a:path w="1185163" h="1144988">
                <a:moveTo>
                  <a:pt x="0" y="0"/>
                </a:moveTo>
                <a:lnTo>
                  <a:pt x="1185162" y="0"/>
                </a:lnTo>
                <a:lnTo>
                  <a:pt x="1185162" y="1144988"/>
                </a:lnTo>
                <a:lnTo>
                  <a:pt x="0" y="1144988"/>
                </a:lnTo>
                <a:lnTo>
                  <a:pt x="0" y="0"/>
                </a:lnTo>
                <a:close/>
              </a:path>
            </a:pathLst>
          </a:custGeom>
          <a:blipFill>
            <a:blip r:embed="rId2"/>
            <a:stretch>
              <a:fillRect/>
            </a:stretch>
          </a:blipFill>
        </p:spPr>
      </p:sp>
      <p:sp>
        <p:nvSpPr>
          <p:cNvPr id="10" name="TextBox 10"/>
          <p:cNvSpPr txBox="1"/>
          <p:nvPr/>
        </p:nvSpPr>
        <p:spPr>
          <a:xfrm>
            <a:off x="8565002" y="1043139"/>
            <a:ext cx="9457333" cy="4272922"/>
          </a:xfrm>
          <a:prstGeom prst="rect">
            <a:avLst/>
          </a:prstGeom>
        </p:spPr>
        <p:txBody>
          <a:bodyPr lIns="0" tIns="0" rIns="0" bIns="0" rtlCol="0" anchor="t">
            <a:spAutoFit/>
          </a:bodyPr>
          <a:lstStyle/>
          <a:p>
            <a:pPr algn="l">
              <a:lnSpc>
                <a:spcPts val="8370"/>
              </a:lnSpc>
            </a:pPr>
            <a:r>
              <a:rPr lang="en-US" sz="9300" dirty="0">
                <a:solidFill>
                  <a:srgbClr val="290606"/>
                </a:solidFill>
                <a:latin typeface="TT Berlinerins"/>
                <a:ea typeface="TT Berlinerins"/>
                <a:cs typeface="TT Berlinerins"/>
                <a:sym typeface="TT Berlinerins"/>
              </a:rPr>
              <a:t>PRÉDICTION DE MALADIES CARDIAQUES AVEC XGBOOST</a:t>
            </a:r>
          </a:p>
          <a:p>
            <a:pPr algn="l">
              <a:lnSpc>
                <a:spcPts val="8100"/>
              </a:lnSpc>
            </a:pPr>
            <a:endParaRPr lang="en-US" sz="9300" dirty="0">
              <a:solidFill>
                <a:srgbClr val="290606"/>
              </a:solidFill>
              <a:latin typeface="TT Berlinerins"/>
              <a:ea typeface="TT Berlinerins"/>
              <a:cs typeface="TT Berlinerins"/>
              <a:sym typeface="TT Berlinerins"/>
            </a:endParaRPr>
          </a:p>
        </p:txBody>
      </p:sp>
      <p:sp>
        <p:nvSpPr>
          <p:cNvPr id="11" name="TextBox 11"/>
          <p:cNvSpPr txBox="1"/>
          <p:nvPr/>
        </p:nvSpPr>
        <p:spPr>
          <a:xfrm>
            <a:off x="8565002" y="4515962"/>
            <a:ext cx="8694298" cy="684530"/>
          </a:xfrm>
          <a:prstGeom prst="rect">
            <a:avLst/>
          </a:prstGeom>
        </p:spPr>
        <p:txBody>
          <a:bodyPr lIns="0" tIns="0" rIns="0" bIns="0" rtlCol="0" anchor="t">
            <a:spAutoFit/>
          </a:bodyPr>
          <a:lstStyle/>
          <a:p>
            <a:pPr algn="l">
              <a:lnSpc>
                <a:spcPts val="5199"/>
              </a:lnSpc>
            </a:pPr>
            <a:r>
              <a:rPr lang="en-US" sz="5199">
                <a:solidFill>
                  <a:srgbClr val="211C2D"/>
                </a:solidFill>
                <a:latin typeface="Canva Sans"/>
                <a:ea typeface="Canva Sans"/>
                <a:cs typeface="Canva Sans"/>
                <a:sym typeface="Canva Sans"/>
              </a:rPr>
              <a:t>PRESENTATION </a:t>
            </a:r>
          </a:p>
        </p:txBody>
      </p:sp>
      <p:sp>
        <p:nvSpPr>
          <p:cNvPr id="12" name="TextBox 12"/>
          <p:cNvSpPr txBox="1"/>
          <p:nvPr/>
        </p:nvSpPr>
        <p:spPr>
          <a:xfrm>
            <a:off x="1707552" y="1047195"/>
            <a:ext cx="6679352" cy="256480"/>
          </a:xfrm>
          <a:prstGeom prst="rect">
            <a:avLst/>
          </a:prstGeom>
        </p:spPr>
        <p:txBody>
          <a:bodyPr lIns="0" tIns="0" rIns="0" bIns="0" rtlCol="0" anchor="t">
            <a:spAutoFit/>
          </a:bodyPr>
          <a:lstStyle/>
          <a:p>
            <a:pPr algn="l">
              <a:lnSpc>
                <a:spcPts val="2000"/>
              </a:lnSpc>
            </a:pPr>
            <a:r>
              <a:rPr lang="en-US" sz="2000" spc="98" dirty="0" smtClean="0">
                <a:solidFill>
                  <a:srgbClr val="290606"/>
                </a:solidFill>
                <a:latin typeface="Telegraf"/>
                <a:ea typeface="Telegraf"/>
                <a:cs typeface="Telegraf"/>
                <a:sym typeface="Telegraf"/>
              </a:rPr>
              <a:t>UNIVERSITE </a:t>
            </a:r>
            <a:r>
              <a:rPr lang="en-US" sz="2000" spc="98" dirty="0">
                <a:solidFill>
                  <a:srgbClr val="290606"/>
                </a:solidFill>
                <a:latin typeface="Telegraf"/>
                <a:ea typeface="Telegraf"/>
                <a:cs typeface="Telegraf"/>
                <a:sym typeface="Telegraf"/>
              </a:rPr>
              <a:t>MOHAMMED 1ER  DE OUJDA </a:t>
            </a:r>
          </a:p>
        </p:txBody>
      </p:sp>
      <p:sp>
        <p:nvSpPr>
          <p:cNvPr id="13" name="TextBox 13"/>
          <p:cNvSpPr txBox="1"/>
          <p:nvPr/>
        </p:nvSpPr>
        <p:spPr>
          <a:xfrm>
            <a:off x="1698027" y="1355171"/>
            <a:ext cx="6679352" cy="298451"/>
          </a:xfrm>
          <a:prstGeom prst="rect">
            <a:avLst/>
          </a:prstGeom>
        </p:spPr>
        <p:txBody>
          <a:bodyPr lIns="0" tIns="0" rIns="0" bIns="0" rtlCol="0" anchor="t">
            <a:spAutoFit/>
          </a:bodyPr>
          <a:lstStyle/>
          <a:p>
            <a:pPr algn="l">
              <a:lnSpc>
                <a:spcPts val="2000"/>
              </a:lnSpc>
            </a:pPr>
            <a:r>
              <a:rPr lang="en-US" sz="2000" spc="98">
                <a:solidFill>
                  <a:srgbClr val="290606"/>
                </a:solidFill>
                <a:latin typeface="Telegraf"/>
                <a:ea typeface="Telegraf"/>
                <a:cs typeface="Telegraf"/>
                <a:sym typeface="Telegraf"/>
              </a:rPr>
              <a:t>FP NADOR </a:t>
            </a:r>
          </a:p>
        </p:txBody>
      </p:sp>
      <p:sp>
        <p:nvSpPr>
          <p:cNvPr id="14" name="TextBox 14"/>
          <p:cNvSpPr txBox="1"/>
          <p:nvPr/>
        </p:nvSpPr>
        <p:spPr>
          <a:xfrm>
            <a:off x="1717077" y="1647118"/>
            <a:ext cx="6679352" cy="256480"/>
          </a:xfrm>
          <a:prstGeom prst="rect">
            <a:avLst/>
          </a:prstGeom>
        </p:spPr>
        <p:txBody>
          <a:bodyPr lIns="0" tIns="0" rIns="0" bIns="0" rtlCol="0" anchor="t">
            <a:spAutoFit/>
          </a:bodyPr>
          <a:lstStyle/>
          <a:p>
            <a:pPr algn="l">
              <a:lnSpc>
                <a:spcPts val="2000"/>
              </a:lnSpc>
            </a:pPr>
            <a:r>
              <a:rPr lang="en-US" sz="2000" spc="98" dirty="0">
                <a:solidFill>
                  <a:srgbClr val="290606"/>
                </a:solidFill>
                <a:latin typeface="Telegraf"/>
                <a:ea typeface="Telegraf"/>
                <a:cs typeface="Telegraf"/>
                <a:sym typeface="Telegraf"/>
              </a:rPr>
              <a:t>MASTER AI &amp; </a:t>
            </a:r>
            <a:r>
              <a:rPr lang="en-US" sz="2000" spc="98" dirty="0" smtClean="0">
                <a:solidFill>
                  <a:srgbClr val="290606"/>
                </a:solidFill>
                <a:latin typeface="Telegraf"/>
                <a:ea typeface="Telegraf"/>
                <a:cs typeface="Telegraf"/>
                <a:sym typeface="Telegraf"/>
              </a:rPr>
              <a:t>TECHNOLOGIES </a:t>
            </a:r>
            <a:r>
              <a:rPr lang="en-US" sz="2000" spc="98" dirty="0">
                <a:solidFill>
                  <a:srgbClr val="290606"/>
                </a:solidFill>
                <a:latin typeface="Telegraf"/>
                <a:ea typeface="Telegraf"/>
                <a:cs typeface="Telegraf"/>
                <a:sym typeface="Telegraf"/>
              </a:rPr>
              <a:t>EMERGENTES</a:t>
            </a:r>
          </a:p>
        </p:txBody>
      </p:sp>
      <p:pic>
        <p:nvPicPr>
          <p:cNvPr id="16" name="Image 15"/>
          <p:cNvPicPr>
            <a:picLocks noChangeAspect="1"/>
          </p:cNvPicPr>
          <p:nvPr/>
        </p:nvPicPr>
        <p:blipFill>
          <a:blip r:embed="rId3"/>
          <a:stretch>
            <a:fillRect/>
          </a:stretch>
        </p:blipFill>
        <p:spPr>
          <a:xfrm>
            <a:off x="1219200" y="2685430"/>
            <a:ext cx="6178035" cy="640080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EEF4F3"/>
        </a:solidFill>
        <a:effectLst/>
      </p:bgPr>
    </p:bg>
    <p:spTree>
      <p:nvGrpSpPr>
        <p:cNvPr id="1" name=""/>
        <p:cNvGrpSpPr/>
        <p:nvPr/>
      </p:nvGrpSpPr>
      <p:grpSpPr>
        <a:xfrm>
          <a:off x="0" y="0"/>
          <a:ext cx="0" cy="0"/>
          <a:chOff x="0" y="0"/>
          <a:chExt cx="0" cy="0"/>
        </a:xfrm>
      </p:grpSpPr>
      <p:sp>
        <p:nvSpPr>
          <p:cNvPr id="2" name="TextBox 2"/>
          <p:cNvSpPr txBox="1"/>
          <p:nvPr/>
        </p:nvSpPr>
        <p:spPr>
          <a:xfrm>
            <a:off x="9311234" y="3660886"/>
            <a:ext cx="7948066" cy="4854577"/>
          </a:xfrm>
          <a:prstGeom prst="rect">
            <a:avLst/>
          </a:prstGeom>
        </p:spPr>
        <p:txBody>
          <a:bodyPr lIns="0" tIns="0" rIns="0" bIns="0" rtlCol="0" anchor="t">
            <a:spAutoFit/>
          </a:bodyPr>
          <a:lstStyle/>
          <a:p>
            <a:pPr marL="863593" lvl="1" indent="-431796" algn="l">
              <a:lnSpc>
                <a:spcPts val="6399"/>
              </a:lnSpc>
              <a:buFont typeface="Arial"/>
              <a:buChar char="•"/>
            </a:pPr>
            <a:r>
              <a:rPr lang="en-US" sz="3999" b="1">
                <a:solidFill>
                  <a:srgbClr val="290606"/>
                </a:solidFill>
                <a:latin typeface="Telegraf Medium"/>
                <a:ea typeface="Telegraf Medium"/>
                <a:cs typeface="Telegraf Medium"/>
                <a:sym typeface="Telegraf Medium"/>
              </a:rPr>
              <a:t>Introduction</a:t>
            </a:r>
          </a:p>
          <a:p>
            <a:pPr marL="863593" lvl="1" indent="-431796" algn="l">
              <a:lnSpc>
                <a:spcPts val="6399"/>
              </a:lnSpc>
              <a:buFont typeface="Arial"/>
              <a:buChar char="•"/>
            </a:pPr>
            <a:r>
              <a:rPr lang="en-US" sz="3999" b="1">
                <a:solidFill>
                  <a:srgbClr val="290606"/>
                </a:solidFill>
                <a:latin typeface="Telegraf Medium"/>
                <a:ea typeface="Telegraf Medium"/>
                <a:cs typeface="Telegraf Medium"/>
                <a:sym typeface="Telegraf Medium"/>
              </a:rPr>
              <a:t>Préparation des données</a:t>
            </a:r>
          </a:p>
          <a:p>
            <a:pPr marL="863593" lvl="1" indent="-431796" algn="l">
              <a:lnSpc>
                <a:spcPts val="6399"/>
              </a:lnSpc>
              <a:buFont typeface="Arial"/>
              <a:buChar char="•"/>
            </a:pPr>
            <a:r>
              <a:rPr lang="en-US" sz="3999" b="1">
                <a:solidFill>
                  <a:srgbClr val="290606"/>
                </a:solidFill>
                <a:latin typeface="Telegraf Medium"/>
                <a:ea typeface="Telegraf Medium"/>
                <a:cs typeface="Telegraf Medium"/>
                <a:sym typeface="Telegraf Medium"/>
              </a:rPr>
              <a:t>Algorithme XG_boost</a:t>
            </a:r>
          </a:p>
          <a:p>
            <a:pPr marL="863593" lvl="1" indent="-431796" algn="l">
              <a:lnSpc>
                <a:spcPts val="6399"/>
              </a:lnSpc>
              <a:buFont typeface="Arial"/>
              <a:buChar char="•"/>
            </a:pPr>
            <a:r>
              <a:rPr lang="en-US" sz="3999" b="1">
                <a:solidFill>
                  <a:srgbClr val="290606"/>
                </a:solidFill>
                <a:latin typeface="Telegraf Medium"/>
                <a:ea typeface="Telegraf Medium"/>
                <a:cs typeface="Telegraf Medium"/>
                <a:sym typeface="Telegraf Medium"/>
              </a:rPr>
              <a:t>Développement du modèle</a:t>
            </a:r>
          </a:p>
          <a:p>
            <a:pPr marL="863593" lvl="1" indent="-431796" algn="l">
              <a:lnSpc>
                <a:spcPts val="6399"/>
              </a:lnSpc>
              <a:buFont typeface="Arial"/>
              <a:buChar char="•"/>
            </a:pPr>
            <a:r>
              <a:rPr lang="en-US" sz="3999" b="1">
                <a:solidFill>
                  <a:srgbClr val="290606"/>
                </a:solidFill>
                <a:latin typeface="Telegraf Medium"/>
                <a:ea typeface="Telegraf Medium"/>
                <a:cs typeface="Telegraf Medium"/>
                <a:sym typeface="Telegraf Medium"/>
              </a:rPr>
              <a:t>Évaluation du modèle</a:t>
            </a:r>
          </a:p>
          <a:p>
            <a:pPr marL="863593" lvl="1" indent="-431796" algn="l">
              <a:lnSpc>
                <a:spcPts val="6399"/>
              </a:lnSpc>
              <a:buFont typeface="Arial"/>
              <a:buChar char="•"/>
            </a:pPr>
            <a:r>
              <a:rPr lang="en-US" sz="3999" b="1">
                <a:solidFill>
                  <a:srgbClr val="290606"/>
                </a:solidFill>
                <a:latin typeface="Telegraf Medium"/>
                <a:ea typeface="Telegraf Medium"/>
                <a:cs typeface="Telegraf Medium"/>
                <a:sym typeface="Telegraf Medium"/>
              </a:rPr>
              <a:t>Conclusion</a:t>
            </a:r>
          </a:p>
        </p:txBody>
      </p:sp>
      <p:sp>
        <p:nvSpPr>
          <p:cNvPr id="3" name="TextBox 3"/>
          <p:cNvSpPr txBox="1"/>
          <p:nvPr/>
        </p:nvSpPr>
        <p:spPr>
          <a:xfrm>
            <a:off x="8954972" y="2471535"/>
            <a:ext cx="8304328" cy="1246501"/>
          </a:xfrm>
          <a:prstGeom prst="rect">
            <a:avLst/>
          </a:prstGeom>
        </p:spPr>
        <p:txBody>
          <a:bodyPr lIns="0" tIns="0" rIns="0" bIns="0" rtlCol="0" anchor="t">
            <a:spAutoFit/>
          </a:bodyPr>
          <a:lstStyle/>
          <a:p>
            <a:pPr algn="just">
              <a:lnSpc>
                <a:spcPts val="8199"/>
              </a:lnSpc>
            </a:pPr>
            <a:r>
              <a:rPr lang="en-US" sz="8199" spc="401">
                <a:solidFill>
                  <a:srgbClr val="290606"/>
                </a:solidFill>
                <a:latin typeface="Cheddar"/>
                <a:ea typeface="Cheddar"/>
                <a:cs typeface="Cheddar"/>
                <a:sym typeface="Cheddar"/>
              </a:rPr>
              <a:t>PLAN :</a:t>
            </a:r>
          </a:p>
        </p:txBody>
      </p:sp>
      <p:grpSp>
        <p:nvGrpSpPr>
          <p:cNvPr id="4" name="Group 4"/>
          <p:cNvGrpSpPr/>
          <p:nvPr/>
        </p:nvGrpSpPr>
        <p:grpSpPr>
          <a:xfrm>
            <a:off x="17259300" y="9258300"/>
            <a:ext cx="750152" cy="750152"/>
            <a:chOff x="0" y="0"/>
            <a:chExt cx="812800" cy="812800"/>
          </a:xfrm>
        </p:grpSpPr>
        <p:sp>
          <p:nvSpPr>
            <p:cNvPr id="5" name="Freeform 5"/>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7562B"/>
            </a:solidFill>
          </p:spPr>
        </p:sp>
        <p:sp>
          <p:nvSpPr>
            <p:cNvPr id="6" name="TextBox 6"/>
            <p:cNvSpPr txBox="1"/>
            <p:nvPr/>
          </p:nvSpPr>
          <p:spPr>
            <a:xfrm>
              <a:off x="76200" y="85725"/>
              <a:ext cx="660400" cy="650875"/>
            </a:xfrm>
            <a:prstGeom prst="rect">
              <a:avLst/>
            </a:prstGeom>
          </p:spPr>
          <p:txBody>
            <a:bodyPr lIns="50800" tIns="50800" rIns="50800" bIns="50800" rtlCol="0" anchor="ctr"/>
            <a:lstStyle/>
            <a:p>
              <a:pPr algn="ctr">
                <a:lnSpc>
                  <a:spcPts val="2400"/>
                </a:lnSpc>
              </a:pPr>
              <a:r>
                <a:rPr lang="en-US" sz="2400" b="1" spc="117">
                  <a:solidFill>
                    <a:srgbClr val="FFFFFF"/>
                  </a:solidFill>
                  <a:latin typeface="Telegraf Bold"/>
                  <a:ea typeface="Telegraf Bold"/>
                  <a:cs typeface="Telegraf Bold"/>
                  <a:sym typeface="Telegraf Bold"/>
                </a:rPr>
                <a:t>2</a:t>
              </a:r>
            </a:p>
          </p:txBody>
        </p:sp>
      </p:grpSp>
      <p:pic>
        <p:nvPicPr>
          <p:cNvPr id="7" name="Image 6"/>
          <p:cNvPicPr>
            <a:picLocks noChangeAspect="1"/>
          </p:cNvPicPr>
          <p:nvPr/>
        </p:nvPicPr>
        <p:blipFill>
          <a:blip r:embed="rId2"/>
          <a:stretch>
            <a:fillRect/>
          </a:stretch>
        </p:blipFill>
        <p:spPr>
          <a:xfrm>
            <a:off x="914400" y="1104900"/>
            <a:ext cx="7239000" cy="8395230"/>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EEF4F3"/>
        </a:solidFill>
        <a:effectLst/>
      </p:bgPr>
    </p:bg>
    <p:spTree>
      <p:nvGrpSpPr>
        <p:cNvPr id="1" name=""/>
        <p:cNvGrpSpPr/>
        <p:nvPr/>
      </p:nvGrpSpPr>
      <p:grpSpPr>
        <a:xfrm>
          <a:off x="0" y="0"/>
          <a:ext cx="0" cy="0"/>
          <a:chOff x="0" y="0"/>
          <a:chExt cx="0" cy="0"/>
        </a:xfrm>
      </p:grpSpPr>
      <p:sp>
        <p:nvSpPr>
          <p:cNvPr id="2" name="TextBox 2"/>
          <p:cNvSpPr txBox="1"/>
          <p:nvPr/>
        </p:nvSpPr>
        <p:spPr>
          <a:xfrm>
            <a:off x="1028700" y="1019175"/>
            <a:ext cx="8115300" cy="1958975"/>
          </a:xfrm>
          <a:prstGeom prst="rect">
            <a:avLst/>
          </a:prstGeom>
        </p:spPr>
        <p:txBody>
          <a:bodyPr lIns="0" tIns="0" rIns="0" bIns="0" rtlCol="0" anchor="t">
            <a:spAutoFit/>
          </a:bodyPr>
          <a:lstStyle/>
          <a:p>
            <a:pPr algn="l">
              <a:lnSpc>
                <a:spcPts val="6999"/>
              </a:lnSpc>
            </a:pPr>
            <a:r>
              <a:rPr lang="en-US" sz="6999" spc="342">
                <a:solidFill>
                  <a:srgbClr val="290606"/>
                </a:solidFill>
                <a:latin typeface="Cheddar"/>
                <a:ea typeface="Cheddar"/>
                <a:cs typeface="Cheddar"/>
                <a:sym typeface="Cheddar"/>
              </a:rPr>
              <a:t>DÉPLOIEMENT ET INTÉGRATION </a:t>
            </a:r>
          </a:p>
        </p:txBody>
      </p:sp>
      <p:grpSp>
        <p:nvGrpSpPr>
          <p:cNvPr id="3" name="Group 3"/>
          <p:cNvGrpSpPr/>
          <p:nvPr/>
        </p:nvGrpSpPr>
        <p:grpSpPr>
          <a:xfrm>
            <a:off x="1820991" y="3597243"/>
            <a:ext cx="4561929" cy="5298426"/>
            <a:chOff x="0" y="0"/>
            <a:chExt cx="1235036" cy="1434426"/>
          </a:xfrm>
        </p:grpSpPr>
        <p:sp>
          <p:nvSpPr>
            <p:cNvPr id="4" name="Freeform 4"/>
            <p:cNvSpPr/>
            <p:nvPr/>
          </p:nvSpPr>
          <p:spPr>
            <a:xfrm>
              <a:off x="0" y="0"/>
              <a:ext cx="1235036" cy="1434426"/>
            </a:xfrm>
            <a:custGeom>
              <a:avLst/>
              <a:gdLst/>
              <a:ahLst/>
              <a:cxnLst/>
              <a:rect l="l" t="t" r="r" b="b"/>
              <a:pathLst>
                <a:path w="1235036" h="1434426">
                  <a:moveTo>
                    <a:pt x="86551" y="0"/>
                  </a:moveTo>
                  <a:lnTo>
                    <a:pt x="1148486" y="0"/>
                  </a:lnTo>
                  <a:cubicBezTo>
                    <a:pt x="1196286" y="0"/>
                    <a:pt x="1235036" y="38750"/>
                    <a:pt x="1235036" y="86551"/>
                  </a:cubicBezTo>
                  <a:lnTo>
                    <a:pt x="1235036" y="1347875"/>
                  </a:lnTo>
                  <a:cubicBezTo>
                    <a:pt x="1235036" y="1395676"/>
                    <a:pt x="1196286" y="1434426"/>
                    <a:pt x="1148486" y="1434426"/>
                  </a:cubicBezTo>
                  <a:lnTo>
                    <a:pt x="86551" y="1434426"/>
                  </a:lnTo>
                  <a:cubicBezTo>
                    <a:pt x="63596" y="1434426"/>
                    <a:pt x="41581" y="1425307"/>
                    <a:pt x="25350" y="1409076"/>
                  </a:cubicBezTo>
                  <a:cubicBezTo>
                    <a:pt x="9119" y="1392844"/>
                    <a:pt x="0" y="1370830"/>
                    <a:pt x="0" y="1347875"/>
                  </a:cubicBezTo>
                  <a:lnTo>
                    <a:pt x="0" y="86551"/>
                  </a:lnTo>
                  <a:cubicBezTo>
                    <a:pt x="0" y="63596"/>
                    <a:pt x="9119" y="41581"/>
                    <a:pt x="25350" y="25350"/>
                  </a:cubicBezTo>
                  <a:cubicBezTo>
                    <a:pt x="41581" y="9119"/>
                    <a:pt x="63596" y="0"/>
                    <a:pt x="86551" y="0"/>
                  </a:cubicBezTo>
                  <a:close/>
                </a:path>
              </a:pathLst>
            </a:custGeom>
            <a:solidFill>
              <a:srgbClr val="02B676"/>
            </a:solidFill>
          </p:spPr>
        </p:sp>
        <p:sp>
          <p:nvSpPr>
            <p:cNvPr id="5" name="TextBox 5"/>
            <p:cNvSpPr txBox="1"/>
            <p:nvPr/>
          </p:nvSpPr>
          <p:spPr>
            <a:xfrm>
              <a:off x="0" y="9525"/>
              <a:ext cx="1235036" cy="1424901"/>
            </a:xfrm>
            <a:prstGeom prst="rect">
              <a:avLst/>
            </a:prstGeom>
          </p:spPr>
          <p:txBody>
            <a:bodyPr lIns="50800" tIns="50800" rIns="50800" bIns="50800" rtlCol="0" anchor="ctr"/>
            <a:lstStyle/>
            <a:p>
              <a:pPr algn="ctr">
                <a:lnSpc>
                  <a:spcPts val="2200"/>
                </a:lnSpc>
              </a:pPr>
              <a:endParaRPr/>
            </a:p>
          </p:txBody>
        </p:sp>
      </p:grpSp>
      <p:grpSp>
        <p:nvGrpSpPr>
          <p:cNvPr id="6" name="Group 6"/>
          <p:cNvGrpSpPr/>
          <p:nvPr/>
        </p:nvGrpSpPr>
        <p:grpSpPr>
          <a:xfrm>
            <a:off x="6806017" y="3597243"/>
            <a:ext cx="4561929" cy="5298426"/>
            <a:chOff x="0" y="0"/>
            <a:chExt cx="1235036" cy="1434426"/>
          </a:xfrm>
        </p:grpSpPr>
        <p:sp>
          <p:nvSpPr>
            <p:cNvPr id="7" name="Freeform 7"/>
            <p:cNvSpPr/>
            <p:nvPr/>
          </p:nvSpPr>
          <p:spPr>
            <a:xfrm>
              <a:off x="0" y="0"/>
              <a:ext cx="1235036" cy="1434426"/>
            </a:xfrm>
            <a:custGeom>
              <a:avLst/>
              <a:gdLst/>
              <a:ahLst/>
              <a:cxnLst/>
              <a:rect l="l" t="t" r="r" b="b"/>
              <a:pathLst>
                <a:path w="1235036" h="1434426">
                  <a:moveTo>
                    <a:pt x="86551" y="0"/>
                  </a:moveTo>
                  <a:lnTo>
                    <a:pt x="1148486" y="0"/>
                  </a:lnTo>
                  <a:cubicBezTo>
                    <a:pt x="1196286" y="0"/>
                    <a:pt x="1235036" y="38750"/>
                    <a:pt x="1235036" y="86551"/>
                  </a:cubicBezTo>
                  <a:lnTo>
                    <a:pt x="1235036" y="1347875"/>
                  </a:lnTo>
                  <a:cubicBezTo>
                    <a:pt x="1235036" y="1395676"/>
                    <a:pt x="1196286" y="1434426"/>
                    <a:pt x="1148486" y="1434426"/>
                  </a:cubicBezTo>
                  <a:lnTo>
                    <a:pt x="86551" y="1434426"/>
                  </a:lnTo>
                  <a:cubicBezTo>
                    <a:pt x="63596" y="1434426"/>
                    <a:pt x="41581" y="1425307"/>
                    <a:pt x="25350" y="1409076"/>
                  </a:cubicBezTo>
                  <a:cubicBezTo>
                    <a:pt x="9119" y="1392844"/>
                    <a:pt x="0" y="1370830"/>
                    <a:pt x="0" y="1347875"/>
                  </a:cubicBezTo>
                  <a:lnTo>
                    <a:pt x="0" y="86551"/>
                  </a:lnTo>
                  <a:cubicBezTo>
                    <a:pt x="0" y="63596"/>
                    <a:pt x="9119" y="41581"/>
                    <a:pt x="25350" y="25350"/>
                  </a:cubicBezTo>
                  <a:cubicBezTo>
                    <a:pt x="41581" y="9119"/>
                    <a:pt x="63596" y="0"/>
                    <a:pt x="86551" y="0"/>
                  </a:cubicBezTo>
                  <a:close/>
                </a:path>
              </a:pathLst>
            </a:custGeom>
            <a:solidFill>
              <a:srgbClr val="F7562B"/>
            </a:solidFill>
          </p:spPr>
        </p:sp>
        <p:sp>
          <p:nvSpPr>
            <p:cNvPr id="8" name="TextBox 8"/>
            <p:cNvSpPr txBox="1"/>
            <p:nvPr/>
          </p:nvSpPr>
          <p:spPr>
            <a:xfrm>
              <a:off x="0" y="9525"/>
              <a:ext cx="1235036" cy="1424901"/>
            </a:xfrm>
            <a:prstGeom prst="rect">
              <a:avLst/>
            </a:prstGeom>
          </p:spPr>
          <p:txBody>
            <a:bodyPr lIns="50800" tIns="50800" rIns="50800" bIns="50800" rtlCol="0" anchor="ctr"/>
            <a:lstStyle/>
            <a:p>
              <a:pPr algn="ctr">
                <a:lnSpc>
                  <a:spcPts val="2200"/>
                </a:lnSpc>
              </a:pPr>
              <a:endParaRPr/>
            </a:p>
          </p:txBody>
        </p:sp>
      </p:grpSp>
      <p:grpSp>
        <p:nvGrpSpPr>
          <p:cNvPr id="9" name="Group 9"/>
          <p:cNvGrpSpPr/>
          <p:nvPr/>
        </p:nvGrpSpPr>
        <p:grpSpPr>
          <a:xfrm>
            <a:off x="11794040" y="3597243"/>
            <a:ext cx="4561929" cy="5298426"/>
            <a:chOff x="0" y="0"/>
            <a:chExt cx="1235036" cy="1434426"/>
          </a:xfrm>
        </p:grpSpPr>
        <p:sp>
          <p:nvSpPr>
            <p:cNvPr id="10" name="Freeform 10"/>
            <p:cNvSpPr/>
            <p:nvPr/>
          </p:nvSpPr>
          <p:spPr>
            <a:xfrm>
              <a:off x="0" y="0"/>
              <a:ext cx="1235036" cy="1434426"/>
            </a:xfrm>
            <a:custGeom>
              <a:avLst/>
              <a:gdLst/>
              <a:ahLst/>
              <a:cxnLst/>
              <a:rect l="l" t="t" r="r" b="b"/>
              <a:pathLst>
                <a:path w="1235036" h="1434426">
                  <a:moveTo>
                    <a:pt x="86551" y="0"/>
                  </a:moveTo>
                  <a:lnTo>
                    <a:pt x="1148486" y="0"/>
                  </a:lnTo>
                  <a:cubicBezTo>
                    <a:pt x="1196286" y="0"/>
                    <a:pt x="1235036" y="38750"/>
                    <a:pt x="1235036" y="86551"/>
                  </a:cubicBezTo>
                  <a:lnTo>
                    <a:pt x="1235036" y="1347875"/>
                  </a:lnTo>
                  <a:cubicBezTo>
                    <a:pt x="1235036" y="1395676"/>
                    <a:pt x="1196286" y="1434426"/>
                    <a:pt x="1148486" y="1434426"/>
                  </a:cubicBezTo>
                  <a:lnTo>
                    <a:pt x="86551" y="1434426"/>
                  </a:lnTo>
                  <a:cubicBezTo>
                    <a:pt x="63596" y="1434426"/>
                    <a:pt x="41581" y="1425307"/>
                    <a:pt x="25350" y="1409076"/>
                  </a:cubicBezTo>
                  <a:cubicBezTo>
                    <a:pt x="9119" y="1392844"/>
                    <a:pt x="0" y="1370830"/>
                    <a:pt x="0" y="1347875"/>
                  </a:cubicBezTo>
                  <a:lnTo>
                    <a:pt x="0" y="86551"/>
                  </a:lnTo>
                  <a:cubicBezTo>
                    <a:pt x="0" y="63596"/>
                    <a:pt x="9119" y="41581"/>
                    <a:pt x="25350" y="25350"/>
                  </a:cubicBezTo>
                  <a:cubicBezTo>
                    <a:pt x="41581" y="9119"/>
                    <a:pt x="63596" y="0"/>
                    <a:pt x="86551" y="0"/>
                  </a:cubicBezTo>
                  <a:close/>
                </a:path>
              </a:pathLst>
            </a:custGeom>
            <a:solidFill>
              <a:srgbClr val="FEC801"/>
            </a:solidFill>
          </p:spPr>
        </p:sp>
        <p:sp>
          <p:nvSpPr>
            <p:cNvPr id="11" name="TextBox 11"/>
            <p:cNvSpPr txBox="1"/>
            <p:nvPr/>
          </p:nvSpPr>
          <p:spPr>
            <a:xfrm>
              <a:off x="0" y="9525"/>
              <a:ext cx="1235036" cy="1424901"/>
            </a:xfrm>
            <a:prstGeom prst="rect">
              <a:avLst/>
            </a:prstGeom>
          </p:spPr>
          <p:txBody>
            <a:bodyPr lIns="50800" tIns="50800" rIns="50800" bIns="50800" rtlCol="0" anchor="ctr"/>
            <a:lstStyle/>
            <a:p>
              <a:pPr algn="ctr">
                <a:lnSpc>
                  <a:spcPts val="2200"/>
                </a:lnSpc>
              </a:pPr>
              <a:endParaRPr/>
            </a:p>
          </p:txBody>
        </p:sp>
      </p:grpSp>
      <p:grpSp>
        <p:nvGrpSpPr>
          <p:cNvPr id="12" name="Group 12"/>
          <p:cNvGrpSpPr/>
          <p:nvPr/>
        </p:nvGrpSpPr>
        <p:grpSpPr>
          <a:xfrm>
            <a:off x="1932030" y="3701989"/>
            <a:ext cx="4561929" cy="5298426"/>
            <a:chOff x="0" y="0"/>
            <a:chExt cx="1235036" cy="1434426"/>
          </a:xfrm>
        </p:grpSpPr>
        <p:sp>
          <p:nvSpPr>
            <p:cNvPr id="13" name="Freeform 13"/>
            <p:cNvSpPr/>
            <p:nvPr/>
          </p:nvSpPr>
          <p:spPr>
            <a:xfrm>
              <a:off x="0" y="0"/>
              <a:ext cx="1235036" cy="1434426"/>
            </a:xfrm>
            <a:custGeom>
              <a:avLst/>
              <a:gdLst/>
              <a:ahLst/>
              <a:cxnLst/>
              <a:rect l="l" t="t" r="r" b="b"/>
              <a:pathLst>
                <a:path w="1235036" h="1434426">
                  <a:moveTo>
                    <a:pt x="86551" y="0"/>
                  </a:moveTo>
                  <a:lnTo>
                    <a:pt x="1148486" y="0"/>
                  </a:lnTo>
                  <a:cubicBezTo>
                    <a:pt x="1196286" y="0"/>
                    <a:pt x="1235036" y="38750"/>
                    <a:pt x="1235036" y="86551"/>
                  </a:cubicBezTo>
                  <a:lnTo>
                    <a:pt x="1235036" y="1347875"/>
                  </a:lnTo>
                  <a:cubicBezTo>
                    <a:pt x="1235036" y="1395676"/>
                    <a:pt x="1196286" y="1434426"/>
                    <a:pt x="1148486" y="1434426"/>
                  </a:cubicBezTo>
                  <a:lnTo>
                    <a:pt x="86551" y="1434426"/>
                  </a:lnTo>
                  <a:cubicBezTo>
                    <a:pt x="63596" y="1434426"/>
                    <a:pt x="41581" y="1425307"/>
                    <a:pt x="25350" y="1409076"/>
                  </a:cubicBezTo>
                  <a:cubicBezTo>
                    <a:pt x="9119" y="1392844"/>
                    <a:pt x="0" y="1370830"/>
                    <a:pt x="0" y="1347875"/>
                  </a:cubicBezTo>
                  <a:lnTo>
                    <a:pt x="0" y="86551"/>
                  </a:lnTo>
                  <a:cubicBezTo>
                    <a:pt x="0" y="63596"/>
                    <a:pt x="9119" y="41581"/>
                    <a:pt x="25350" y="25350"/>
                  </a:cubicBezTo>
                  <a:cubicBezTo>
                    <a:pt x="41581" y="9119"/>
                    <a:pt x="63596" y="0"/>
                    <a:pt x="86551" y="0"/>
                  </a:cubicBezTo>
                  <a:close/>
                </a:path>
              </a:pathLst>
            </a:custGeom>
            <a:solidFill>
              <a:srgbClr val="FFFFFF"/>
            </a:solidFill>
          </p:spPr>
        </p:sp>
        <p:sp>
          <p:nvSpPr>
            <p:cNvPr id="14" name="TextBox 14"/>
            <p:cNvSpPr txBox="1"/>
            <p:nvPr/>
          </p:nvSpPr>
          <p:spPr>
            <a:xfrm>
              <a:off x="0" y="9525"/>
              <a:ext cx="1235036" cy="1424901"/>
            </a:xfrm>
            <a:prstGeom prst="rect">
              <a:avLst/>
            </a:prstGeom>
          </p:spPr>
          <p:txBody>
            <a:bodyPr lIns="50800" tIns="50800" rIns="50800" bIns="50800" rtlCol="0" anchor="ctr"/>
            <a:lstStyle/>
            <a:p>
              <a:pPr algn="ctr">
                <a:lnSpc>
                  <a:spcPts val="2200"/>
                </a:lnSpc>
              </a:pPr>
              <a:endParaRPr/>
            </a:p>
          </p:txBody>
        </p:sp>
      </p:grpSp>
      <p:sp>
        <p:nvSpPr>
          <p:cNvPr id="15" name="TextBox 15"/>
          <p:cNvSpPr txBox="1"/>
          <p:nvPr/>
        </p:nvSpPr>
        <p:spPr>
          <a:xfrm>
            <a:off x="1997674" y="4096202"/>
            <a:ext cx="4379718" cy="536574"/>
          </a:xfrm>
          <a:prstGeom prst="rect">
            <a:avLst/>
          </a:prstGeom>
        </p:spPr>
        <p:txBody>
          <a:bodyPr lIns="0" tIns="0" rIns="0" bIns="0" rtlCol="0" anchor="t">
            <a:spAutoFit/>
          </a:bodyPr>
          <a:lstStyle/>
          <a:p>
            <a:pPr algn="ctr">
              <a:lnSpc>
                <a:spcPts val="3499"/>
              </a:lnSpc>
            </a:pPr>
            <a:r>
              <a:rPr lang="en-US" sz="3499">
                <a:solidFill>
                  <a:srgbClr val="290606"/>
                </a:solidFill>
                <a:latin typeface="Cheddar"/>
                <a:ea typeface="Cheddar"/>
                <a:cs typeface="Cheddar"/>
                <a:sym typeface="Cheddar"/>
              </a:rPr>
              <a:t>PRÉPARATION DES DONNÉES</a:t>
            </a:r>
          </a:p>
        </p:txBody>
      </p:sp>
      <p:grpSp>
        <p:nvGrpSpPr>
          <p:cNvPr id="16" name="Group 16"/>
          <p:cNvGrpSpPr/>
          <p:nvPr/>
        </p:nvGrpSpPr>
        <p:grpSpPr>
          <a:xfrm>
            <a:off x="6917056" y="3701989"/>
            <a:ext cx="4561929" cy="5298426"/>
            <a:chOff x="0" y="0"/>
            <a:chExt cx="1235036" cy="1434426"/>
          </a:xfrm>
        </p:grpSpPr>
        <p:sp>
          <p:nvSpPr>
            <p:cNvPr id="17" name="Freeform 17"/>
            <p:cNvSpPr/>
            <p:nvPr/>
          </p:nvSpPr>
          <p:spPr>
            <a:xfrm>
              <a:off x="0" y="0"/>
              <a:ext cx="1235036" cy="1434426"/>
            </a:xfrm>
            <a:custGeom>
              <a:avLst/>
              <a:gdLst/>
              <a:ahLst/>
              <a:cxnLst/>
              <a:rect l="l" t="t" r="r" b="b"/>
              <a:pathLst>
                <a:path w="1235036" h="1434426">
                  <a:moveTo>
                    <a:pt x="86551" y="0"/>
                  </a:moveTo>
                  <a:lnTo>
                    <a:pt x="1148486" y="0"/>
                  </a:lnTo>
                  <a:cubicBezTo>
                    <a:pt x="1196286" y="0"/>
                    <a:pt x="1235036" y="38750"/>
                    <a:pt x="1235036" y="86551"/>
                  </a:cubicBezTo>
                  <a:lnTo>
                    <a:pt x="1235036" y="1347875"/>
                  </a:lnTo>
                  <a:cubicBezTo>
                    <a:pt x="1235036" y="1395676"/>
                    <a:pt x="1196286" y="1434426"/>
                    <a:pt x="1148486" y="1434426"/>
                  </a:cubicBezTo>
                  <a:lnTo>
                    <a:pt x="86551" y="1434426"/>
                  </a:lnTo>
                  <a:cubicBezTo>
                    <a:pt x="63596" y="1434426"/>
                    <a:pt x="41581" y="1425307"/>
                    <a:pt x="25350" y="1409076"/>
                  </a:cubicBezTo>
                  <a:cubicBezTo>
                    <a:pt x="9119" y="1392844"/>
                    <a:pt x="0" y="1370830"/>
                    <a:pt x="0" y="1347875"/>
                  </a:cubicBezTo>
                  <a:lnTo>
                    <a:pt x="0" y="86551"/>
                  </a:lnTo>
                  <a:cubicBezTo>
                    <a:pt x="0" y="63596"/>
                    <a:pt x="9119" y="41581"/>
                    <a:pt x="25350" y="25350"/>
                  </a:cubicBezTo>
                  <a:cubicBezTo>
                    <a:pt x="41581" y="9119"/>
                    <a:pt x="63596" y="0"/>
                    <a:pt x="86551" y="0"/>
                  </a:cubicBezTo>
                  <a:close/>
                </a:path>
              </a:pathLst>
            </a:custGeom>
            <a:solidFill>
              <a:srgbClr val="FFFFFF"/>
            </a:solidFill>
          </p:spPr>
        </p:sp>
        <p:sp>
          <p:nvSpPr>
            <p:cNvPr id="18" name="TextBox 18"/>
            <p:cNvSpPr txBox="1"/>
            <p:nvPr/>
          </p:nvSpPr>
          <p:spPr>
            <a:xfrm>
              <a:off x="0" y="9525"/>
              <a:ext cx="1235036" cy="1424901"/>
            </a:xfrm>
            <a:prstGeom prst="rect">
              <a:avLst/>
            </a:prstGeom>
          </p:spPr>
          <p:txBody>
            <a:bodyPr lIns="50800" tIns="50800" rIns="50800" bIns="50800" rtlCol="0" anchor="ctr"/>
            <a:lstStyle/>
            <a:p>
              <a:pPr algn="ctr">
                <a:lnSpc>
                  <a:spcPts val="2200"/>
                </a:lnSpc>
              </a:pPr>
              <a:endParaRPr/>
            </a:p>
          </p:txBody>
        </p:sp>
      </p:grpSp>
      <p:sp>
        <p:nvSpPr>
          <p:cNvPr id="19" name="TextBox 19"/>
          <p:cNvSpPr txBox="1"/>
          <p:nvPr/>
        </p:nvSpPr>
        <p:spPr>
          <a:xfrm>
            <a:off x="6963357" y="4056515"/>
            <a:ext cx="4361286" cy="536574"/>
          </a:xfrm>
          <a:prstGeom prst="rect">
            <a:avLst/>
          </a:prstGeom>
        </p:spPr>
        <p:txBody>
          <a:bodyPr lIns="0" tIns="0" rIns="0" bIns="0" rtlCol="0" anchor="t">
            <a:spAutoFit/>
          </a:bodyPr>
          <a:lstStyle/>
          <a:p>
            <a:pPr algn="ctr">
              <a:lnSpc>
                <a:spcPts val="3499"/>
              </a:lnSpc>
            </a:pPr>
            <a:r>
              <a:rPr lang="en-US" sz="3499">
                <a:solidFill>
                  <a:srgbClr val="290606"/>
                </a:solidFill>
                <a:latin typeface="Cheddar"/>
                <a:ea typeface="Cheddar"/>
                <a:cs typeface="Cheddar"/>
                <a:sym typeface="Cheddar"/>
              </a:rPr>
              <a:t>DÉVELOPPEMENT DU MODÈLE</a:t>
            </a:r>
          </a:p>
        </p:txBody>
      </p:sp>
      <p:grpSp>
        <p:nvGrpSpPr>
          <p:cNvPr id="20" name="Group 20"/>
          <p:cNvGrpSpPr/>
          <p:nvPr/>
        </p:nvGrpSpPr>
        <p:grpSpPr>
          <a:xfrm>
            <a:off x="11905080" y="3701989"/>
            <a:ext cx="4561929" cy="5298426"/>
            <a:chOff x="0" y="0"/>
            <a:chExt cx="1235036" cy="1434426"/>
          </a:xfrm>
        </p:grpSpPr>
        <p:sp>
          <p:nvSpPr>
            <p:cNvPr id="21" name="Freeform 21"/>
            <p:cNvSpPr/>
            <p:nvPr/>
          </p:nvSpPr>
          <p:spPr>
            <a:xfrm>
              <a:off x="0" y="0"/>
              <a:ext cx="1235036" cy="1434426"/>
            </a:xfrm>
            <a:custGeom>
              <a:avLst/>
              <a:gdLst/>
              <a:ahLst/>
              <a:cxnLst/>
              <a:rect l="l" t="t" r="r" b="b"/>
              <a:pathLst>
                <a:path w="1235036" h="1434426">
                  <a:moveTo>
                    <a:pt x="86551" y="0"/>
                  </a:moveTo>
                  <a:lnTo>
                    <a:pt x="1148486" y="0"/>
                  </a:lnTo>
                  <a:cubicBezTo>
                    <a:pt x="1196286" y="0"/>
                    <a:pt x="1235036" y="38750"/>
                    <a:pt x="1235036" y="86551"/>
                  </a:cubicBezTo>
                  <a:lnTo>
                    <a:pt x="1235036" y="1347875"/>
                  </a:lnTo>
                  <a:cubicBezTo>
                    <a:pt x="1235036" y="1395676"/>
                    <a:pt x="1196286" y="1434426"/>
                    <a:pt x="1148486" y="1434426"/>
                  </a:cubicBezTo>
                  <a:lnTo>
                    <a:pt x="86551" y="1434426"/>
                  </a:lnTo>
                  <a:cubicBezTo>
                    <a:pt x="63596" y="1434426"/>
                    <a:pt x="41581" y="1425307"/>
                    <a:pt x="25350" y="1409076"/>
                  </a:cubicBezTo>
                  <a:cubicBezTo>
                    <a:pt x="9119" y="1392844"/>
                    <a:pt x="0" y="1370830"/>
                    <a:pt x="0" y="1347875"/>
                  </a:cubicBezTo>
                  <a:lnTo>
                    <a:pt x="0" y="86551"/>
                  </a:lnTo>
                  <a:cubicBezTo>
                    <a:pt x="0" y="63596"/>
                    <a:pt x="9119" y="41581"/>
                    <a:pt x="25350" y="25350"/>
                  </a:cubicBezTo>
                  <a:cubicBezTo>
                    <a:pt x="41581" y="9119"/>
                    <a:pt x="63596" y="0"/>
                    <a:pt x="86551" y="0"/>
                  </a:cubicBezTo>
                  <a:close/>
                </a:path>
              </a:pathLst>
            </a:custGeom>
            <a:solidFill>
              <a:srgbClr val="FFFFFF"/>
            </a:solidFill>
          </p:spPr>
        </p:sp>
        <p:sp>
          <p:nvSpPr>
            <p:cNvPr id="22" name="TextBox 22"/>
            <p:cNvSpPr txBox="1"/>
            <p:nvPr/>
          </p:nvSpPr>
          <p:spPr>
            <a:xfrm>
              <a:off x="0" y="9525"/>
              <a:ext cx="1235036" cy="1424901"/>
            </a:xfrm>
            <a:prstGeom prst="rect">
              <a:avLst/>
            </a:prstGeom>
          </p:spPr>
          <p:txBody>
            <a:bodyPr lIns="50800" tIns="50800" rIns="50800" bIns="50800" rtlCol="0" anchor="ctr"/>
            <a:lstStyle/>
            <a:p>
              <a:pPr algn="ctr">
                <a:lnSpc>
                  <a:spcPts val="2200"/>
                </a:lnSpc>
              </a:pPr>
              <a:endParaRPr/>
            </a:p>
          </p:txBody>
        </p:sp>
      </p:grpSp>
      <p:sp>
        <p:nvSpPr>
          <p:cNvPr id="23" name="TextBox 23"/>
          <p:cNvSpPr txBox="1"/>
          <p:nvPr/>
        </p:nvSpPr>
        <p:spPr>
          <a:xfrm>
            <a:off x="12098110" y="4056515"/>
            <a:ext cx="4160643" cy="536574"/>
          </a:xfrm>
          <a:prstGeom prst="rect">
            <a:avLst/>
          </a:prstGeom>
        </p:spPr>
        <p:txBody>
          <a:bodyPr lIns="0" tIns="0" rIns="0" bIns="0" rtlCol="0" anchor="t">
            <a:spAutoFit/>
          </a:bodyPr>
          <a:lstStyle/>
          <a:p>
            <a:pPr algn="ctr">
              <a:lnSpc>
                <a:spcPts val="3499"/>
              </a:lnSpc>
            </a:pPr>
            <a:r>
              <a:rPr lang="en-US" sz="3499">
                <a:solidFill>
                  <a:srgbClr val="290606"/>
                </a:solidFill>
                <a:latin typeface="Cheddar"/>
                <a:ea typeface="Cheddar"/>
                <a:cs typeface="Cheddar"/>
                <a:sym typeface="Cheddar"/>
              </a:rPr>
              <a:t>ÉVALUATION DU MODÈLE</a:t>
            </a:r>
          </a:p>
        </p:txBody>
      </p:sp>
      <p:sp>
        <p:nvSpPr>
          <p:cNvPr id="24" name="TextBox 24"/>
          <p:cNvSpPr txBox="1"/>
          <p:nvPr/>
        </p:nvSpPr>
        <p:spPr>
          <a:xfrm>
            <a:off x="2073874" y="4841224"/>
            <a:ext cx="4084443" cy="3677284"/>
          </a:xfrm>
          <a:prstGeom prst="rect">
            <a:avLst/>
          </a:prstGeom>
        </p:spPr>
        <p:txBody>
          <a:bodyPr lIns="0" tIns="0" rIns="0" bIns="0" rtlCol="0" anchor="t">
            <a:spAutoFit/>
          </a:bodyPr>
          <a:lstStyle/>
          <a:p>
            <a:pPr marL="561345" lvl="1" indent="-280673" algn="l">
              <a:lnSpc>
                <a:spcPts val="3640"/>
              </a:lnSpc>
              <a:buFont typeface="Arial"/>
              <a:buChar char="•"/>
            </a:pPr>
            <a:r>
              <a:rPr lang="en-US" sz="2600">
                <a:solidFill>
                  <a:srgbClr val="290606"/>
                </a:solidFill>
                <a:latin typeface="Telegraf"/>
                <a:ea typeface="Telegraf"/>
                <a:cs typeface="Telegraf"/>
                <a:sym typeface="Telegraf"/>
              </a:rPr>
              <a:t>Collecte, nettoyage et prétraitement des données</a:t>
            </a:r>
          </a:p>
          <a:p>
            <a:pPr marL="561345" lvl="1" indent="-280673" algn="l">
              <a:lnSpc>
                <a:spcPts val="3640"/>
              </a:lnSpc>
              <a:buFont typeface="Arial"/>
              <a:buChar char="•"/>
            </a:pPr>
            <a:r>
              <a:rPr lang="en-US" sz="2600">
                <a:solidFill>
                  <a:srgbClr val="290606"/>
                </a:solidFill>
                <a:latin typeface="Telegraf"/>
                <a:ea typeface="Telegraf"/>
                <a:cs typeface="Telegraf"/>
                <a:sym typeface="Telegraf"/>
              </a:rPr>
              <a:t>Garantir la qualité et la fiabilité des données</a:t>
            </a:r>
          </a:p>
          <a:p>
            <a:pPr marL="561345" lvl="1" indent="-280673" algn="l">
              <a:lnSpc>
                <a:spcPts val="3640"/>
              </a:lnSpc>
              <a:buFont typeface="Arial"/>
              <a:buChar char="•"/>
            </a:pPr>
            <a:r>
              <a:rPr lang="en-US" sz="2600">
                <a:solidFill>
                  <a:srgbClr val="290606"/>
                </a:solidFill>
                <a:latin typeface="Telegraf"/>
                <a:ea typeface="Telegraf"/>
                <a:cs typeface="Telegraf"/>
                <a:sym typeface="Telegraf"/>
              </a:rPr>
              <a:t>Étiquetage et annotation des données</a:t>
            </a:r>
          </a:p>
        </p:txBody>
      </p:sp>
      <p:sp>
        <p:nvSpPr>
          <p:cNvPr id="25" name="TextBox 25"/>
          <p:cNvSpPr txBox="1"/>
          <p:nvPr/>
        </p:nvSpPr>
        <p:spPr>
          <a:xfrm>
            <a:off x="7016523" y="4841224"/>
            <a:ext cx="4308120" cy="3677285"/>
          </a:xfrm>
          <a:prstGeom prst="rect">
            <a:avLst/>
          </a:prstGeom>
        </p:spPr>
        <p:txBody>
          <a:bodyPr lIns="0" tIns="0" rIns="0" bIns="0" rtlCol="0" anchor="t">
            <a:spAutoFit/>
          </a:bodyPr>
          <a:lstStyle/>
          <a:p>
            <a:pPr marL="561341" lvl="1" indent="-280670" algn="l">
              <a:lnSpc>
                <a:spcPts val="3640"/>
              </a:lnSpc>
              <a:buFont typeface="Arial"/>
              <a:buChar char="•"/>
            </a:pPr>
            <a:r>
              <a:rPr lang="en-US" sz="2600">
                <a:solidFill>
                  <a:srgbClr val="290606"/>
                </a:solidFill>
                <a:latin typeface="Telegraf"/>
                <a:ea typeface="Telegraf"/>
                <a:cs typeface="Telegraf"/>
                <a:sym typeface="Telegraf"/>
              </a:rPr>
              <a:t>Sélection des algorithmes de ML appropriés</a:t>
            </a:r>
          </a:p>
          <a:p>
            <a:pPr marL="561341" lvl="1" indent="-280670" algn="l">
              <a:lnSpc>
                <a:spcPts val="3640"/>
              </a:lnSpc>
              <a:buFont typeface="Arial"/>
              <a:buChar char="•"/>
            </a:pPr>
            <a:r>
              <a:rPr lang="en-US" sz="2600">
                <a:solidFill>
                  <a:srgbClr val="290606"/>
                </a:solidFill>
                <a:latin typeface="Telegraf"/>
                <a:ea typeface="Telegraf"/>
                <a:cs typeface="Telegraf"/>
                <a:sym typeface="Telegraf"/>
              </a:rPr>
              <a:t>Architecture du modèle et ajustement des hyperparamètres</a:t>
            </a:r>
          </a:p>
          <a:p>
            <a:pPr marL="561341" lvl="1" indent="-280670" algn="l">
              <a:lnSpc>
                <a:spcPts val="3640"/>
              </a:lnSpc>
              <a:buFont typeface="Arial"/>
              <a:buChar char="•"/>
            </a:pPr>
            <a:r>
              <a:rPr lang="en-US" sz="2600">
                <a:solidFill>
                  <a:srgbClr val="290606"/>
                </a:solidFill>
                <a:latin typeface="Telegraf"/>
                <a:ea typeface="Telegraf"/>
                <a:cs typeface="Telegraf"/>
                <a:sym typeface="Telegraf"/>
              </a:rPr>
              <a:t>Processus de formation et validation</a:t>
            </a:r>
          </a:p>
        </p:txBody>
      </p:sp>
      <p:sp>
        <p:nvSpPr>
          <p:cNvPr id="26" name="TextBox 26"/>
          <p:cNvSpPr txBox="1"/>
          <p:nvPr/>
        </p:nvSpPr>
        <p:spPr>
          <a:xfrm>
            <a:off x="11872931" y="4808809"/>
            <a:ext cx="4404149" cy="3677284"/>
          </a:xfrm>
          <a:prstGeom prst="rect">
            <a:avLst/>
          </a:prstGeom>
        </p:spPr>
        <p:txBody>
          <a:bodyPr lIns="0" tIns="0" rIns="0" bIns="0" rtlCol="0" anchor="t">
            <a:spAutoFit/>
          </a:bodyPr>
          <a:lstStyle/>
          <a:p>
            <a:pPr marL="561345" lvl="1" indent="-280673" algn="l">
              <a:lnSpc>
                <a:spcPts val="3640"/>
              </a:lnSpc>
              <a:buFont typeface="Arial"/>
              <a:buChar char="•"/>
            </a:pPr>
            <a:r>
              <a:rPr lang="en-US" sz="2600">
                <a:solidFill>
                  <a:srgbClr val="290606"/>
                </a:solidFill>
                <a:latin typeface="Telegraf"/>
                <a:ea typeface="Telegraf"/>
                <a:cs typeface="Telegraf"/>
                <a:sym typeface="Telegraf"/>
              </a:rPr>
              <a:t>Validation croisée et tests sur des ensembles de données de validation</a:t>
            </a:r>
          </a:p>
          <a:p>
            <a:pPr marL="561345" lvl="1" indent="-280673" algn="l">
              <a:lnSpc>
                <a:spcPts val="3640"/>
              </a:lnSpc>
              <a:buFont typeface="Arial"/>
              <a:buChar char="•"/>
            </a:pPr>
            <a:r>
              <a:rPr lang="en-US" sz="2600">
                <a:solidFill>
                  <a:srgbClr val="290606"/>
                </a:solidFill>
                <a:latin typeface="Telegraf"/>
                <a:ea typeface="Telegraf"/>
                <a:cs typeface="Telegraf"/>
                <a:sym typeface="Telegraf"/>
              </a:rPr>
              <a:t>Évaluation des performances du modèle, y compris la précision, la précision et le rappel</a:t>
            </a:r>
          </a:p>
        </p:txBody>
      </p:sp>
      <p:grpSp>
        <p:nvGrpSpPr>
          <p:cNvPr id="27" name="Group 27"/>
          <p:cNvGrpSpPr/>
          <p:nvPr/>
        </p:nvGrpSpPr>
        <p:grpSpPr>
          <a:xfrm>
            <a:off x="17259300" y="9258300"/>
            <a:ext cx="750152" cy="750152"/>
            <a:chOff x="0" y="0"/>
            <a:chExt cx="812800" cy="812800"/>
          </a:xfrm>
        </p:grpSpPr>
        <p:sp>
          <p:nvSpPr>
            <p:cNvPr id="28" name="Freeform 28"/>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7562B"/>
            </a:solidFill>
          </p:spPr>
        </p:sp>
        <p:sp>
          <p:nvSpPr>
            <p:cNvPr id="29" name="TextBox 29"/>
            <p:cNvSpPr txBox="1"/>
            <p:nvPr/>
          </p:nvSpPr>
          <p:spPr>
            <a:xfrm>
              <a:off x="76200" y="85725"/>
              <a:ext cx="660400" cy="650875"/>
            </a:xfrm>
            <a:prstGeom prst="rect">
              <a:avLst/>
            </a:prstGeom>
          </p:spPr>
          <p:txBody>
            <a:bodyPr lIns="50800" tIns="50800" rIns="50800" bIns="50800" rtlCol="0" anchor="ctr"/>
            <a:lstStyle/>
            <a:p>
              <a:pPr algn="ctr">
                <a:lnSpc>
                  <a:spcPts val="2400"/>
                </a:lnSpc>
              </a:pPr>
              <a:r>
                <a:rPr lang="en-US" sz="2400" b="1" spc="117">
                  <a:solidFill>
                    <a:srgbClr val="FFFFFF"/>
                  </a:solidFill>
                  <a:latin typeface="Telegraf Bold"/>
                  <a:ea typeface="Telegraf Bold"/>
                  <a:cs typeface="Telegraf Bold"/>
                  <a:sym typeface="Telegraf Bold"/>
                </a:rPr>
                <a:t>3</a:t>
              </a:r>
            </a:p>
          </p:txBody>
        </p:sp>
      </p:grpSp>
      <p:sp>
        <p:nvSpPr>
          <p:cNvPr id="30" name="Freeform 30"/>
          <p:cNvSpPr/>
          <p:nvPr/>
        </p:nvSpPr>
        <p:spPr>
          <a:xfrm>
            <a:off x="15207001" y="1028700"/>
            <a:ext cx="1260008" cy="1653948"/>
          </a:xfrm>
          <a:custGeom>
            <a:avLst/>
            <a:gdLst/>
            <a:ahLst/>
            <a:cxnLst/>
            <a:rect l="l" t="t" r="r" b="b"/>
            <a:pathLst>
              <a:path w="1260008" h="1653948">
                <a:moveTo>
                  <a:pt x="0" y="0"/>
                </a:moveTo>
                <a:lnTo>
                  <a:pt x="1260008" y="0"/>
                </a:lnTo>
                <a:lnTo>
                  <a:pt x="1260008" y="1653948"/>
                </a:lnTo>
                <a:lnTo>
                  <a:pt x="0" y="1653948"/>
                </a:lnTo>
                <a:lnTo>
                  <a:pt x="0" y="0"/>
                </a:lnTo>
                <a:close/>
              </a:path>
            </a:pathLst>
          </a:custGeom>
          <a:blipFill>
            <a:blip r:embed="rId2">
              <a:extLst>
                <a:ext uri="{96DAC541-7B7A-43D3-8B79-37D633B846F1}">
                  <asvg:svgBlip xmlns="" xmlns:asvg="http://schemas.microsoft.com/office/drawing/2016/SVG/main" r:embed="rId3"/>
                </a:ext>
              </a:extLst>
            </a:blip>
            <a:stretch>
              <a:fillRect/>
            </a:stretch>
          </a:blipFill>
        </p:spPr>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EEF4F3"/>
        </a:solidFill>
        <a:effectLst/>
      </p:bgPr>
    </p:bg>
    <p:spTree>
      <p:nvGrpSpPr>
        <p:cNvPr id="1" name=""/>
        <p:cNvGrpSpPr/>
        <p:nvPr/>
      </p:nvGrpSpPr>
      <p:grpSpPr>
        <a:xfrm>
          <a:off x="0" y="0"/>
          <a:ext cx="0" cy="0"/>
          <a:chOff x="0" y="0"/>
          <a:chExt cx="0" cy="0"/>
        </a:xfrm>
      </p:grpSpPr>
      <p:grpSp>
        <p:nvGrpSpPr>
          <p:cNvPr id="2" name="Group 2"/>
          <p:cNvGrpSpPr/>
          <p:nvPr/>
        </p:nvGrpSpPr>
        <p:grpSpPr>
          <a:xfrm>
            <a:off x="-1328069" y="2591509"/>
            <a:ext cx="11614325" cy="6666791"/>
            <a:chOff x="0" y="0"/>
            <a:chExt cx="3058917" cy="1755863"/>
          </a:xfrm>
        </p:grpSpPr>
        <p:sp>
          <p:nvSpPr>
            <p:cNvPr id="3" name="Freeform 3"/>
            <p:cNvSpPr/>
            <p:nvPr/>
          </p:nvSpPr>
          <p:spPr>
            <a:xfrm>
              <a:off x="0" y="0"/>
              <a:ext cx="3058917" cy="1755863"/>
            </a:xfrm>
            <a:custGeom>
              <a:avLst/>
              <a:gdLst/>
              <a:ahLst/>
              <a:cxnLst/>
              <a:rect l="l" t="t" r="r" b="b"/>
              <a:pathLst>
                <a:path w="3058917" h="1755863">
                  <a:moveTo>
                    <a:pt x="33996" y="0"/>
                  </a:moveTo>
                  <a:lnTo>
                    <a:pt x="3024921" y="0"/>
                  </a:lnTo>
                  <a:cubicBezTo>
                    <a:pt x="3043696" y="0"/>
                    <a:pt x="3058917" y="15220"/>
                    <a:pt x="3058917" y="33996"/>
                  </a:cubicBezTo>
                  <a:lnTo>
                    <a:pt x="3058917" y="1721867"/>
                  </a:lnTo>
                  <a:cubicBezTo>
                    <a:pt x="3058917" y="1730883"/>
                    <a:pt x="3055335" y="1739530"/>
                    <a:pt x="3048960" y="1745906"/>
                  </a:cubicBezTo>
                  <a:cubicBezTo>
                    <a:pt x="3042584" y="1752281"/>
                    <a:pt x="3033937" y="1755863"/>
                    <a:pt x="3024921" y="1755863"/>
                  </a:cubicBezTo>
                  <a:lnTo>
                    <a:pt x="33996" y="1755863"/>
                  </a:lnTo>
                  <a:cubicBezTo>
                    <a:pt x="24980" y="1755863"/>
                    <a:pt x="16333" y="1752281"/>
                    <a:pt x="9957" y="1745906"/>
                  </a:cubicBezTo>
                  <a:cubicBezTo>
                    <a:pt x="3582" y="1739530"/>
                    <a:pt x="0" y="1730883"/>
                    <a:pt x="0" y="1721867"/>
                  </a:cubicBezTo>
                  <a:lnTo>
                    <a:pt x="0" y="33996"/>
                  </a:lnTo>
                  <a:cubicBezTo>
                    <a:pt x="0" y="24980"/>
                    <a:pt x="3582" y="16333"/>
                    <a:pt x="9957" y="9957"/>
                  </a:cubicBezTo>
                  <a:cubicBezTo>
                    <a:pt x="16333" y="3582"/>
                    <a:pt x="24980" y="0"/>
                    <a:pt x="33996" y="0"/>
                  </a:cubicBezTo>
                  <a:close/>
                </a:path>
              </a:pathLst>
            </a:custGeom>
            <a:solidFill>
              <a:srgbClr val="02B676"/>
            </a:solidFill>
          </p:spPr>
        </p:sp>
        <p:sp>
          <p:nvSpPr>
            <p:cNvPr id="4" name="TextBox 4"/>
            <p:cNvSpPr txBox="1"/>
            <p:nvPr/>
          </p:nvSpPr>
          <p:spPr>
            <a:xfrm>
              <a:off x="0" y="-66675"/>
              <a:ext cx="3058917" cy="1822538"/>
            </a:xfrm>
            <a:prstGeom prst="rect">
              <a:avLst/>
            </a:prstGeom>
          </p:spPr>
          <p:txBody>
            <a:bodyPr lIns="50800" tIns="50800" rIns="50800" bIns="50800" rtlCol="0" anchor="ctr"/>
            <a:lstStyle/>
            <a:p>
              <a:pPr algn="ctr">
                <a:lnSpc>
                  <a:spcPts val="2659"/>
                </a:lnSpc>
                <a:spcBef>
                  <a:spcPct val="0"/>
                </a:spcBef>
              </a:pPr>
              <a:endParaRPr/>
            </a:p>
          </p:txBody>
        </p:sp>
      </p:grpSp>
      <p:grpSp>
        <p:nvGrpSpPr>
          <p:cNvPr id="5" name="Group 5"/>
          <p:cNvGrpSpPr/>
          <p:nvPr/>
        </p:nvGrpSpPr>
        <p:grpSpPr>
          <a:xfrm>
            <a:off x="17259300" y="9258300"/>
            <a:ext cx="750152" cy="750152"/>
            <a:chOff x="0" y="0"/>
            <a:chExt cx="812800" cy="812800"/>
          </a:xfrm>
        </p:grpSpPr>
        <p:sp>
          <p:nvSpPr>
            <p:cNvPr id="6" name="Freeform 6"/>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7562B"/>
            </a:solidFill>
          </p:spPr>
        </p:sp>
        <p:sp>
          <p:nvSpPr>
            <p:cNvPr id="7" name="TextBox 7"/>
            <p:cNvSpPr txBox="1"/>
            <p:nvPr/>
          </p:nvSpPr>
          <p:spPr>
            <a:xfrm>
              <a:off x="76200" y="85725"/>
              <a:ext cx="660400" cy="650875"/>
            </a:xfrm>
            <a:prstGeom prst="rect">
              <a:avLst/>
            </a:prstGeom>
          </p:spPr>
          <p:txBody>
            <a:bodyPr lIns="50800" tIns="50800" rIns="50800" bIns="50800" rtlCol="0" anchor="ctr"/>
            <a:lstStyle/>
            <a:p>
              <a:pPr algn="ctr">
                <a:lnSpc>
                  <a:spcPts val="2400"/>
                </a:lnSpc>
              </a:pPr>
              <a:r>
                <a:rPr lang="en-US" sz="2400" b="1" spc="117">
                  <a:solidFill>
                    <a:srgbClr val="FFFFFF"/>
                  </a:solidFill>
                  <a:latin typeface="Telegraf Bold"/>
                  <a:ea typeface="Telegraf Bold"/>
                  <a:cs typeface="Telegraf Bold"/>
                  <a:sym typeface="Telegraf Bold"/>
                </a:rPr>
                <a:t>4</a:t>
              </a:r>
            </a:p>
          </p:txBody>
        </p:sp>
      </p:grpSp>
      <p:sp>
        <p:nvSpPr>
          <p:cNvPr id="8" name="TextBox 8"/>
          <p:cNvSpPr txBox="1"/>
          <p:nvPr/>
        </p:nvSpPr>
        <p:spPr>
          <a:xfrm>
            <a:off x="950768" y="866775"/>
            <a:ext cx="8927786" cy="1073150"/>
          </a:xfrm>
          <a:prstGeom prst="rect">
            <a:avLst/>
          </a:prstGeom>
        </p:spPr>
        <p:txBody>
          <a:bodyPr lIns="0" tIns="0" rIns="0" bIns="0" rtlCol="0" anchor="t">
            <a:spAutoFit/>
          </a:bodyPr>
          <a:lstStyle/>
          <a:p>
            <a:pPr algn="l">
              <a:lnSpc>
                <a:spcPts val="6999"/>
              </a:lnSpc>
            </a:pPr>
            <a:r>
              <a:rPr lang="en-US" sz="6999" spc="342">
                <a:solidFill>
                  <a:srgbClr val="290606"/>
                </a:solidFill>
                <a:latin typeface="Cheddar"/>
                <a:ea typeface="Cheddar"/>
                <a:cs typeface="Cheddar"/>
                <a:sym typeface="Cheddar"/>
              </a:rPr>
              <a:t>INTRODUCTION</a:t>
            </a:r>
          </a:p>
        </p:txBody>
      </p:sp>
      <p:sp>
        <p:nvSpPr>
          <p:cNvPr id="9" name="TextBox 9"/>
          <p:cNvSpPr txBox="1"/>
          <p:nvPr/>
        </p:nvSpPr>
        <p:spPr>
          <a:xfrm>
            <a:off x="969818" y="3210279"/>
            <a:ext cx="8771922" cy="5381625"/>
          </a:xfrm>
          <a:prstGeom prst="rect">
            <a:avLst/>
          </a:prstGeom>
        </p:spPr>
        <p:txBody>
          <a:bodyPr lIns="0" tIns="0" rIns="0" bIns="0" rtlCol="0" anchor="t">
            <a:spAutoFit/>
          </a:bodyPr>
          <a:lstStyle/>
          <a:p>
            <a:pPr algn="l">
              <a:lnSpc>
                <a:spcPts val="4200"/>
              </a:lnSpc>
            </a:pPr>
            <a:r>
              <a:rPr lang="en-US" sz="3500" spc="171" dirty="0">
                <a:solidFill>
                  <a:srgbClr val="FFFFFF"/>
                </a:solidFill>
                <a:latin typeface="Telegraf"/>
                <a:ea typeface="Telegraf"/>
                <a:cs typeface="Telegraf"/>
                <a:sym typeface="Telegraf"/>
              </a:rPr>
              <a:t> Le</a:t>
            </a:r>
            <a:r>
              <a:rPr lang="en-US" sz="3500" b="1" spc="171" dirty="0">
                <a:solidFill>
                  <a:srgbClr val="FFFFFF"/>
                </a:solidFill>
                <a:latin typeface="Telegraf Bold"/>
                <a:ea typeface="Telegraf Bold"/>
                <a:cs typeface="Telegraf Bold"/>
                <a:sym typeface="Telegraf Bold"/>
              </a:rPr>
              <a:t> </a:t>
            </a:r>
            <a:r>
              <a:rPr lang="en-US" sz="3500" b="1" u="sng" spc="171" dirty="0">
                <a:solidFill>
                  <a:srgbClr val="FFFFFF"/>
                </a:solidFill>
                <a:latin typeface="Telegraf Bold"/>
                <a:ea typeface="Telegraf Bold"/>
                <a:cs typeface="Telegraf Bold"/>
                <a:sym typeface="Telegraf Bold"/>
              </a:rPr>
              <a:t>Data Cleaning</a:t>
            </a:r>
            <a:r>
              <a:rPr lang="en-US" sz="3500" b="1" spc="171" dirty="0">
                <a:solidFill>
                  <a:srgbClr val="FFFFFF"/>
                </a:solidFill>
                <a:latin typeface="Telegraf Bold"/>
                <a:ea typeface="Telegraf Bold"/>
                <a:cs typeface="Telegraf Bold"/>
                <a:sym typeface="Telegraf Bold"/>
              </a:rPr>
              <a:t> </a:t>
            </a:r>
            <a:r>
              <a:rPr lang="en-US" sz="3500" spc="171" dirty="0" err="1">
                <a:solidFill>
                  <a:srgbClr val="FFFFFF"/>
                </a:solidFill>
                <a:latin typeface="Telegraf"/>
                <a:ea typeface="Telegraf"/>
                <a:cs typeface="Telegraf"/>
                <a:sym typeface="Telegraf"/>
              </a:rPr>
              <a:t>est</a:t>
            </a:r>
            <a:r>
              <a:rPr lang="en-US" sz="3500" spc="171" dirty="0">
                <a:solidFill>
                  <a:srgbClr val="FFFFFF"/>
                </a:solidFill>
                <a:latin typeface="Telegraf"/>
                <a:ea typeface="Telegraf"/>
                <a:cs typeface="Telegraf"/>
                <a:sym typeface="Telegraf"/>
              </a:rPr>
              <a:t> </a:t>
            </a:r>
            <a:r>
              <a:rPr lang="en-US" sz="3500" spc="171" dirty="0" err="1">
                <a:solidFill>
                  <a:srgbClr val="FFFFFF"/>
                </a:solidFill>
                <a:latin typeface="Telegraf"/>
                <a:ea typeface="Telegraf"/>
                <a:cs typeface="Telegraf"/>
                <a:sym typeface="Telegraf"/>
              </a:rPr>
              <a:t>une</a:t>
            </a:r>
            <a:r>
              <a:rPr lang="en-US" sz="3500" spc="171" dirty="0">
                <a:solidFill>
                  <a:srgbClr val="FFFFFF"/>
                </a:solidFill>
                <a:latin typeface="Telegraf"/>
                <a:ea typeface="Telegraf"/>
                <a:cs typeface="Telegraf"/>
                <a:sym typeface="Telegraf"/>
              </a:rPr>
              <a:t> </a:t>
            </a:r>
            <a:r>
              <a:rPr lang="en-US" sz="3500" spc="171" dirty="0" err="1">
                <a:solidFill>
                  <a:srgbClr val="FFFFFF"/>
                </a:solidFill>
                <a:latin typeface="Telegraf"/>
                <a:ea typeface="Telegraf"/>
                <a:cs typeface="Telegraf"/>
                <a:sym typeface="Telegraf"/>
              </a:rPr>
              <a:t>étape</a:t>
            </a:r>
            <a:r>
              <a:rPr lang="en-US" sz="3500" spc="171" dirty="0">
                <a:solidFill>
                  <a:srgbClr val="FFFFFF"/>
                </a:solidFill>
                <a:latin typeface="Telegraf"/>
                <a:ea typeface="Telegraf"/>
                <a:cs typeface="Telegraf"/>
                <a:sym typeface="Telegraf"/>
              </a:rPr>
              <a:t> </a:t>
            </a:r>
            <a:r>
              <a:rPr lang="en-US" sz="3500" spc="171" dirty="0" err="1">
                <a:solidFill>
                  <a:srgbClr val="FFFFFF"/>
                </a:solidFill>
                <a:latin typeface="Telegraf"/>
                <a:ea typeface="Telegraf"/>
                <a:cs typeface="Telegraf"/>
                <a:sym typeface="Telegraf"/>
              </a:rPr>
              <a:t>cruciale</a:t>
            </a:r>
            <a:r>
              <a:rPr lang="en-US" sz="3500" spc="171" dirty="0">
                <a:solidFill>
                  <a:srgbClr val="FFFFFF"/>
                </a:solidFill>
                <a:latin typeface="Telegraf"/>
                <a:ea typeface="Telegraf"/>
                <a:cs typeface="Telegraf"/>
                <a:sym typeface="Telegraf"/>
              </a:rPr>
              <a:t> </a:t>
            </a:r>
            <a:r>
              <a:rPr lang="en-US" sz="3500" spc="171" dirty="0" err="1">
                <a:solidFill>
                  <a:srgbClr val="FFFFFF"/>
                </a:solidFill>
                <a:latin typeface="Telegraf"/>
                <a:ea typeface="Telegraf"/>
                <a:cs typeface="Telegraf"/>
                <a:sym typeface="Telegraf"/>
              </a:rPr>
              <a:t>en</a:t>
            </a:r>
            <a:r>
              <a:rPr lang="en-US" sz="3500" u="sng" spc="171" dirty="0">
                <a:solidFill>
                  <a:srgbClr val="FFFFFF"/>
                </a:solidFill>
                <a:latin typeface="Telegraf"/>
                <a:ea typeface="Telegraf"/>
                <a:cs typeface="Telegraf"/>
                <a:sym typeface="Telegraf"/>
              </a:rPr>
              <a:t> </a:t>
            </a:r>
            <a:r>
              <a:rPr lang="en-US" sz="3500" b="1" u="sng" spc="171" dirty="0">
                <a:solidFill>
                  <a:srgbClr val="FFFFFF"/>
                </a:solidFill>
                <a:latin typeface="Telegraf"/>
                <a:ea typeface="Telegraf"/>
                <a:cs typeface="Telegraf"/>
                <a:sym typeface="Telegraf"/>
              </a:rPr>
              <a:t>M</a:t>
            </a:r>
            <a:r>
              <a:rPr lang="en-US" sz="3500" b="1" u="sng" spc="171" dirty="0">
                <a:solidFill>
                  <a:srgbClr val="FFFFFF"/>
                </a:solidFill>
                <a:latin typeface="Telegraf Bold"/>
                <a:ea typeface="Telegraf Bold"/>
                <a:cs typeface="Telegraf Bold"/>
                <a:sym typeface="Telegraf Bold"/>
              </a:rPr>
              <a:t>achine Learning</a:t>
            </a:r>
            <a:r>
              <a:rPr lang="en-US" sz="3500" spc="171" dirty="0">
                <a:solidFill>
                  <a:srgbClr val="FFFFFF"/>
                </a:solidFill>
                <a:latin typeface="Telegraf"/>
                <a:ea typeface="Telegraf"/>
                <a:cs typeface="Telegraf"/>
                <a:sym typeface="Telegraf"/>
              </a:rPr>
              <a:t>, car des </a:t>
            </a:r>
            <a:r>
              <a:rPr lang="en-US" sz="3500" spc="171" dirty="0" err="1">
                <a:solidFill>
                  <a:srgbClr val="FFFFFF"/>
                </a:solidFill>
                <a:latin typeface="Telegraf"/>
                <a:ea typeface="Telegraf"/>
                <a:cs typeface="Telegraf"/>
                <a:sym typeface="Telegraf"/>
              </a:rPr>
              <a:t>données</a:t>
            </a:r>
            <a:r>
              <a:rPr lang="en-US" sz="3500" spc="171" dirty="0">
                <a:solidFill>
                  <a:srgbClr val="FFFFFF"/>
                </a:solidFill>
                <a:latin typeface="Telegraf"/>
                <a:ea typeface="Telegraf"/>
                <a:cs typeface="Telegraf"/>
                <a:sym typeface="Telegraf"/>
              </a:rPr>
              <a:t> de </a:t>
            </a:r>
            <a:r>
              <a:rPr lang="en-US" sz="3500" spc="171" dirty="0" err="1">
                <a:solidFill>
                  <a:srgbClr val="FFFFFF"/>
                </a:solidFill>
                <a:latin typeface="Telegraf"/>
                <a:ea typeface="Telegraf"/>
                <a:cs typeface="Telegraf"/>
                <a:sym typeface="Telegraf"/>
              </a:rPr>
              <a:t>mauvaise</a:t>
            </a:r>
            <a:r>
              <a:rPr lang="en-US" sz="3500" spc="171" dirty="0">
                <a:solidFill>
                  <a:srgbClr val="FFFFFF"/>
                </a:solidFill>
                <a:latin typeface="Telegraf"/>
                <a:ea typeface="Telegraf"/>
                <a:cs typeface="Telegraf"/>
                <a:sym typeface="Telegraf"/>
              </a:rPr>
              <a:t> </a:t>
            </a:r>
            <a:r>
              <a:rPr lang="en-US" sz="3500" spc="171" dirty="0" err="1">
                <a:solidFill>
                  <a:srgbClr val="FFFFFF"/>
                </a:solidFill>
                <a:latin typeface="Telegraf"/>
                <a:ea typeface="Telegraf"/>
                <a:cs typeface="Telegraf"/>
                <a:sym typeface="Telegraf"/>
              </a:rPr>
              <a:t>qualité</a:t>
            </a:r>
            <a:r>
              <a:rPr lang="en-US" sz="3500" spc="171" dirty="0">
                <a:solidFill>
                  <a:srgbClr val="FFFFFF"/>
                </a:solidFill>
                <a:latin typeface="Telegraf"/>
                <a:ea typeface="Telegraf"/>
                <a:cs typeface="Telegraf"/>
                <a:sym typeface="Telegraf"/>
              </a:rPr>
              <a:t> </a:t>
            </a:r>
            <a:r>
              <a:rPr lang="en-US" sz="3500" spc="171" dirty="0" err="1">
                <a:solidFill>
                  <a:srgbClr val="FFFFFF"/>
                </a:solidFill>
                <a:latin typeface="Telegraf"/>
                <a:ea typeface="Telegraf"/>
                <a:cs typeface="Telegraf"/>
                <a:sym typeface="Telegraf"/>
              </a:rPr>
              <a:t>entraînent</a:t>
            </a:r>
            <a:r>
              <a:rPr lang="en-US" sz="3500" spc="171" dirty="0">
                <a:solidFill>
                  <a:srgbClr val="FFFFFF"/>
                </a:solidFill>
                <a:latin typeface="Telegraf"/>
                <a:ea typeface="Telegraf"/>
                <a:cs typeface="Telegraf"/>
                <a:sym typeface="Telegraf"/>
              </a:rPr>
              <a:t> des </a:t>
            </a:r>
            <a:r>
              <a:rPr lang="en-US" sz="3500" spc="171" dirty="0" err="1">
                <a:solidFill>
                  <a:srgbClr val="FFFFFF"/>
                </a:solidFill>
                <a:latin typeface="Telegraf"/>
                <a:ea typeface="Telegraf"/>
                <a:cs typeface="Telegraf"/>
                <a:sym typeface="Telegraf"/>
              </a:rPr>
              <a:t>modèles</a:t>
            </a:r>
            <a:r>
              <a:rPr lang="en-US" sz="3500" spc="171" dirty="0">
                <a:solidFill>
                  <a:srgbClr val="FFFFFF"/>
                </a:solidFill>
                <a:latin typeface="Telegraf"/>
                <a:ea typeface="Telegraf"/>
                <a:cs typeface="Telegraf"/>
                <a:sym typeface="Telegraf"/>
              </a:rPr>
              <a:t> </a:t>
            </a:r>
            <a:r>
              <a:rPr lang="en-US" sz="3500" spc="171" dirty="0" err="1">
                <a:solidFill>
                  <a:srgbClr val="FFFFFF"/>
                </a:solidFill>
                <a:latin typeface="Telegraf"/>
                <a:ea typeface="Telegraf"/>
                <a:cs typeface="Telegraf"/>
                <a:sym typeface="Telegraf"/>
              </a:rPr>
              <a:t>inefficaces</a:t>
            </a:r>
            <a:r>
              <a:rPr lang="en-US" sz="3500" spc="171" dirty="0">
                <a:solidFill>
                  <a:srgbClr val="FFFFFF"/>
                </a:solidFill>
                <a:latin typeface="Telegraf"/>
                <a:ea typeface="Telegraf"/>
                <a:cs typeface="Telegraf"/>
                <a:sym typeface="Telegraf"/>
              </a:rPr>
              <a:t>.</a:t>
            </a:r>
          </a:p>
          <a:p>
            <a:pPr algn="l">
              <a:lnSpc>
                <a:spcPts val="4200"/>
              </a:lnSpc>
            </a:pPr>
            <a:r>
              <a:rPr lang="en-US" sz="3500" spc="171" dirty="0">
                <a:solidFill>
                  <a:srgbClr val="FFFFFF"/>
                </a:solidFill>
                <a:latin typeface="Telegraf"/>
                <a:ea typeface="Telegraf"/>
                <a:cs typeface="Telegraf"/>
                <a:sym typeface="Telegraf"/>
              </a:rPr>
              <a:t> Un bon </a:t>
            </a:r>
            <a:r>
              <a:rPr lang="en-US" sz="3500" spc="171" dirty="0" err="1">
                <a:solidFill>
                  <a:srgbClr val="FFFFFF"/>
                </a:solidFill>
                <a:latin typeface="Telegraf"/>
                <a:ea typeface="Telegraf"/>
                <a:cs typeface="Telegraf"/>
                <a:sym typeface="Telegraf"/>
              </a:rPr>
              <a:t>nettoyage</a:t>
            </a:r>
            <a:r>
              <a:rPr lang="en-US" sz="3500" spc="171" dirty="0">
                <a:solidFill>
                  <a:srgbClr val="FFFFFF"/>
                </a:solidFill>
                <a:latin typeface="Telegraf"/>
                <a:ea typeface="Telegraf"/>
                <a:cs typeface="Telegraf"/>
                <a:sym typeface="Telegraf"/>
              </a:rPr>
              <a:t> </a:t>
            </a:r>
            <a:r>
              <a:rPr lang="en-US" sz="3500" spc="171" dirty="0" err="1">
                <a:solidFill>
                  <a:srgbClr val="FFFFFF"/>
                </a:solidFill>
                <a:latin typeface="Telegraf"/>
                <a:ea typeface="Telegraf"/>
                <a:cs typeface="Telegraf"/>
                <a:sym typeface="Telegraf"/>
              </a:rPr>
              <a:t>améliore</a:t>
            </a:r>
            <a:r>
              <a:rPr lang="en-US" sz="3500" spc="171" dirty="0">
                <a:solidFill>
                  <a:srgbClr val="FFFFFF"/>
                </a:solidFill>
                <a:latin typeface="Telegraf"/>
                <a:ea typeface="Telegraf"/>
                <a:cs typeface="Telegraf"/>
                <a:sym typeface="Telegraf"/>
              </a:rPr>
              <a:t> la </a:t>
            </a:r>
            <a:r>
              <a:rPr lang="en-US" sz="3500" spc="171" dirty="0" err="1">
                <a:solidFill>
                  <a:srgbClr val="FFFFFF"/>
                </a:solidFill>
                <a:latin typeface="Telegraf"/>
                <a:ea typeface="Telegraf"/>
                <a:cs typeface="Telegraf"/>
                <a:sym typeface="Telegraf"/>
              </a:rPr>
              <a:t>précision</a:t>
            </a:r>
            <a:r>
              <a:rPr lang="en-US" sz="3500" spc="171" dirty="0">
                <a:solidFill>
                  <a:srgbClr val="FFFFFF"/>
                </a:solidFill>
                <a:latin typeface="Telegraf"/>
                <a:ea typeface="Telegraf"/>
                <a:cs typeface="Telegraf"/>
                <a:sym typeface="Telegraf"/>
              </a:rPr>
              <a:t>, </a:t>
            </a:r>
            <a:r>
              <a:rPr lang="en-US" sz="3500" spc="171" dirty="0" err="1">
                <a:solidFill>
                  <a:srgbClr val="FFFFFF"/>
                </a:solidFill>
                <a:latin typeface="Telegraf"/>
                <a:ea typeface="Telegraf"/>
                <a:cs typeface="Telegraf"/>
                <a:sym typeface="Telegraf"/>
              </a:rPr>
              <a:t>réduit</a:t>
            </a:r>
            <a:r>
              <a:rPr lang="en-US" sz="3500" spc="171" dirty="0">
                <a:solidFill>
                  <a:srgbClr val="FFFFFF"/>
                </a:solidFill>
                <a:latin typeface="Telegraf"/>
                <a:ea typeface="Telegraf"/>
                <a:cs typeface="Telegraf"/>
                <a:sym typeface="Telegraf"/>
              </a:rPr>
              <a:t> le bruit et </a:t>
            </a:r>
            <a:r>
              <a:rPr lang="en-US" sz="3500" spc="171" dirty="0" err="1">
                <a:solidFill>
                  <a:srgbClr val="FFFFFF"/>
                </a:solidFill>
                <a:latin typeface="Telegraf"/>
                <a:ea typeface="Telegraf"/>
                <a:cs typeface="Telegraf"/>
                <a:sym typeface="Telegraf"/>
              </a:rPr>
              <a:t>évite</a:t>
            </a:r>
            <a:r>
              <a:rPr lang="en-US" sz="3500" spc="171" dirty="0">
                <a:solidFill>
                  <a:srgbClr val="FFFFFF"/>
                </a:solidFill>
                <a:latin typeface="Telegraf"/>
                <a:ea typeface="Telegraf"/>
                <a:cs typeface="Telegraf"/>
                <a:sym typeface="Telegraf"/>
              </a:rPr>
              <a:t> les </a:t>
            </a:r>
            <a:r>
              <a:rPr lang="en-US" sz="3500" spc="171" dirty="0" err="1">
                <a:solidFill>
                  <a:srgbClr val="FFFFFF"/>
                </a:solidFill>
                <a:latin typeface="Telegraf"/>
                <a:ea typeface="Telegraf"/>
                <a:cs typeface="Telegraf"/>
                <a:sym typeface="Telegraf"/>
              </a:rPr>
              <a:t>biais</a:t>
            </a:r>
            <a:r>
              <a:rPr lang="en-US" sz="3500" spc="171" dirty="0">
                <a:solidFill>
                  <a:srgbClr val="FFFFFF"/>
                </a:solidFill>
                <a:latin typeface="Telegraf"/>
                <a:ea typeface="Telegraf"/>
                <a:cs typeface="Telegraf"/>
                <a:sym typeface="Telegraf"/>
              </a:rPr>
              <a:t> </a:t>
            </a:r>
            <a:r>
              <a:rPr lang="en-US" sz="3500" spc="171" dirty="0" err="1">
                <a:solidFill>
                  <a:srgbClr val="FFFFFF"/>
                </a:solidFill>
                <a:latin typeface="Telegraf"/>
                <a:ea typeface="Telegraf"/>
                <a:cs typeface="Telegraf"/>
                <a:sym typeface="Telegraf"/>
              </a:rPr>
              <a:t>dans</a:t>
            </a:r>
            <a:r>
              <a:rPr lang="en-US" sz="3500" spc="171" dirty="0">
                <a:solidFill>
                  <a:srgbClr val="FFFFFF"/>
                </a:solidFill>
                <a:latin typeface="Telegraf"/>
                <a:ea typeface="Telegraf"/>
                <a:cs typeface="Telegraf"/>
                <a:sym typeface="Telegraf"/>
              </a:rPr>
              <a:t> les </a:t>
            </a:r>
            <a:r>
              <a:rPr lang="en-US" sz="3500" spc="171" dirty="0" err="1">
                <a:solidFill>
                  <a:srgbClr val="FFFFFF"/>
                </a:solidFill>
                <a:latin typeface="Telegraf"/>
                <a:ea typeface="Telegraf"/>
                <a:cs typeface="Telegraf"/>
                <a:sym typeface="Telegraf"/>
              </a:rPr>
              <a:t>prédictions</a:t>
            </a:r>
            <a:r>
              <a:rPr lang="en-US" sz="3500" spc="171" dirty="0">
                <a:solidFill>
                  <a:srgbClr val="FFFFFF"/>
                </a:solidFill>
                <a:latin typeface="Telegraf"/>
                <a:ea typeface="Telegraf"/>
                <a:cs typeface="Telegraf"/>
                <a:sym typeface="Telegraf"/>
              </a:rPr>
              <a:t>.</a:t>
            </a:r>
          </a:p>
          <a:p>
            <a:pPr algn="l">
              <a:lnSpc>
                <a:spcPts val="4200"/>
              </a:lnSpc>
            </a:pPr>
            <a:r>
              <a:rPr lang="en-US" sz="3500" spc="171" dirty="0">
                <a:solidFill>
                  <a:srgbClr val="FFFFFF"/>
                </a:solidFill>
                <a:latin typeface="Telegraf"/>
                <a:ea typeface="Telegraf"/>
                <a:cs typeface="Telegraf"/>
                <a:sym typeface="Telegraf"/>
              </a:rPr>
              <a:t> Sans </a:t>
            </a:r>
            <a:r>
              <a:rPr lang="en-US" sz="3500" spc="171" dirty="0" err="1">
                <a:solidFill>
                  <a:srgbClr val="FFFFFF"/>
                </a:solidFill>
                <a:latin typeface="Telegraf"/>
                <a:ea typeface="Telegraf"/>
                <a:cs typeface="Telegraf"/>
                <a:sym typeface="Telegraf"/>
              </a:rPr>
              <a:t>données</a:t>
            </a:r>
            <a:r>
              <a:rPr lang="en-US" sz="3500" spc="171" dirty="0">
                <a:solidFill>
                  <a:srgbClr val="FFFFFF"/>
                </a:solidFill>
                <a:latin typeface="Telegraf"/>
                <a:ea typeface="Telegraf"/>
                <a:cs typeface="Telegraf"/>
                <a:sym typeface="Telegraf"/>
              </a:rPr>
              <a:t> </a:t>
            </a:r>
            <a:r>
              <a:rPr lang="en-US" sz="3500" spc="171" dirty="0" err="1">
                <a:solidFill>
                  <a:srgbClr val="FFFFFF"/>
                </a:solidFill>
                <a:latin typeface="Telegraf"/>
                <a:ea typeface="Telegraf"/>
                <a:cs typeface="Telegraf"/>
                <a:sym typeface="Telegraf"/>
              </a:rPr>
              <a:t>propres</a:t>
            </a:r>
            <a:r>
              <a:rPr lang="en-US" sz="3500" spc="171" dirty="0">
                <a:solidFill>
                  <a:srgbClr val="FFFFFF"/>
                </a:solidFill>
                <a:latin typeface="Telegraf"/>
                <a:ea typeface="Telegraf"/>
                <a:cs typeface="Telegraf"/>
                <a:sym typeface="Telegraf"/>
              </a:rPr>
              <a:t>, </a:t>
            </a:r>
            <a:r>
              <a:rPr lang="en-US" sz="3500" spc="171" dirty="0" err="1">
                <a:solidFill>
                  <a:srgbClr val="FFFFFF"/>
                </a:solidFill>
                <a:latin typeface="Telegraf"/>
                <a:ea typeface="Telegraf"/>
                <a:cs typeface="Telegraf"/>
                <a:sym typeface="Telegraf"/>
              </a:rPr>
              <a:t>même</a:t>
            </a:r>
            <a:r>
              <a:rPr lang="en-US" sz="3500" spc="171" dirty="0">
                <a:solidFill>
                  <a:srgbClr val="FFFFFF"/>
                </a:solidFill>
                <a:latin typeface="Telegraf"/>
                <a:ea typeface="Telegraf"/>
                <a:cs typeface="Telegraf"/>
                <a:sym typeface="Telegraf"/>
              </a:rPr>
              <a:t> les </a:t>
            </a:r>
            <a:r>
              <a:rPr lang="en-US" sz="3500" spc="171" dirty="0" err="1">
                <a:solidFill>
                  <a:srgbClr val="FFFFFF"/>
                </a:solidFill>
                <a:latin typeface="Telegraf"/>
                <a:ea typeface="Telegraf"/>
                <a:cs typeface="Telegraf"/>
                <a:sym typeface="Telegraf"/>
              </a:rPr>
              <a:t>meilleurs</a:t>
            </a:r>
            <a:r>
              <a:rPr lang="en-US" sz="3500" spc="171" dirty="0">
                <a:solidFill>
                  <a:srgbClr val="FFFFFF"/>
                </a:solidFill>
                <a:latin typeface="Telegraf"/>
                <a:ea typeface="Telegraf"/>
                <a:cs typeface="Telegraf"/>
                <a:sym typeface="Telegraf"/>
              </a:rPr>
              <a:t> </a:t>
            </a:r>
            <a:r>
              <a:rPr lang="en-US" sz="3500" spc="171" dirty="0" err="1">
                <a:solidFill>
                  <a:srgbClr val="FFFFFF"/>
                </a:solidFill>
                <a:latin typeface="Telegraf"/>
                <a:ea typeface="Telegraf"/>
                <a:cs typeface="Telegraf"/>
                <a:sym typeface="Telegraf"/>
              </a:rPr>
              <a:t>algorithmes</a:t>
            </a:r>
            <a:r>
              <a:rPr lang="en-US" sz="3500" spc="171" dirty="0">
                <a:solidFill>
                  <a:srgbClr val="FFFFFF"/>
                </a:solidFill>
                <a:latin typeface="Telegraf"/>
                <a:ea typeface="Telegraf"/>
                <a:cs typeface="Telegraf"/>
                <a:sym typeface="Telegraf"/>
              </a:rPr>
              <a:t> ne </a:t>
            </a:r>
            <a:r>
              <a:rPr lang="en-US" sz="3500" spc="171" dirty="0" err="1">
                <a:solidFill>
                  <a:srgbClr val="FFFFFF"/>
                </a:solidFill>
                <a:latin typeface="Telegraf"/>
                <a:ea typeface="Telegraf"/>
                <a:cs typeface="Telegraf"/>
                <a:sym typeface="Telegraf"/>
              </a:rPr>
              <a:t>peuvent</a:t>
            </a:r>
            <a:r>
              <a:rPr lang="en-US" sz="3500" spc="171" dirty="0">
                <a:solidFill>
                  <a:srgbClr val="FFFFFF"/>
                </a:solidFill>
                <a:latin typeface="Telegraf"/>
                <a:ea typeface="Telegraf"/>
                <a:cs typeface="Telegraf"/>
                <a:sym typeface="Telegraf"/>
              </a:rPr>
              <a:t> pas donner de </a:t>
            </a:r>
            <a:r>
              <a:rPr lang="en-US" sz="3500" spc="171" dirty="0" err="1">
                <a:solidFill>
                  <a:srgbClr val="FFFFFF"/>
                </a:solidFill>
                <a:latin typeface="Telegraf"/>
                <a:ea typeface="Telegraf"/>
                <a:cs typeface="Telegraf"/>
                <a:sym typeface="Telegraf"/>
              </a:rPr>
              <a:t>bons</a:t>
            </a:r>
            <a:r>
              <a:rPr lang="en-US" sz="3500" spc="171" dirty="0">
                <a:solidFill>
                  <a:srgbClr val="FFFFFF"/>
                </a:solidFill>
                <a:latin typeface="Telegraf"/>
                <a:ea typeface="Telegraf"/>
                <a:cs typeface="Telegraf"/>
                <a:sym typeface="Telegraf"/>
              </a:rPr>
              <a:t> </a:t>
            </a:r>
            <a:r>
              <a:rPr lang="en-US" sz="3500" spc="171" dirty="0" err="1">
                <a:solidFill>
                  <a:srgbClr val="FFFFFF"/>
                </a:solidFill>
                <a:latin typeface="Telegraf"/>
                <a:ea typeface="Telegraf"/>
                <a:cs typeface="Telegraf"/>
                <a:sym typeface="Telegraf"/>
              </a:rPr>
              <a:t>résultats</a:t>
            </a:r>
            <a:r>
              <a:rPr lang="en-US" sz="3500" spc="171" dirty="0">
                <a:solidFill>
                  <a:srgbClr val="FFFFFF"/>
                </a:solidFill>
                <a:latin typeface="Telegraf"/>
                <a:ea typeface="Telegraf"/>
                <a:cs typeface="Telegraf"/>
                <a:sym typeface="Telegraf"/>
              </a:rPr>
              <a:t>.</a:t>
            </a:r>
          </a:p>
        </p:txBody>
      </p:sp>
      <p:pic>
        <p:nvPicPr>
          <p:cNvPr id="10" name="Image 9"/>
          <p:cNvPicPr>
            <a:picLocks noChangeAspect="1"/>
          </p:cNvPicPr>
          <p:nvPr/>
        </p:nvPicPr>
        <p:blipFill>
          <a:blip r:embed="rId2"/>
          <a:stretch>
            <a:fillRect/>
          </a:stretch>
        </p:blipFill>
        <p:spPr>
          <a:xfrm>
            <a:off x="12306300" y="3009900"/>
            <a:ext cx="4953000" cy="5154846"/>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EEF4F3"/>
        </a:solidFill>
        <a:effectLst/>
      </p:bgPr>
    </p:bg>
    <p:spTree>
      <p:nvGrpSpPr>
        <p:cNvPr id="1" name=""/>
        <p:cNvGrpSpPr/>
        <p:nvPr/>
      </p:nvGrpSpPr>
      <p:grpSpPr>
        <a:xfrm>
          <a:off x="0" y="0"/>
          <a:ext cx="0" cy="0"/>
          <a:chOff x="0" y="0"/>
          <a:chExt cx="0" cy="0"/>
        </a:xfrm>
      </p:grpSpPr>
      <p:sp>
        <p:nvSpPr>
          <p:cNvPr id="2" name="TextBox 2"/>
          <p:cNvSpPr txBox="1"/>
          <p:nvPr/>
        </p:nvSpPr>
        <p:spPr>
          <a:xfrm>
            <a:off x="1757527" y="990600"/>
            <a:ext cx="14772946" cy="1958975"/>
          </a:xfrm>
          <a:prstGeom prst="rect">
            <a:avLst/>
          </a:prstGeom>
        </p:spPr>
        <p:txBody>
          <a:bodyPr lIns="0" tIns="0" rIns="0" bIns="0" rtlCol="0" anchor="t">
            <a:spAutoFit/>
          </a:bodyPr>
          <a:lstStyle/>
          <a:p>
            <a:pPr algn="ctr">
              <a:lnSpc>
                <a:spcPts val="6999"/>
              </a:lnSpc>
            </a:pPr>
            <a:r>
              <a:rPr lang="en-US" sz="6999" spc="342">
                <a:solidFill>
                  <a:srgbClr val="290606"/>
                </a:solidFill>
                <a:latin typeface="Cheddar"/>
                <a:ea typeface="Cheddar"/>
                <a:cs typeface="Cheddar"/>
                <a:sym typeface="Cheddar"/>
              </a:rPr>
              <a:t>PRÉDICTION DU NIVEAU DE MALADIE À L'AIDE DE MACHINE LEARNING</a:t>
            </a:r>
          </a:p>
        </p:txBody>
      </p:sp>
      <p:grpSp>
        <p:nvGrpSpPr>
          <p:cNvPr id="3" name="Group 3"/>
          <p:cNvGrpSpPr/>
          <p:nvPr/>
        </p:nvGrpSpPr>
        <p:grpSpPr>
          <a:xfrm>
            <a:off x="1877277" y="3374136"/>
            <a:ext cx="6841187" cy="2836164"/>
            <a:chOff x="0" y="0"/>
            <a:chExt cx="1801794" cy="746973"/>
          </a:xfrm>
        </p:grpSpPr>
        <p:sp>
          <p:nvSpPr>
            <p:cNvPr id="4" name="Freeform 4"/>
            <p:cNvSpPr/>
            <p:nvPr/>
          </p:nvSpPr>
          <p:spPr>
            <a:xfrm>
              <a:off x="0" y="0"/>
              <a:ext cx="1801794" cy="746973"/>
            </a:xfrm>
            <a:custGeom>
              <a:avLst/>
              <a:gdLst/>
              <a:ahLst/>
              <a:cxnLst/>
              <a:rect l="l" t="t" r="r" b="b"/>
              <a:pathLst>
                <a:path w="1801794" h="746973">
                  <a:moveTo>
                    <a:pt x="57715" y="0"/>
                  </a:moveTo>
                  <a:lnTo>
                    <a:pt x="1744079" y="0"/>
                  </a:lnTo>
                  <a:cubicBezTo>
                    <a:pt x="1759386" y="0"/>
                    <a:pt x="1774066" y="6081"/>
                    <a:pt x="1784890" y="16904"/>
                  </a:cubicBezTo>
                  <a:cubicBezTo>
                    <a:pt x="1795713" y="27728"/>
                    <a:pt x="1801794" y="42408"/>
                    <a:pt x="1801794" y="57715"/>
                  </a:cubicBezTo>
                  <a:lnTo>
                    <a:pt x="1801794" y="689259"/>
                  </a:lnTo>
                  <a:cubicBezTo>
                    <a:pt x="1801794" y="704565"/>
                    <a:pt x="1795713" y="719245"/>
                    <a:pt x="1784890" y="730069"/>
                  </a:cubicBezTo>
                  <a:cubicBezTo>
                    <a:pt x="1774066" y="740893"/>
                    <a:pt x="1759386" y="746973"/>
                    <a:pt x="1744079" y="746973"/>
                  </a:cubicBezTo>
                  <a:lnTo>
                    <a:pt x="57715" y="746973"/>
                  </a:lnTo>
                  <a:cubicBezTo>
                    <a:pt x="42408" y="746973"/>
                    <a:pt x="27728" y="740893"/>
                    <a:pt x="16904" y="730069"/>
                  </a:cubicBezTo>
                  <a:cubicBezTo>
                    <a:pt x="6081" y="719245"/>
                    <a:pt x="0" y="704565"/>
                    <a:pt x="0" y="689259"/>
                  </a:cubicBezTo>
                  <a:lnTo>
                    <a:pt x="0" y="57715"/>
                  </a:lnTo>
                  <a:cubicBezTo>
                    <a:pt x="0" y="42408"/>
                    <a:pt x="6081" y="27728"/>
                    <a:pt x="16904" y="16904"/>
                  </a:cubicBezTo>
                  <a:cubicBezTo>
                    <a:pt x="27728" y="6081"/>
                    <a:pt x="42408" y="0"/>
                    <a:pt x="57715" y="0"/>
                  </a:cubicBezTo>
                  <a:close/>
                </a:path>
              </a:pathLst>
            </a:custGeom>
            <a:solidFill>
              <a:srgbClr val="02B676"/>
            </a:solidFill>
          </p:spPr>
        </p:sp>
        <p:sp>
          <p:nvSpPr>
            <p:cNvPr id="5" name="TextBox 5"/>
            <p:cNvSpPr txBox="1"/>
            <p:nvPr/>
          </p:nvSpPr>
          <p:spPr>
            <a:xfrm>
              <a:off x="0" y="-104775"/>
              <a:ext cx="1801794" cy="851748"/>
            </a:xfrm>
            <a:prstGeom prst="rect">
              <a:avLst/>
            </a:prstGeom>
          </p:spPr>
          <p:txBody>
            <a:bodyPr lIns="50800" tIns="50800" rIns="50800" bIns="50800" rtlCol="0" anchor="ctr"/>
            <a:lstStyle/>
            <a:p>
              <a:pPr algn="ctr">
                <a:lnSpc>
                  <a:spcPts val="4200"/>
                </a:lnSpc>
              </a:pPr>
              <a:r>
                <a:rPr lang="en-US" sz="3000" b="1" dirty="0" err="1">
                  <a:solidFill>
                    <a:srgbClr val="FFFFFF"/>
                  </a:solidFill>
                  <a:latin typeface="Telegraf Bold"/>
                  <a:ea typeface="Telegraf Bold"/>
                  <a:cs typeface="Telegraf Bold"/>
                  <a:sym typeface="Telegraf Bold"/>
                </a:rPr>
                <a:t>Objectif</a:t>
              </a:r>
              <a:r>
                <a:rPr lang="en-US" sz="3000" b="1" dirty="0">
                  <a:solidFill>
                    <a:srgbClr val="FFFFFF"/>
                  </a:solidFill>
                  <a:latin typeface="Telegraf Bold"/>
                  <a:ea typeface="Telegraf Bold"/>
                  <a:cs typeface="Telegraf Bold"/>
                  <a:sym typeface="Telegraf Bold"/>
                </a:rPr>
                <a:t> :</a:t>
              </a:r>
            </a:p>
            <a:p>
              <a:pPr algn="ctr">
                <a:lnSpc>
                  <a:spcPts val="4200"/>
                </a:lnSpc>
              </a:pPr>
              <a:r>
                <a:rPr lang="en-US" sz="3000" b="1" dirty="0" err="1">
                  <a:solidFill>
                    <a:srgbClr val="FFFFFF"/>
                  </a:solidFill>
                  <a:latin typeface="Telegraf Bold"/>
                  <a:ea typeface="Telegraf Bold"/>
                  <a:cs typeface="Telegraf Bold"/>
                  <a:sym typeface="Telegraf Bold"/>
                </a:rPr>
                <a:t>si</a:t>
              </a:r>
              <a:r>
                <a:rPr lang="en-US" sz="3000" b="1" dirty="0">
                  <a:solidFill>
                    <a:srgbClr val="FFFFFF"/>
                  </a:solidFill>
                  <a:latin typeface="Telegraf Bold"/>
                  <a:ea typeface="Telegraf Bold"/>
                  <a:cs typeface="Telegraf Bold"/>
                  <a:sym typeface="Telegraf Bold"/>
                </a:rPr>
                <a:t> </a:t>
              </a:r>
              <a:r>
                <a:rPr lang="en-US" sz="3000" b="1" dirty="0" err="1">
                  <a:solidFill>
                    <a:srgbClr val="FFFFFF"/>
                  </a:solidFill>
                  <a:latin typeface="Telegraf Bold"/>
                  <a:ea typeface="Telegraf Bold"/>
                  <a:cs typeface="Telegraf Bold"/>
                  <a:sym typeface="Telegraf Bold"/>
                </a:rPr>
                <a:t>une</a:t>
              </a:r>
              <a:r>
                <a:rPr lang="en-US" sz="3000" b="1" dirty="0">
                  <a:solidFill>
                    <a:srgbClr val="FFFFFF"/>
                  </a:solidFill>
                  <a:latin typeface="Telegraf Bold"/>
                  <a:ea typeface="Telegraf Bold"/>
                  <a:cs typeface="Telegraf Bold"/>
                  <a:sym typeface="Telegraf Bold"/>
                </a:rPr>
                <a:t> </a:t>
              </a:r>
              <a:r>
                <a:rPr lang="en-US" sz="3000" b="1" dirty="0" err="1">
                  <a:solidFill>
                    <a:srgbClr val="FFFFFF"/>
                  </a:solidFill>
                  <a:latin typeface="Telegraf Bold"/>
                  <a:ea typeface="Telegraf Bold"/>
                  <a:cs typeface="Telegraf Bold"/>
                  <a:sym typeface="Telegraf Bold"/>
                </a:rPr>
                <a:t>personne</a:t>
              </a:r>
              <a:r>
                <a:rPr lang="en-US" sz="3000" b="1" dirty="0">
                  <a:solidFill>
                    <a:srgbClr val="FFFFFF"/>
                  </a:solidFill>
                  <a:latin typeface="Telegraf Bold"/>
                  <a:ea typeface="Telegraf Bold"/>
                  <a:cs typeface="Telegraf Bold"/>
                  <a:sym typeface="Telegraf Bold"/>
                </a:rPr>
                <a:t> </a:t>
              </a:r>
              <a:r>
                <a:rPr lang="en-US" sz="3000" b="1" dirty="0" err="1">
                  <a:solidFill>
                    <a:srgbClr val="FFFFFF"/>
                  </a:solidFill>
                  <a:latin typeface="Telegraf Bold"/>
                  <a:ea typeface="Telegraf Bold"/>
                  <a:cs typeface="Telegraf Bold"/>
                  <a:sym typeface="Telegraf Bold"/>
                </a:rPr>
                <a:t>est</a:t>
              </a:r>
              <a:r>
                <a:rPr lang="en-US" sz="3000" b="1" dirty="0">
                  <a:solidFill>
                    <a:srgbClr val="FFFFFF"/>
                  </a:solidFill>
                  <a:latin typeface="Telegraf Bold"/>
                  <a:ea typeface="Telegraf Bold"/>
                  <a:cs typeface="Telegraf Bold"/>
                  <a:sym typeface="Telegraf Bold"/>
                </a:rPr>
                <a:t> </a:t>
              </a:r>
              <a:r>
                <a:rPr lang="en-US" sz="3000" b="1" dirty="0" err="1">
                  <a:solidFill>
                    <a:srgbClr val="FFFFFF"/>
                  </a:solidFill>
                  <a:latin typeface="Telegraf Bold"/>
                  <a:ea typeface="Telegraf Bold"/>
                  <a:cs typeface="Telegraf Bold"/>
                  <a:sym typeface="Telegraf Bold"/>
                </a:rPr>
                <a:t>malade</a:t>
              </a:r>
              <a:r>
                <a:rPr lang="en-US" sz="3000" b="1" dirty="0">
                  <a:solidFill>
                    <a:srgbClr val="FFFFFF"/>
                  </a:solidFill>
                  <a:latin typeface="Telegraf Bold"/>
                  <a:ea typeface="Telegraf Bold"/>
                  <a:cs typeface="Telegraf Bold"/>
                  <a:sym typeface="Telegraf Bold"/>
                </a:rPr>
                <a:t> et à </a:t>
              </a:r>
              <a:r>
                <a:rPr lang="en-US" sz="3000" b="1" dirty="0" err="1">
                  <a:solidFill>
                    <a:srgbClr val="FFFFFF"/>
                  </a:solidFill>
                  <a:latin typeface="Telegraf Bold"/>
                  <a:ea typeface="Telegraf Bold"/>
                  <a:cs typeface="Telegraf Bold"/>
                  <a:sym typeface="Telegraf Bold"/>
                </a:rPr>
                <a:t>quel</a:t>
              </a:r>
              <a:r>
                <a:rPr lang="en-US" sz="3000" b="1" dirty="0">
                  <a:solidFill>
                    <a:srgbClr val="FFFFFF"/>
                  </a:solidFill>
                  <a:latin typeface="Telegraf Bold"/>
                  <a:ea typeface="Telegraf Bold"/>
                  <a:cs typeface="Telegraf Bold"/>
                  <a:sym typeface="Telegraf Bold"/>
                </a:rPr>
                <a:t> </a:t>
              </a:r>
              <a:r>
                <a:rPr lang="en-US" sz="3000" b="1" dirty="0" err="1">
                  <a:solidFill>
                    <a:srgbClr val="FFFFFF"/>
                  </a:solidFill>
                  <a:latin typeface="Telegraf Bold"/>
                  <a:ea typeface="Telegraf Bold"/>
                  <a:cs typeface="Telegraf Bold"/>
                  <a:sym typeface="Telegraf Bold"/>
                </a:rPr>
                <a:t>degré</a:t>
              </a:r>
              <a:r>
                <a:rPr lang="en-US" sz="3000" b="1" dirty="0">
                  <a:solidFill>
                    <a:srgbClr val="FFFFFF"/>
                  </a:solidFill>
                  <a:latin typeface="Telegraf Bold"/>
                  <a:ea typeface="Telegraf Bold"/>
                  <a:cs typeface="Telegraf Bold"/>
                  <a:sym typeface="Telegraf Bold"/>
                </a:rPr>
                <a:t> </a:t>
              </a:r>
              <a:r>
                <a:rPr lang="en-US" sz="3000" b="1" dirty="0" err="1">
                  <a:solidFill>
                    <a:srgbClr val="FFFFFF"/>
                  </a:solidFill>
                  <a:latin typeface="Telegraf Bold"/>
                  <a:ea typeface="Telegraf Bold"/>
                  <a:cs typeface="Telegraf Bold"/>
                  <a:sym typeface="Telegraf Bold"/>
                </a:rPr>
                <a:t>en</a:t>
              </a:r>
              <a:r>
                <a:rPr lang="en-US" sz="3000" b="1" dirty="0">
                  <a:solidFill>
                    <a:srgbClr val="FFFFFF"/>
                  </a:solidFill>
                  <a:latin typeface="Telegraf Bold"/>
                  <a:ea typeface="Telegraf Bold"/>
                  <a:cs typeface="Telegraf Bold"/>
                  <a:sym typeface="Telegraf Bold"/>
                </a:rPr>
                <a:t> se </a:t>
              </a:r>
              <a:r>
                <a:rPr lang="en-US" sz="3000" b="1" dirty="0" err="1">
                  <a:solidFill>
                    <a:srgbClr val="FFFFFF"/>
                  </a:solidFill>
                  <a:latin typeface="Telegraf Bold"/>
                  <a:ea typeface="Telegraf Bold"/>
                  <a:cs typeface="Telegraf Bold"/>
                  <a:sym typeface="Telegraf Bold"/>
                </a:rPr>
                <a:t>basant</a:t>
              </a:r>
              <a:r>
                <a:rPr lang="en-US" sz="3000" b="1" dirty="0">
                  <a:solidFill>
                    <a:srgbClr val="FFFFFF"/>
                  </a:solidFill>
                  <a:latin typeface="Telegraf Bold"/>
                  <a:ea typeface="Telegraf Bold"/>
                  <a:cs typeface="Telegraf Bold"/>
                  <a:sym typeface="Telegraf Bold"/>
                </a:rPr>
                <a:t> sur des </a:t>
              </a:r>
              <a:r>
                <a:rPr lang="en-US" sz="3000" b="1" dirty="0" err="1">
                  <a:solidFill>
                    <a:srgbClr val="FFFFFF"/>
                  </a:solidFill>
                  <a:latin typeface="Telegraf Bold"/>
                  <a:ea typeface="Telegraf Bold"/>
                  <a:cs typeface="Telegraf Bold"/>
                  <a:sym typeface="Telegraf Bold"/>
                </a:rPr>
                <a:t>données</a:t>
              </a:r>
              <a:r>
                <a:rPr lang="en-US" sz="3000" b="1" dirty="0">
                  <a:solidFill>
                    <a:srgbClr val="FFFFFF"/>
                  </a:solidFill>
                  <a:latin typeface="Telegraf Bold"/>
                  <a:ea typeface="Telegraf Bold"/>
                  <a:cs typeface="Telegraf Bold"/>
                  <a:sym typeface="Telegraf Bold"/>
                </a:rPr>
                <a:t> </a:t>
              </a:r>
              <a:r>
                <a:rPr lang="en-US" sz="3000" b="1" dirty="0" err="1">
                  <a:solidFill>
                    <a:srgbClr val="FFFFFF"/>
                  </a:solidFill>
                  <a:latin typeface="Telegraf Bold"/>
                  <a:ea typeface="Telegraf Bold"/>
                  <a:cs typeface="Telegraf Bold"/>
                  <a:sym typeface="Telegraf Bold"/>
                </a:rPr>
                <a:t>médicales</a:t>
              </a:r>
              <a:endParaRPr lang="en-US" sz="3000" b="1" dirty="0">
                <a:solidFill>
                  <a:srgbClr val="FFFFFF"/>
                </a:solidFill>
                <a:latin typeface="Telegraf Bold"/>
                <a:ea typeface="Telegraf Bold"/>
                <a:cs typeface="Telegraf Bold"/>
                <a:sym typeface="Telegraf Bold"/>
              </a:endParaRPr>
            </a:p>
          </p:txBody>
        </p:sp>
      </p:grpSp>
      <p:grpSp>
        <p:nvGrpSpPr>
          <p:cNvPr id="6" name="Group 6"/>
          <p:cNvGrpSpPr/>
          <p:nvPr/>
        </p:nvGrpSpPr>
        <p:grpSpPr>
          <a:xfrm>
            <a:off x="9982200" y="3238500"/>
            <a:ext cx="6418147" cy="2196084"/>
            <a:chOff x="0" y="-39769"/>
            <a:chExt cx="1690376" cy="505774"/>
          </a:xfrm>
        </p:grpSpPr>
        <p:sp>
          <p:nvSpPr>
            <p:cNvPr id="7" name="Freeform 7"/>
            <p:cNvSpPr/>
            <p:nvPr/>
          </p:nvSpPr>
          <p:spPr>
            <a:xfrm>
              <a:off x="0" y="0"/>
              <a:ext cx="1690376" cy="466005"/>
            </a:xfrm>
            <a:custGeom>
              <a:avLst/>
              <a:gdLst/>
              <a:ahLst/>
              <a:cxnLst/>
              <a:rect l="l" t="t" r="r" b="b"/>
              <a:pathLst>
                <a:path w="1690376" h="466005">
                  <a:moveTo>
                    <a:pt x="61519" y="0"/>
                  </a:moveTo>
                  <a:lnTo>
                    <a:pt x="1628857" y="0"/>
                  </a:lnTo>
                  <a:cubicBezTo>
                    <a:pt x="1645173" y="0"/>
                    <a:pt x="1660821" y="6481"/>
                    <a:pt x="1672358" y="18018"/>
                  </a:cubicBezTo>
                  <a:cubicBezTo>
                    <a:pt x="1683895" y="29556"/>
                    <a:pt x="1690376" y="45203"/>
                    <a:pt x="1690376" y="61519"/>
                  </a:cubicBezTo>
                  <a:lnTo>
                    <a:pt x="1690376" y="404486"/>
                  </a:lnTo>
                  <a:cubicBezTo>
                    <a:pt x="1690376" y="420802"/>
                    <a:pt x="1683895" y="436450"/>
                    <a:pt x="1672358" y="447987"/>
                  </a:cubicBezTo>
                  <a:cubicBezTo>
                    <a:pt x="1660821" y="459524"/>
                    <a:pt x="1645173" y="466005"/>
                    <a:pt x="1628857" y="466005"/>
                  </a:cubicBezTo>
                  <a:lnTo>
                    <a:pt x="61519" y="466005"/>
                  </a:lnTo>
                  <a:cubicBezTo>
                    <a:pt x="27543" y="466005"/>
                    <a:pt x="0" y="438462"/>
                    <a:pt x="0" y="404486"/>
                  </a:cubicBezTo>
                  <a:lnTo>
                    <a:pt x="0" y="61519"/>
                  </a:lnTo>
                  <a:cubicBezTo>
                    <a:pt x="0" y="45203"/>
                    <a:pt x="6481" y="29556"/>
                    <a:pt x="18018" y="18018"/>
                  </a:cubicBezTo>
                  <a:cubicBezTo>
                    <a:pt x="29556" y="6481"/>
                    <a:pt x="45203" y="0"/>
                    <a:pt x="61519" y="0"/>
                  </a:cubicBezTo>
                  <a:close/>
                </a:path>
              </a:pathLst>
            </a:custGeom>
            <a:solidFill>
              <a:srgbClr val="FEC801"/>
            </a:solidFill>
          </p:spPr>
        </p:sp>
        <p:sp>
          <p:nvSpPr>
            <p:cNvPr id="8" name="TextBox 8"/>
            <p:cNvSpPr txBox="1"/>
            <p:nvPr/>
          </p:nvSpPr>
          <p:spPr>
            <a:xfrm>
              <a:off x="0" y="-39769"/>
              <a:ext cx="1690376" cy="505774"/>
            </a:xfrm>
            <a:prstGeom prst="rect">
              <a:avLst/>
            </a:prstGeom>
          </p:spPr>
          <p:txBody>
            <a:bodyPr lIns="50800" tIns="50800" rIns="50800" bIns="50800" rtlCol="0" anchor="ctr"/>
            <a:lstStyle/>
            <a:p>
              <a:pPr algn="ctr">
                <a:lnSpc>
                  <a:spcPts val="4200"/>
                </a:lnSpc>
              </a:pPr>
              <a:r>
                <a:rPr lang="en-US" sz="3000" b="1" dirty="0" err="1">
                  <a:solidFill>
                    <a:srgbClr val="FFFFFF"/>
                  </a:solidFill>
                  <a:latin typeface="Telegraf Bold"/>
                  <a:ea typeface="Telegraf Bold"/>
                  <a:cs typeface="Telegraf Bold"/>
                  <a:sym typeface="Telegraf Bold"/>
                </a:rPr>
                <a:t>Approche</a:t>
              </a:r>
              <a:r>
                <a:rPr lang="en-US" sz="3000" b="1" dirty="0">
                  <a:solidFill>
                    <a:srgbClr val="FFFFFF"/>
                  </a:solidFill>
                  <a:latin typeface="Telegraf Bold"/>
                  <a:ea typeface="Telegraf Bold"/>
                  <a:cs typeface="Telegraf Bold"/>
                  <a:sym typeface="Telegraf Bold"/>
                </a:rPr>
                <a:t> :</a:t>
              </a:r>
            </a:p>
            <a:p>
              <a:pPr algn="ctr">
                <a:lnSpc>
                  <a:spcPts val="4200"/>
                </a:lnSpc>
              </a:pPr>
              <a:r>
                <a:rPr lang="en-US" sz="3000" b="1" dirty="0" err="1">
                  <a:solidFill>
                    <a:srgbClr val="FFFFFF"/>
                  </a:solidFill>
                  <a:latin typeface="Telegraf Bold"/>
                  <a:ea typeface="Telegraf Bold"/>
                  <a:cs typeface="Telegraf Bold"/>
                  <a:sym typeface="Telegraf Bold"/>
                </a:rPr>
                <a:t>Utilisation</a:t>
              </a:r>
              <a:r>
                <a:rPr lang="en-US" sz="3000" b="1" dirty="0">
                  <a:solidFill>
                    <a:srgbClr val="FFFFFF"/>
                  </a:solidFill>
                  <a:latin typeface="Telegraf Bold"/>
                  <a:ea typeface="Telegraf Bold"/>
                  <a:cs typeface="Telegraf Bold"/>
                  <a:sym typeface="Telegraf Bold"/>
                </a:rPr>
                <a:t> d'un </a:t>
              </a:r>
              <a:r>
                <a:rPr lang="en-US" sz="3000" b="1" dirty="0" err="1">
                  <a:solidFill>
                    <a:srgbClr val="FFFFFF"/>
                  </a:solidFill>
                  <a:latin typeface="Telegraf Bold"/>
                  <a:ea typeface="Telegraf Bold"/>
                  <a:cs typeface="Telegraf Bold"/>
                  <a:sym typeface="Telegraf Bold"/>
                </a:rPr>
                <a:t>modèle</a:t>
              </a:r>
              <a:r>
                <a:rPr lang="en-US" sz="3000" b="1" dirty="0">
                  <a:solidFill>
                    <a:srgbClr val="FFFFFF"/>
                  </a:solidFill>
                  <a:latin typeface="Telegraf Bold"/>
                  <a:ea typeface="Telegraf Bold"/>
                  <a:cs typeface="Telegraf Bold"/>
                  <a:sym typeface="Telegraf Bold"/>
                </a:rPr>
                <a:t> de machine learning</a:t>
              </a:r>
            </a:p>
          </p:txBody>
        </p:sp>
      </p:grpSp>
      <p:grpSp>
        <p:nvGrpSpPr>
          <p:cNvPr id="9" name="Group 9"/>
          <p:cNvGrpSpPr/>
          <p:nvPr/>
        </p:nvGrpSpPr>
        <p:grpSpPr>
          <a:xfrm>
            <a:off x="1855506" y="6972300"/>
            <a:ext cx="6862958" cy="2566976"/>
            <a:chOff x="-5734" y="39487"/>
            <a:chExt cx="1807528" cy="606489"/>
          </a:xfrm>
        </p:grpSpPr>
        <p:sp>
          <p:nvSpPr>
            <p:cNvPr id="10" name="Freeform 10"/>
            <p:cNvSpPr/>
            <p:nvPr/>
          </p:nvSpPr>
          <p:spPr>
            <a:xfrm>
              <a:off x="-5734" y="39487"/>
              <a:ext cx="1801794" cy="606489"/>
            </a:xfrm>
            <a:custGeom>
              <a:avLst/>
              <a:gdLst/>
              <a:ahLst/>
              <a:cxnLst/>
              <a:rect l="l" t="t" r="r" b="b"/>
              <a:pathLst>
                <a:path w="1801794" h="606489">
                  <a:moveTo>
                    <a:pt x="57715" y="0"/>
                  </a:moveTo>
                  <a:lnTo>
                    <a:pt x="1744079" y="0"/>
                  </a:lnTo>
                  <a:cubicBezTo>
                    <a:pt x="1759386" y="0"/>
                    <a:pt x="1774066" y="6081"/>
                    <a:pt x="1784890" y="16904"/>
                  </a:cubicBezTo>
                  <a:cubicBezTo>
                    <a:pt x="1795713" y="27728"/>
                    <a:pt x="1801794" y="42408"/>
                    <a:pt x="1801794" y="57715"/>
                  </a:cubicBezTo>
                  <a:lnTo>
                    <a:pt x="1801794" y="548775"/>
                  </a:lnTo>
                  <a:cubicBezTo>
                    <a:pt x="1801794" y="564082"/>
                    <a:pt x="1795713" y="578761"/>
                    <a:pt x="1784890" y="589585"/>
                  </a:cubicBezTo>
                  <a:cubicBezTo>
                    <a:pt x="1774066" y="600409"/>
                    <a:pt x="1759386" y="606489"/>
                    <a:pt x="1744079" y="606489"/>
                  </a:cubicBezTo>
                  <a:lnTo>
                    <a:pt x="57715" y="606489"/>
                  </a:lnTo>
                  <a:cubicBezTo>
                    <a:pt x="42408" y="606489"/>
                    <a:pt x="27728" y="600409"/>
                    <a:pt x="16904" y="589585"/>
                  </a:cubicBezTo>
                  <a:cubicBezTo>
                    <a:pt x="6081" y="578761"/>
                    <a:pt x="0" y="564082"/>
                    <a:pt x="0" y="548775"/>
                  </a:cubicBezTo>
                  <a:lnTo>
                    <a:pt x="0" y="57715"/>
                  </a:lnTo>
                  <a:cubicBezTo>
                    <a:pt x="0" y="42408"/>
                    <a:pt x="6081" y="27728"/>
                    <a:pt x="16904" y="16904"/>
                  </a:cubicBezTo>
                  <a:cubicBezTo>
                    <a:pt x="27728" y="6081"/>
                    <a:pt x="42408" y="0"/>
                    <a:pt x="57715" y="0"/>
                  </a:cubicBezTo>
                  <a:close/>
                </a:path>
              </a:pathLst>
            </a:custGeom>
            <a:solidFill>
              <a:srgbClr val="F7562B"/>
            </a:solidFill>
          </p:spPr>
        </p:sp>
        <p:sp>
          <p:nvSpPr>
            <p:cNvPr id="11" name="TextBox 11"/>
            <p:cNvSpPr txBox="1"/>
            <p:nvPr/>
          </p:nvSpPr>
          <p:spPr>
            <a:xfrm>
              <a:off x="0" y="39487"/>
              <a:ext cx="1801794" cy="567002"/>
            </a:xfrm>
            <a:prstGeom prst="rect">
              <a:avLst/>
            </a:prstGeom>
          </p:spPr>
          <p:txBody>
            <a:bodyPr lIns="50800" tIns="50800" rIns="50800" bIns="50800" rtlCol="0" anchor="ctr"/>
            <a:lstStyle/>
            <a:p>
              <a:pPr algn="ctr">
                <a:lnSpc>
                  <a:spcPts val="4200"/>
                </a:lnSpc>
              </a:pPr>
              <a:r>
                <a:rPr lang="en-US" sz="3000" b="1" dirty="0" err="1">
                  <a:solidFill>
                    <a:srgbClr val="FFFFFF"/>
                  </a:solidFill>
                  <a:latin typeface="Telegraf Bold"/>
                  <a:ea typeface="Telegraf Bold"/>
                  <a:cs typeface="Telegraf Bold"/>
                  <a:sym typeface="Telegraf Bold"/>
                </a:rPr>
                <a:t>Algorithme</a:t>
              </a:r>
              <a:r>
                <a:rPr lang="en-US" sz="3000" b="1" dirty="0">
                  <a:solidFill>
                    <a:srgbClr val="FFFFFF"/>
                  </a:solidFill>
                  <a:latin typeface="Telegraf Bold"/>
                  <a:ea typeface="Telegraf Bold"/>
                  <a:cs typeface="Telegraf Bold"/>
                  <a:sym typeface="Telegraf Bold"/>
                </a:rPr>
                <a:t> </a:t>
              </a:r>
              <a:r>
                <a:rPr lang="en-US" sz="3000" b="1" dirty="0" err="1">
                  <a:solidFill>
                    <a:srgbClr val="FFFFFF"/>
                  </a:solidFill>
                  <a:latin typeface="Telegraf Bold"/>
                  <a:ea typeface="Telegraf Bold"/>
                  <a:cs typeface="Telegraf Bold"/>
                  <a:sym typeface="Telegraf Bold"/>
                </a:rPr>
                <a:t>utilisé</a:t>
              </a:r>
              <a:r>
                <a:rPr lang="en-US" sz="3000" b="1" dirty="0">
                  <a:solidFill>
                    <a:srgbClr val="FFFFFF"/>
                  </a:solidFill>
                  <a:latin typeface="Telegraf Bold"/>
                  <a:ea typeface="Telegraf Bold"/>
                  <a:cs typeface="Telegraf Bold"/>
                  <a:sym typeface="Telegraf Bold"/>
                </a:rPr>
                <a:t> :</a:t>
              </a:r>
            </a:p>
            <a:p>
              <a:pPr algn="ctr">
                <a:lnSpc>
                  <a:spcPts val="4200"/>
                </a:lnSpc>
              </a:pPr>
              <a:r>
                <a:rPr lang="en-US" sz="3000" b="1" dirty="0">
                  <a:solidFill>
                    <a:srgbClr val="FFFFFF"/>
                  </a:solidFill>
                  <a:latin typeface="Telegraf Bold"/>
                  <a:ea typeface="Telegraf Bold"/>
                  <a:cs typeface="Telegraf Bold"/>
                  <a:sym typeface="Telegraf Bold"/>
                </a:rPr>
                <a:t> XG-Boost</a:t>
              </a:r>
            </a:p>
            <a:p>
              <a:pPr algn="ctr">
                <a:lnSpc>
                  <a:spcPts val="4200"/>
                </a:lnSpc>
              </a:pPr>
              <a:r>
                <a:rPr lang="en-US" sz="3000" b="1" dirty="0">
                  <a:solidFill>
                    <a:srgbClr val="FFFFFF"/>
                  </a:solidFill>
                  <a:latin typeface="Telegraf Bold"/>
                  <a:ea typeface="Telegraf Bold"/>
                  <a:cs typeface="Telegraf Bold"/>
                  <a:sym typeface="Telegraf Bold"/>
                </a:rPr>
                <a:t> (un </a:t>
              </a:r>
              <a:r>
                <a:rPr lang="en-US" sz="3000" b="1" dirty="0" err="1">
                  <a:solidFill>
                    <a:srgbClr val="FFFFFF"/>
                  </a:solidFill>
                  <a:latin typeface="Telegraf Bold"/>
                  <a:ea typeface="Telegraf Bold"/>
                  <a:cs typeface="Telegraf Bold"/>
                  <a:sym typeface="Telegraf Bold"/>
                </a:rPr>
                <a:t>algorithme</a:t>
              </a:r>
              <a:r>
                <a:rPr lang="en-US" sz="3000" b="1" dirty="0">
                  <a:solidFill>
                    <a:srgbClr val="FFFFFF"/>
                  </a:solidFill>
                  <a:latin typeface="Telegraf Bold"/>
                  <a:ea typeface="Telegraf Bold"/>
                  <a:cs typeface="Telegraf Bold"/>
                  <a:sym typeface="Telegraf Bold"/>
                </a:rPr>
                <a:t> </a:t>
              </a:r>
              <a:r>
                <a:rPr lang="en-US" sz="3000" b="1" dirty="0" err="1">
                  <a:solidFill>
                    <a:srgbClr val="FFFFFF"/>
                  </a:solidFill>
                  <a:latin typeface="Telegraf Bold"/>
                  <a:ea typeface="Telegraf Bold"/>
                  <a:cs typeface="Telegraf Bold"/>
                  <a:sym typeface="Telegraf Bold"/>
                </a:rPr>
                <a:t>efficace</a:t>
              </a:r>
              <a:r>
                <a:rPr lang="en-US" sz="3000" b="1" dirty="0">
                  <a:solidFill>
                    <a:srgbClr val="FFFFFF"/>
                  </a:solidFill>
                  <a:latin typeface="Telegraf Bold"/>
                  <a:ea typeface="Telegraf Bold"/>
                  <a:cs typeface="Telegraf Bold"/>
                  <a:sym typeface="Telegraf Bold"/>
                </a:rPr>
                <a:t> pour la classification multiple)</a:t>
              </a:r>
            </a:p>
          </p:txBody>
        </p:sp>
      </p:grpSp>
      <p:grpSp>
        <p:nvGrpSpPr>
          <p:cNvPr id="12" name="Group 12"/>
          <p:cNvGrpSpPr/>
          <p:nvPr/>
        </p:nvGrpSpPr>
        <p:grpSpPr>
          <a:xfrm>
            <a:off x="17259300" y="9258300"/>
            <a:ext cx="750152" cy="750152"/>
            <a:chOff x="0" y="0"/>
            <a:chExt cx="812800" cy="812800"/>
          </a:xfrm>
        </p:grpSpPr>
        <p:sp>
          <p:nvSpPr>
            <p:cNvPr id="13" name="Freeform 13"/>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7562B"/>
            </a:solidFill>
          </p:spPr>
        </p:sp>
        <p:sp>
          <p:nvSpPr>
            <p:cNvPr id="14" name="TextBox 14"/>
            <p:cNvSpPr txBox="1"/>
            <p:nvPr/>
          </p:nvSpPr>
          <p:spPr>
            <a:xfrm>
              <a:off x="76200" y="85725"/>
              <a:ext cx="660400" cy="650875"/>
            </a:xfrm>
            <a:prstGeom prst="rect">
              <a:avLst/>
            </a:prstGeom>
          </p:spPr>
          <p:txBody>
            <a:bodyPr lIns="50800" tIns="50800" rIns="50800" bIns="50800" rtlCol="0" anchor="ctr"/>
            <a:lstStyle/>
            <a:p>
              <a:pPr algn="ctr">
                <a:lnSpc>
                  <a:spcPts val="2400"/>
                </a:lnSpc>
              </a:pPr>
              <a:r>
                <a:rPr lang="en-US" sz="2400" b="1" spc="117">
                  <a:solidFill>
                    <a:srgbClr val="FFFFFF"/>
                  </a:solidFill>
                  <a:latin typeface="Telegraf Bold"/>
                  <a:ea typeface="Telegraf Bold"/>
                  <a:cs typeface="Telegraf Bold"/>
                  <a:sym typeface="Telegraf Bold"/>
                </a:rPr>
                <a:t>5</a:t>
              </a:r>
            </a:p>
          </p:txBody>
        </p:sp>
      </p:grpSp>
      <p:pic>
        <p:nvPicPr>
          <p:cNvPr id="15" name="Image 14"/>
          <p:cNvPicPr>
            <a:picLocks noChangeAspect="1"/>
          </p:cNvPicPr>
          <p:nvPr/>
        </p:nvPicPr>
        <p:blipFill>
          <a:blip r:embed="rId2"/>
          <a:stretch>
            <a:fillRect/>
          </a:stretch>
        </p:blipFill>
        <p:spPr>
          <a:xfrm>
            <a:off x="9989457" y="5902346"/>
            <a:ext cx="5984289" cy="4012194"/>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EEF4F3"/>
        </a:solidFill>
        <a:effectLst/>
      </p:bgPr>
    </p:bg>
    <p:spTree>
      <p:nvGrpSpPr>
        <p:cNvPr id="1" name=""/>
        <p:cNvGrpSpPr/>
        <p:nvPr/>
      </p:nvGrpSpPr>
      <p:grpSpPr>
        <a:xfrm>
          <a:off x="0" y="0"/>
          <a:ext cx="0" cy="0"/>
          <a:chOff x="0" y="0"/>
          <a:chExt cx="0" cy="0"/>
        </a:xfrm>
      </p:grpSpPr>
      <p:grpSp>
        <p:nvGrpSpPr>
          <p:cNvPr id="2" name="Group 2"/>
          <p:cNvGrpSpPr/>
          <p:nvPr/>
        </p:nvGrpSpPr>
        <p:grpSpPr>
          <a:xfrm>
            <a:off x="625134" y="2555109"/>
            <a:ext cx="16634166" cy="1153567"/>
            <a:chOff x="0" y="0"/>
            <a:chExt cx="4381015" cy="303820"/>
          </a:xfrm>
        </p:grpSpPr>
        <p:sp>
          <p:nvSpPr>
            <p:cNvPr id="3" name="Freeform 3"/>
            <p:cNvSpPr/>
            <p:nvPr/>
          </p:nvSpPr>
          <p:spPr>
            <a:xfrm>
              <a:off x="0" y="0"/>
              <a:ext cx="4381015" cy="303820"/>
            </a:xfrm>
            <a:custGeom>
              <a:avLst/>
              <a:gdLst/>
              <a:ahLst/>
              <a:cxnLst/>
              <a:rect l="l" t="t" r="r" b="b"/>
              <a:pathLst>
                <a:path w="4381015" h="303820">
                  <a:moveTo>
                    <a:pt x="23737" y="0"/>
                  </a:moveTo>
                  <a:lnTo>
                    <a:pt x="4357279" y="0"/>
                  </a:lnTo>
                  <a:cubicBezTo>
                    <a:pt x="4370388" y="0"/>
                    <a:pt x="4381015" y="10627"/>
                    <a:pt x="4381015" y="23737"/>
                  </a:cubicBezTo>
                  <a:lnTo>
                    <a:pt x="4381015" y="280084"/>
                  </a:lnTo>
                  <a:cubicBezTo>
                    <a:pt x="4381015" y="293193"/>
                    <a:pt x="4370388" y="303820"/>
                    <a:pt x="4357279" y="303820"/>
                  </a:cubicBezTo>
                  <a:lnTo>
                    <a:pt x="23737" y="303820"/>
                  </a:lnTo>
                  <a:cubicBezTo>
                    <a:pt x="17441" y="303820"/>
                    <a:pt x="11404" y="301319"/>
                    <a:pt x="6952" y="296868"/>
                  </a:cubicBezTo>
                  <a:cubicBezTo>
                    <a:pt x="2501" y="292416"/>
                    <a:pt x="0" y="286379"/>
                    <a:pt x="0" y="280084"/>
                  </a:cubicBezTo>
                  <a:lnTo>
                    <a:pt x="0" y="23737"/>
                  </a:lnTo>
                  <a:cubicBezTo>
                    <a:pt x="0" y="10627"/>
                    <a:pt x="10627" y="0"/>
                    <a:pt x="23737" y="0"/>
                  </a:cubicBezTo>
                  <a:close/>
                </a:path>
              </a:pathLst>
            </a:custGeom>
            <a:solidFill>
              <a:srgbClr val="02B676"/>
            </a:solidFill>
          </p:spPr>
        </p:sp>
        <p:sp>
          <p:nvSpPr>
            <p:cNvPr id="4" name="TextBox 4"/>
            <p:cNvSpPr txBox="1"/>
            <p:nvPr/>
          </p:nvSpPr>
          <p:spPr>
            <a:xfrm>
              <a:off x="0" y="-95250"/>
              <a:ext cx="4381015" cy="399070"/>
            </a:xfrm>
            <a:prstGeom prst="rect">
              <a:avLst/>
            </a:prstGeom>
          </p:spPr>
          <p:txBody>
            <a:bodyPr lIns="50800" tIns="50800" rIns="50800" bIns="50800" rtlCol="0" anchor="ctr"/>
            <a:lstStyle/>
            <a:p>
              <a:pPr algn="ctr">
                <a:lnSpc>
                  <a:spcPts val="3920"/>
                </a:lnSpc>
              </a:pPr>
              <a:r>
                <a:rPr lang="en-US" sz="2800">
                  <a:solidFill>
                    <a:srgbClr val="FFFFFF"/>
                  </a:solidFill>
                  <a:latin typeface="Telegraf"/>
                  <a:ea typeface="Telegraf"/>
                  <a:cs typeface="Telegraf"/>
                  <a:sym typeface="Telegraf"/>
                </a:rPr>
                <a:t>Nous avons visualisé la distribution de notre variable cible qui montre la répartition des classes </a:t>
              </a:r>
            </a:p>
            <a:p>
              <a:pPr algn="ctr">
                <a:lnSpc>
                  <a:spcPts val="3920"/>
                </a:lnSpc>
              </a:pPr>
              <a:r>
                <a:rPr lang="en-US" sz="2800" b="1">
                  <a:solidFill>
                    <a:srgbClr val="FFFFFF"/>
                  </a:solidFill>
                  <a:latin typeface="Telegraf Bold"/>
                  <a:ea typeface="Telegraf Bold"/>
                  <a:cs typeface="Telegraf Bold"/>
                  <a:sym typeface="Telegraf Bold"/>
                </a:rPr>
                <a:t>(Non malade(0)/ malade(1,2,3,4))</a:t>
              </a:r>
              <a:r>
                <a:rPr lang="en-US" sz="2800">
                  <a:solidFill>
                    <a:srgbClr val="FFFFFF"/>
                  </a:solidFill>
                  <a:latin typeface="Telegraf"/>
                  <a:ea typeface="Telegraf"/>
                  <a:cs typeface="Telegraf"/>
                  <a:sym typeface="Telegraf"/>
                </a:rPr>
                <a:t> pour comprendre la proportion de chaque classe.</a:t>
              </a:r>
            </a:p>
          </p:txBody>
        </p:sp>
      </p:grpSp>
      <p:sp>
        <p:nvSpPr>
          <p:cNvPr id="5" name="Freeform 5"/>
          <p:cNvSpPr/>
          <p:nvPr/>
        </p:nvSpPr>
        <p:spPr>
          <a:xfrm>
            <a:off x="5059777" y="4055960"/>
            <a:ext cx="8168446" cy="5923917"/>
          </a:xfrm>
          <a:custGeom>
            <a:avLst/>
            <a:gdLst/>
            <a:ahLst/>
            <a:cxnLst/>
            <a:rect l="l" t="t" r="r" b="b"/>
            <a:pathLst>
              <a:path w="8168446" h="5923917">
                <a:moveTo>
                  <a:pt x="0" y="0"/>
                </a:moveTo>
                <a:lnTo>
                  <a:pt x="8168446" y="0"/>
                </a:lnTo>
                <a:lnTo>
                  <a:pt x="8168446" y="5923917"/>
                </a:lnTo>
                <a:lnTo>
                  <a:pt x="0" y="5923917"/>
                </a:lnTo>
                <a:lnTo>
                  <a:pt x="0" y="0"/>
                </a:lnTo>
                <a:close/>
              </a:path>
            </a:pathLst>
          </a:custGeom>
          <a:blipFill>
            <a:blip r:embed="rId2"/>
            <a:stretch>
              <a:fillRect/>
            </a:stretch>
          </a:blipFill>
        </p:spPr>
      </p:sp>
      <p:sp>
        <p:nvSpPr>
          <p:cNvPr id="6" name="TextBox 6"/>
          <p:cNvSpPr txBox="1"/>
          <p:nvPr/>
        </p:nvSpPr>
        <p:spPr>
          <a:xfrm>
            <a:off x="1028700" y="596135"/>
            <a:ext cx="16606326" cy="1958975"/>
          </a:xfrm>
          <a:prstGeom prst="rect">
            <a:avLst/>
          </a:prstGeom>
        </p:spPr>
        <p:txBody>
          <a:bodyPr lIns="0" tIns="0" rIns="0" bIns="0" rtlCol="0" anchor="t">
            <a:spAutoFit/>
          </a:bodyPr>
          <a:lstStyle/>
          <a:p>
            <a:pPr algn="ctr">
              <a:lnSpc>
                <a:spcPts val="6999"/>
              </a:lnSpc>
            </a:pPr>
            <a:r>
              <a:rPr lang="en-US" sz="6999" spc="342">
                <a:solidFill>
                  <a:srgbClr val="290606"/>
                </a:solidFill>
                <a:latin typeface="Cheddar"/>
                <a:ea typeface="Cheddar"/>
                <a:cs typeface="Cheddar"/>
                <a:sym typeface="Cheddar"/>
              </a:rPr>
              <a:t>VISUALISATION DE LA DISTRIBUTION DE LA VARIABLE CIBLE</a:t>
            </a:r>
          </a:p>
        </p:txBody>
      </p:sp>
      <p:grpSp>
        <p:nvGrpSpPr>
          <p:cNvPr id="7" name="Group 7"/>
          <p:cNvGrpSpPr/>
          <p:nvPr/>
        </p:nvGrpSpPr>
        <p:grpSpPr>
          <a:xfrm>
            <a:off x="17278350" y="9258300"/>
            <a:ext cx="750152" cy="750152"/>
            <a:chOff x="0" y="0"/>
            <a:chExt cx="812800" cy="812800"/>
          </a:xfrm>
        </p:grpSpPr>
        <p:sp>
          <p:nvSpPr>
            <p:cNvPr id="8" name="Freeform 8"/>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7562B"/>
            </a:solidFill>
          </p:spPr>
        </p:sp>
        <p:sp>
          <p:nvSpPr>
            <p:cNvPr id="9" name="TextBox 9"/>
            <p:cNvSpPr txBox="1"/>
            <p:nvPr/>
          </p:nvSpPr>
          <p:spPr>
            <a:xfrm>
              <a:off x="76200" y="85725"/>
              <a:ext cx="660400" cy="650875"/>
            </a:xfrm>
            <a:prstGeom prst="rect">
              <a:avLst/>
            </a:prstGeom>
          </p:spPr>
          <p:txBody>
            <a:bodyPr lIns="50800" tIns="50800" rIns="50800" bIns="50800" rtlCol="0" anchor="ctr"/>
            <a:lstStyle/>
            <a:p>
              <a:pPr algn="ctr">
                <a:lnSpc>
                  <a:spcPts val="2400"/>
                </a:lnSpc>
              </a:pPr>
              <a:r>
                <a:rPr lang="en-US" sz="2400" spc="117">
                  <a:solidFill>
                    <a:srgbClr val="FFFFFF"/>
                  </a:solidFill>
                  <a:latin typeface="Telegraf"/>
                  <a:ea typeface="Telegraf"/>
                  <a:cs typeface="Telegraf"/>
                  <a:sym typeface="Telegraf"/>
                </a:rPr>
                <a:t>6</a:t>
              </a:r>
            </a:p>
          </p:txBody>
        </p:sp>
      </p:grpSp>
      <p:pic>
        <p:nvPicPr>
          <p:cNvPr id="10" name="Image 9"/>
          <p:cNvPicPr>
            <a:picLocks noChangeAspect="1"/>
          </p:cNvPicPr>
          <p:nvPr/>
        </p:nvPicPr>
        <p:blipFill>
          <a:blip r:embed="rId3"/>
          <a:stretch>
            <a:fillRect/>
          </a:stretch>
        </p:blipFill>
        <p:spPr>
          <a:xfrm>
            <a:off x="643604" y="7432707"/>
            <a:ext cx="2391109" cy="2467319"/>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EEF4F3"/>
        </a:solidFill>
        <a:effectLst/>
      </p:bgPr>
    </p:bg>
    <p:spTree>
      <p:nvGrpSpPr>
        <p:cNvPr id="1" name=""/>
        <p:cNvGrpSpPr/>
        <p:nvPr/>
      </p:nvGrpSpPr>
      <p:grpSpPr>
        <a:xfrm>
          <a:off x="0" y="0"/>
          <a:ext cx="0" cy="0"/>
          <a:chOff x="0" y="0"/>
          <a:chExt cx="0" cy="0"/>
        </a:xfrm>
      </p:grpSpPr>
      <p:grpSp>
        <p:nvGrpSpPr>
          <p:cNvPr id="2" name="Group 2"/>
          <p:cNvGrpSpPr/>
          <p:nvPr/>
        </p:nvGrpSpPr>
        <p:grpSpPr>
          <a:xfrm>
            <a:off x="1904998" y="1669284"/>
            <a:ext cx="14478004" cy="1153567"/>
            <a:chOff x="0" y="0"/>
            <a:chExt cx="3813137" cy="303820"/>
          </a:xfrm>
        </p:grpSpPr>
        <p:sp>
          <p:nvSpPr>
            <p:cNvPr id="3" name="Freeform 3"/>
            <p:cNvSpPr/>
            <p:nvPr/>
          </p:nvSpPr>
          <p:spPr>
            <a:xfrm>
              <a:off x="0" y="0"/>
              <a:ext cx="3813137" cy="303820"/>
            </a:xfrm>
            <a:custGeom>
              <a:avLst/>
              <a:gdLst/>
              <a:ahLst/>
              <a:cxnLst/>
              <a:rect l="l" t="t" r="r" b="b"/>
              <a:pathLst>
                <a:path w="3813137" h="303820">
                  <a:moveTo>
                    <a:pt x="27272" y="0"/>
                  </a:moveTo>
                  <a:lnTo>
                    <a:pt x="3785865" y="0"/>
                  </a:lnTo>
                  <a:cubicBezTo>
                    <a:pt x="3793098" y="0"/>
                    <a:pt x="3800035" y="2873"/>
                    <a:pt x="3805150" y="7988"/>
                  </a:cubicBezTo>
                  <a:cubicBezTo>
                    <a:pt x="3810264" y="13102"/>
                    <a:pt x="3813137" y="20039"/>
                    <a:pt x="3813137" y="27272"/>
                  </a:cubicBezTo>
                  <a:lnTo>
                    <a:pt x="3813137" y="276549"/>
                  </a:lnTo>
                  <a:cubicBezTo>
                    <a:pt x="3813137" y="291610"/>
                    <a:pt x="3800927" y="303820"/>
                    <a:pt x="3785865" y="303820"/>
                  </a:cubicBezTo>
                  <a:lnTo>
                    <a:pt x="27272" y="303820"/>
                  </a:lnTo>
                  <a:cubicBezTo>
                    <a:pt x="12210" y="303820"/>
                    <a:pt x="0" y="291610"/>
                    <a:pt x="0" y="276549"/>
                  </a:cubicBezTo>
                  <a:lnTo>
                    <a:pt x="0" y="27272"/>
                  </a:lnTo>
                  <a:cubicBezTo>
                    <a:pt x="0" y="12210"/>
                    <a:pt x="12210" y="0"/>
                    <a:pt x="27272" y="0"/>
                  </a:cubicBezTo>
                  <a:close/>
                </a:path>
              </a:pathLst>
            </a:custGeom>
            <a:solidFill>
              <a:srgbClr val="02B676"/>
            </a:solidFill>
          </p:spPr>
        </p:sp>
        <p:sp>
          <p:nvSpPr>
            <p:cNvPr id="4" name="TextBox 4"/>
            <p:cNvSpPr txBox="1"/>
            <p:nvPr/>
          </p:nvSpPr>
          <p:spPr>
            <a:xfrm>
              <a:off x="0" y="-95250"/>
              <a:ext cx="3813137" cy="399070"/>
            </a:xfrm>
            <a:prstGeom prst="rect">
              <a:avLst/>
            </a:prstGeom>
          </p:spPr>
          <p:txBody>
            <a:bodyPr lIns="50800" tIns="50800" rIns="50800" bIns="50800" rtlCol="0" anchor="ctr"/>
            <a:lstStyle/>
            <a:p>
              <a:pPr algn="ctr">
                <a:lnSpc>
                  <a:spcPts val="3920"/>
                </a:lnSpc>
              </a:pPr>
              <a:r>
                <a:rPr lang="en-US" sz="2800" b="1">
                  <a:solidFill>
                    <a:srgbClr val="FFFFFF"/>
                  </a:solidFill>
                  <a:latin typeface="Telegraf Bold"/>
                  <a:ea typeface="Telegraf Bold"/>
                  <a:cs typeface="Telegraf Bold"/>
                  <a:sym typeface="Telegraf Bold"/>
                </a:rPr>
                <a:t>Avant de traiter les données, nous avons vérifié la présence de valeurs manquantes.</a:t>
              </a:r>
            </a:p>
          </p:txBody>
        </p:sp>
      </p:grpSp>
      <p:grpSp>
        <p:nvGrpSpPr>
          <p:cNvPr id="5" name="Group 5"/>
          <p:cNvGrpSpPr/>
          <p:nvPr/>
        </p:nvGrpSpPr>
        <p:grpSpPr>
          <a:xfrm>
            <a:off x="17259300" y="9258300"/>
            <a:ext cx="750152" cy="750152"/>
            <a:chOff x="0" y="0"/>
            <a:chExt cx="812800" cy="812800"/>
          </a:xfrm>
        </p:grpSpPr>
        <p:sp>
          <p:nvSpPr>
            <p:cNvPr id="6" name="Freeform 6"/>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7562B"/>
            </a:solidFill>
          </p:spPr>
        </p:sp>
        <p:sp>
          <p:nvSpPr>
            <p:cNvPr id="7" name="TextBox 7"/>
            <p:cNvSpPr txBox="1"/>
            <p:nvPr/>
          </p:nvSpPr>
          <p:spPr>
            <a:xfrm>
              <a:off x="76200" y="85725"/>
              <a:ext cx="660400" cy="650875"/>
            </a:xfrm>
            <a:prstGeom prst="rect">
              <a:avLst/>
            </a:prstGeom>
          </p:spPr>
          <p:txBody>
            <a:bodyPr lIns="50800" tIns="50800" rIns="50800" bIns="50800" rtlCol="0" anchor="ctr"/>
            <a:lstStyle/>
            <a:p>
              <a:pPr algn="ctr">
                <a:lnSpc>
                  <a:spcPts val="2400"/>
                </a:lnSpc>
              </a:pPr>
              <a:r>
                <a:rPr lang="en-US" sz="2400" b="1" spc="117">
                  <a:solidFill>
                    <a:srgbClr val="FFFFFF"/>
                  </a:solidFill>
                  <a:latin typeface="Telegraf Bold"/>
                  <a:ea typeface="Telegraf Bold"/>
                  <a:cs typeface="Telegraf Bold"/>
                  <a:sym typeface="Telegraf Bold"/>
                </a:rPr>
                <a:t>7</a:t>
              </a:r>
            </a:p>
          </p:txBody>
        </p:sp>
      </p:grpSp>
      <p:sp>
        <p:nvSpPr>
          <p:cNvPr id="8" name="Freeform 8"/>
          <p:cNvSpPr/>
          <p:nvPr/>
        </p:nvSpPr>
        <p:spPr>
          <a:xfrm>
            <a:off x="2992097" y="2924516"/>
            <a:ext cx="12341906" cy="7343434"/>
          </a:xfrm>
          <a:custGeom>
            <a:avLst/>
            <a:gdLst/>
            <a:ahLst/>
            <a:cxnLst/>
            <a:rect l="l" t="t" r="r" b="b"/>
            <a:pathLst>
              <a:path w="12341906" h="7343434">
                <a:moveTo>
                  <a:pt x="0" y="0"/>
                </a:moveTo>
                <a:lnTo>
                  <a:pt x="12341906" y="0"/>
                </a:lnTo>
                <a:lnTo>
                  <a:pt x="12341906" y="7343434"/>
                </a:lnTo>
                <a:lnTo>
                  <a:pt x="0" y="7343434"/>
                </a:lnTo>
                <a:lnTo>
                  <a:pt x="0" y="0"/>
                </a:lnTo>
                <a:close/>
              </a:path>
            </a:pathLst>
          </a:custGeom>
          <a:blipFill>
            <a:blip r:embed="rId2"/>
            <a:stretch>
              <a:fillRect/>
            </a:stretch>
          </a:blipFill>
        </p:spPr>
      </p:sp>
      <p:sp>
        <p:nvSpPr>
          <p:cNvPr id="9" name="TextBox 9"/>
          <p:cNvSpPr txBox="1"/>
          <p:nvPr/>
        </p:nvSpPr>
        <p:spPr>
          <a:xfrm>
            <a:off x="1028700" y="596135"/>
            <a:ext cx="16606326" cy="1073150"/>
          </a:xfrm>
          <a:prstGeom prst="rect">
            <a:avLst/>
          </a:prstGeom>
        </p:spPr>
        <p:txBody>
          <a:bodyPr lIns="0" tIns="0" rIns="0" bIns="0" rtlCol="0" anchor="t">
            <a:spAutoFit/>
          </a:bodyPr>
          <a:lstStyle/>
          <a:p>
            <a:pPr algn="ctr">
              <a:lnSpc>
                <a:spcPts val="6999"/>
              </a:lnSpc>
            </a:pPr>
            <a:r>
              <a:rPr lang="en-US" sz="6999" spc="342">
                <a:solidFill>
                  <a:srgbClr val="290606"/>
                </a:solidFill>
                <a:latin typeface="Cheddar"/>
                <a:ea typeface="Cheddar"/>
                <a:cs typeface="Cheddar"/>
                <a:sym typeface="Cheddar"/>
              </a:rPr>
              <a:t>VÉRIFICATION DES VALEURS MANQUANTES</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EEF4F3"/>
        </a:solidFill>
        <a:effectLst/>
      </p:bgPr>
    </p:bg>
    <p:spTree>
      <p:nvGrpSpPr>
        <p:cNvPr id="1" name=""/>
        <p:cNvGrpSpPr/>
        <p:nvPr/>
      </p:nvGrpSpPr>
      <p:grpSpPr>
        <a:xfrm>
          <a:off x="0" y="0"/>
          <a:ext cx="0" cy="0"/>
          <a:chOff x="0" y="0"/>
          <a:chExt cx="0" cy="0"/>
        </a:xfrm>
      </p:grpSpPr>
      <p:grpSp>
        <p:nvGrpSpPr>
          <p:cNvPr id="2" name="Group 2"/>
          <p:cNvGrpSpPr/>
          <p:nvPr/>
        </p:nvGrpSpPr>
        <p:grpSpPr>
          <a:xfrm>
            <a:off x="-388625" y="5221973"/>
            <a:ext cx="19065250" cy="4036327"/>
            <a:chOff x="0" y="0"/>
            <a:chExt cx="5021300" cy="1063065"/>
          </a:xfrm>
        </p:grpSpPr>
        <p:sp>
          <p:nvSpPr>
            <p:cNvPr id="3" name="Freeform 3"/>
            <p:cNvSpPr/>
            <p:nvPr/>
          </p:nvSpPr>
          <p:spPr>
            <a:xfrm>
              <a:off x="0" y="0"/>
              <a:ext cx="5021300" cy="1063065"/>
            </a:xfrm>
            <a:custGeom>
              <a:avLst/>
              <a:gdLst/>
              <a:ahLst/>
              <a:cxnLst/>
              <a:rect l="l" t="t" r="r" b="b"/>
              <a:pathLst>
                <a:path w="5021300" h="1063065">
                  <a:moveTo>
                    <a:pt x="8121" y="0"/>
                  </a:moveTo>
                  <a:lnTo>
                    <a:pt x="5013179" y="0"/>
                  </a:lnTo>
                  <a:cubicBezTo>
                    <a:pt x="5015333" y="0"/>
                    <a:pt x="5017399" y="856"/>
                    <a:pt x="5018922" y="2379"/>
                  </a:cubicBezTo>
                  <a:cubicBezTo>
                    <a:pt x="5020445" y="3902"/>
                    <a:pt x="5021300" y="5968"/>
                    <a:pt x="5021300" y="8121"/>
                  </a:cubicBezTo>
                  <a:lnTo>
                    <a:pt x="5021300" y="1054944"/>
                  </a:lnTo>
                  <a:cubicBezTo>
                    <a:pt x="5021300" y="1057098"/>
                    <a:pt x="5020445" y="1059164"/>
                    <a:pt x="5018922" y="1060687"/>
                  </a:cubicBezTo>
                  <a:cubicBezTo>
                    <a:pt x="5017399" y="1062210"/>
                    <a:pt x="5015333" y="1063065"/>
                    <a:pt x="5013179" y="1063065"/>
                  </a:cubicBezTo>
                  <a:lnTo>
                    <a:pt x="8121" y="1063065"/>
                  </a:lnTo>
                  <a:cubicBezTo>
                    <a:pt x="5968" y="1063065"/>
                    <a:pt x="3902" y="1062210"/>
                    <a:pt x="2379" y="1060687"/>
                  </a:cubicBezTo>
                  <a:cubicBezTo>
                    <a:pt x="856" y="1059164"/>
                    <a:pt x="0" y="1057098"/>
                    <a:pt x="0" y="1054944"/>
                  </a:cubicBezTo>
                  <a:lnTo>
                    <a:pt x="0" y="8121"/>
                  </a:lnTo>
                  <a:cubicBezTo>
                    <a:pt x="0" y="5968"/>
                    <a:pt x="856" y="3902"/>
                    <a:pt x="2379" y="2379"/>
                  </a:cubicBezTo>
                  <a:cubicBezTo>
                    <a:pt x="3902" y="856"/>
                    <a:pt x="5968" y="0"/>
                    <a:pt x="8121" y="0"/>
                  </a:cubicBezTo>
                  <a:close/>
                </a:path>
              </a:pathLst>
            </a:custGeom>
            <a:solidFill>
              <a:srgbClr val="02B676">
                <a:alpha val="14902"/>
              </a:srgbClr>
            </a:solidFill>
          </p:spPr>
        </p:sp>
        <p:sp>
          <p:nvSpPr>
            <p:cNvPr id="4" name="TextBox 4"/>
            <p:cNvSpPr txBox="1"/>
            <p:nvPr/>
          </p:nvSpPr>
          <p:spPr>
            <a:xfrm>
              <a:off x="0" y="-9525"/>
              <a:ext cx="5021300" cy="1072590"/>
            </a:xfrm>
            <a:prstGeom prst="rect">
              <a:avLst/>
            </a:prstGeom>
          </p:spPr>
          <p:txBody>
            <a:bodyPr lIns="50800" tIns="50800" rIns="50800" bIns="50800" rtlCol="0" anchor="ctr"/>
            <a:lstStyle/>
            <a:p>
              <a:pPr algn="ctr">
                <a:lnSpc>
                  <a:spcPts val="2266"/>
                </a:lnSpc>
              </a:pPr>
              <a:endParaRPr/>
            </a:p>
            <a:p>
              <a:pPr algn="ctr">
                <a:lnSpc>
                  <a:spcPts val="2266"/>
                </a:lnSpc>
              </a:pPr>
              <a:endParaRPr/>
            </a:p>
          </p:txBody>
        </p:sp>
      </p:grpSp>
      <p:sp>
        <p:nvSpPr>
          <p:cNvPr id="5" name="TextBox 5"/>
          <p:cNvSpPr txBox="1"/>
          <p:nvPr/>
        </p:nvSpPr>
        <p:spPr>
          <a:xfrm>
            <a:off x="1028700" y="1019175"/>
            <a:ext cx="10858669" cy="1958975"/>
          </a:xfrm>
          <a:prstGeom prst="rect">
            <a:avLst/>
          </a:prstGeom>
        </p:spPr>
        <p:txBody>
          <a:bodyPr lIns="0" tIns="0" rIns="0" bIns="0" rtlCol="0" anchor="t">
            <a:spAutoFit/>
          </a:bodyPr>
          <a:lstStyle/>
          <a:p>
            <a:pPr algn="l">
              <a:lnSpc>
                <a:spcPts val="6999"/>
              </a:lnSpc>
            </a:pPr>
            <a:r>
              <a:rPr lang="en-US" sz="6999" spc="342">
                <a:solidFill>
                  <a:srgbClr val="290606"/>
                </a:solidFill>
                <a:latin typeface="Cheddar"/>
                <a:ea typeface="Cheddar"/>
                <a:cs typeface="Cheddar"/>
                <a:sym typeface="Cheddar"/>
              </a:rPr>
              <a:t>TRAITEMENT DES VALEURS MANQUANTES</a:t>
            </a:r>
          </a:p>
        </p:txBody>
      </p:sp>
      <p:sp>
        <p:nvSpPr>
          <p:cNvPr id="6" name="TextBox 6"/>
          <p:cNvSpPr txBox="1"/>
          <p:nvPr/>
        </p:nvSpPr>
        <p:spPr>
          <a:xfrm>
            <a:off x="6943327" y="5999981"/>
            <a:ext cx="4458749" cy="2337436"/>
          </a:xfrm>
          <a:prstGeom prst="rect">
            <a:avLst/>
          </a:prstGeom>
        </p:spPr>
        <p:txBody>
          <a:bodyPr lIns="0" tIns="0" rIns="0" bIns="0" rtlCol="0" anchor="t">
            <a:spAutoFit/>
          </a:bodyPr>
          <a:lstStyle/>
          <a:p>
            <a:pPr algn="ctr">
              <a:lnSpc>
                <a:spcPts val="4619"/>
              </a:lnSpc>
            </a:pPr>
            <a:r>
              <a:rPr lang="en-US" sz="2999">
                <a:solidFill>
                  <a:srgbClr val="290606"/>
                </a:solidFill>
                <a:latin typeface="Telegraf"/>
                <a:ea typeface="Telegraf"/>
                <a:cs typeface="Telegraf"/>
                <a:sym typeface="Telegraf"/>
              </a:rPr>
              <a:t>Utilisation de la régression linéaire pour les valeurs continues</a:t>
            </a:r>
          </a:p>
          <a:p>
            <a:pPr algn="ctr">
              <a:lnSpc>
                <a:spcPts val="4619"/>
              </a:lnSpc>
            </a:pPr>
            <a:endParaRPr lang="en-US" sz="2999">
              <a:solidFill>
                <a:srgbClr val="290606"/>
              </a:solidFill>
              <a:latin typeface="Telegraf"/>
              <a:ea typeface="Telegraf"/>
              <a:cs typeface="Telegraf"/>
              <a:sym typeface="Telegraf"/>
            </a:endParaRPr>
          </a:p>
        </p:txBody>
      </p:sp>
      <p:sp>
        <p:nvSpPr>
          <p:cNvPr id="7" name="TextBox 7"/>
          <p:cNvSpPr txBox="1"/>
          <p:nvPr/>
        </p:nvSpPr>
        <p:spPr>
          <a:xfrm>
            <a:off x="12866671" y="5999981"/>
            <a:ext cx="4458749" cy="2337436"/>
          </a:xfrm>
          <a:prstGeom prst="rect">
            <a:avLst/>
          </a:prstGeom>
        </p:spPr>
        <p:txBody>
          <a:bodyPr lIns="0" tIns="0" rIns="0" bIns="0" rtlCol="0" anchor="t">
            <a:spAutoFit/>
          </a:bodyPr>
          <a:lstStyle/>
          <a:p>
            <a:pPr algn="ctr">
              <a:lnSpc>
                <a:spcPts val="4619"/>
              </a:lnSpc>
            </a:pPr>
            <a:r>
              <a:rPr lang="en-US" sz="2999">
                <a:solidFill>
                  <a:srgbClr val="290606"/>
                </a:solidFill>
                <a:latin typeface="Telegraf"/>
                <a:ea typeface="Telegraf"/>
                <a:cs typeface="Telegraf"/>
                <a:sym typeface="Telegraf"/>
              </a:rPr>
              <a:t>Utilisation de la classification pour les valeurs catégorielles</a:t>
            </a:r>
          </a:p>
          <a:p>
            <a:pPr algn="l">
              <a:lnSpc>
                <a:spcPts val="4619"/>
              </a:lnSpc>
            </a:pPr>
            <a:endParaRPr lang="en-US" sz="2999">
              <a:solidFill>
                <a:srgbClr val="290606"/>
              </a:solidFill>
              <a:latin typeface="Telegraf"/>
              <a:ea typeface="Telegraf"/>
              <a:cs typeface="Telegraf"/>
              <a:sym typeface="Telegraf"/>
            </a:endParaRPr>
          </a:p>
        </p:txBody>
      </p:sp>
      <p:grpSp>
        <p:nvGrpSpPr>
          <p:cNvPr id="8" name="Group 8"/>
          <p:cNvGrpSpPr/>
          <p:nvPr/>
        </p:nvGrpSpPr>
        <p:grpSpPr>
          <a:xfrm>
            <a:off x="1028700" y="4876355"/>
            <a:ext cx="4935327" cy="3619797"/>
            <a:chOff x="0" y="0"/>
            <a:chExt cx="1131953" cy="953362"/>
          </a:xfrm>
        </p:grpSpPr>
        <p:sp>
          <p:nvSpPr>
            <p:cNvPr id="9" name="Freeform 9"/>
            <p:cNvSpPr/>
            <p:nvPr/>
          </p:nvSpPr>
          <p:spPr>
            <a:xfrm>
              <a:off x="0" y="0"/>
              <a:ext cx="1131953" cy="953362"/>
            </a:xfrm>
            <a:custGeom>
              <a:avLst/>
              <a:gdLst/>
              <a:ahLst/>
              <a:cxnLst/>
              <a:rect l="l" t="t" r="r" b="b"/>
              <a:pathLst>
                <a:path w="1131953" h="953362">
                  <a:moveTo>
                    <a:pt x="91868" y="0"/>
                  </a:moveTo>
                  <a:lnTo>
                    <a:pt x="1040085" y="0"/>
                  </a:lnTo>
                  <a:cubicBezTo>
                    <a:pt x="1090822" y="0"/>
                    <a:pt x="1131953" y="41131"/>
                    <a:pt x="1131953" y="91868"/>
                  </a:cubicBezTo>
                  <a:lnTo>
                    <a:pt x="1131953" y="861494"/>
                  </a:lnTo>
                  <a:cubicBezTo>
                    <a:pt x="1131953" y="912231"/>
                    <a:pt x="1090822" y="953362"/>
                    <a:pt x="1040085" y="953362"/>
                  </a:cubicBezTo>
                  <a:lnTo>
                    <a:pt x="91868" y="953362"/>
                  </a:lnTo>
                  <a:cubicBezTo>
                    <a:pt x="41131" y="953362"/>
                    <a:pt x="0" y="912231"/>
                    <a:pt x="0" y="861494"/>
                  </a:cubicBezTo>
                  <a:lnTo>
                    <a:pt x="0" y="91868"/>
                  </a:lnTo>
                  <a:cubicBezTo>
                    <a:pt x="0" y="41131"/>
                    <a:pt x="41131" y="0"/>
                    <a:pt x="91868" y="0"/>
                  </a:cubicBezTo>
                  <a:close/>
                </a:path>
              </a:pathLst>
            </a:custGeom>
            <a:solidFill>
              <a:srgbClr val="CFB0E2"/>
            </a:solidFill>
          </p:spPr>
        </p:sp>
        <p:sp>
          <p:nvSpPr>
            <p:cNvPr id="10" name="TextBox 10"/>
            <p:cNvSpPr txBox="1"/>
            <p:nvPr/>
          </p:nvSpPr>
          <p:spPr>
            <a:xfrm>
              <a:off x="0" y="-85725"/>
              <a:ext cx="1131953" cy="1039087"/>
            </a:xfrm>
            <a:prstGeom prst="rect">
              <a:avLst/>
            </a:prstGeom>
          </p:spPr>
          <p:txBody>
            <a:bodyPr lIns="50800" tIns="50800" rIns="50800" bIns="50800" rtlCol="0" anchor="ctr"/>
            <a:lstStyle/>
            <a:p>
              <a:pPr algn="ctr">
                <a:lnSpc>
                  <a:spcPts val="4060"/>
                </a:lnSpc>
              </a:pPr>
              <a:r>
                <a:rPr lang="en-US" sz="2900" b="1">
                  <a:solidFill>
                    <a:srgbClr val="FFFFFF"/>
                  </a:solidFill>
                  <a:latin typeface="Telegraf Bold"/>
                  <a:ea typeface="Telegraf Bold"/>
                  <a:cs typeface="Telegraf Bold"/>
                  <a:sym typeface="Telegraf Bold"/>
                </a:rPr>
                <a:t>Nous avons comblé les valeurs manquantes en utilisant des modèles de régression et de classification</a:t>
              </a:r>
            </a:p>
          </p:txBody>
        </p:sp>
      </p:grpSp>
      <p:grpSp>
        <p:nvGrpSpPr>
          <p:cNvPr id="11" name="Group 11"/>
          <p:cNvGrpSpPr/>
          <p:nvPr/>
        </p:nvGrpSpPr>
        <p:grpSpPr>
          <a:xfrm>
            <a:off x="6458035" y="4490119"/>
            <a:ext cx="5429335" cy="1039617"/>
            <a:chOff x="0" y="0"/>
            <a:chExt cx="3377021" cy="646637"/>
          </a:xfrm>
        </p:grpSpPr>
        <p:sp>
          <p:nvSpPr>
            <p:cNvPr id="12" name="Freeform 12"/>
            <p:cNvSpPr/>
            <p:nvPr/>
          </p:nvSpPr>
          <p:spPr>
            <a:xfrm>
              <a:off x="0" y="0"/>
              <a:ext cx="3377021" cy="646637"/>
            </a:xfrm>
            <a:custGeom>
              <a:avLst/>
              <a:gdLst/>
              <a:ahLst/>
              <a:cxnLst/>
              <a:rect l="l" t="t" r="r" b="b"/>
              <a:pathLst>
                <a:path w="3377021" h="646637">
                  <a:moveTo>
                    <a:pt x="27093" y="0"/>
                  </a:moveTo>
                  <a:lnTo>
                    <a:pt x="3349928" y="0"/>
                  </a:lnTo>
                  <a:cubicBezTo>
                    <a:pt x="3357114" y="0"/>
                    <a:pt x="3364005" y="2854"/>
                    <a:pt x="3369086" y="7935"/>
                  </a:cubicBezTo>
                  <a:cubicBezTo>
                    <a:pt x="3374167" y="13016"/>
                    <a:pt x="3377021" y="19907"/>
                    <a:pt x="3377021" y="27093"/>
                  </a:cubicBezTo>
                  <a:lnTo>
                    <a:pt x="3377021" y="619544"/>
                  </a:lnTo>
                  <a:cubicBezTo>
                    <a:pt x="3377021" y="626729"/>
                    <a:pt x="3374167" y="633621"/>
                    <a:pt x="3369086" y="638702"/>
                  </a:cubicBezTo>
                  <a:cubicBezTo>
                    <a:pt x="3364005" y="643782"/>
                    <a:pt x="3357114" y="646637"/>
                    <a:pt x="3349928" y="646637"/>
                  </a:cubicBezTo>
                  <a:lnTo>
                    <a:pt x="27093" y="646637"/>
                  </a:lnTo>
                  <a:cubicBezTo>
                    <a:pt x="19907" y="646637"/>
                    <a:pt x="13016" y="643782"/>
                    <a:pt x="7935" y="638702"/>
                  </a:cubicBezTo>
                  <a:cubicBezTo>
                    <a:pt x="2854" y="633621"/>
                    <a:pt x="0" y="626729"/>
                    <a:pt x="0" y="619544"/>
                  </a:cubicBezTo>
                  <a:lnTo>
                    <a:pt x="0" y="27093"/>
                  </a:lnTo>
                  <a:cubicBezTo>
                    <a:pt x="0" y="19907"/>
                    <a:pt x="2854" y="13016"/>
                    <a:pt x="7935" y="7935"/>
                  </a:cubicBezTo>
                  <a:cubicBezTo>
                    <a:pt x="13016" y="2854"/>
                    <a:pt x="19907" y="0"/>
                    <a:pt x="27093" y="0"/>
                  </a:cubicBezTo>
                  <a:close/>
                </a:path>
              </a:pathLst>
            </a:custGeom>
            <a:solidFill>
              <a:srgbClr val="02B676"/>
            </a:solidFill>
          </p:spPr>
        </p:sp>
        <p:sp>
          <p:nvSpPr>
            <p:cNvPr id="13" name="TextBox 13"/>
            <p:cNvSpPr txBox="1"/>
            <p:nvPr/>
          </p:nvSpPr>
          <p:spPr>
            <a:xfrm>
              <a:off x="0" y="57150"/>
              <a:ext cx="3377021" cy="589487"/>
            </a:xfrm>
            <a:prstGeom prst="rect">
              <a:avLst/>
            </a:prstGeom>
          </p:spPr>
          <p:txBody>
            <a:bodyPr lIns="50800" tIns="50800" rIns="50800" bIns="50800" rtlCol="0" anchor="ctr"/>
            <a:lstStyle/>
            <a:p>
              <a:pPr algn="ctr">
                <a:lnSpc>
                  <a:spcPts val="4120"/>
                </a:lnSpc>
              </a:pPr>
              <a:r>
                <a:rPr lang="en-US" sz="4000" spc="284">
                  <a:solidFill>
                    <a:srgbClr val="FDF8F8"/>
                  </a:solidFill>
                  <a:latin typeface="TT Berlinerins"/>
                  <a:ea typeface="TT Berlinerins"/>
                  <a:cs typeface="TT Berlinerins"/>
                  <a:sym typeface="TT Berlinerins"/>
                </a:rPr>
                <a:t>régression linéaire</a:t>
              </a:r>
            </a:p>
          </p:txBody>
        </p:sp>
      </p:grpSp>
      <p:grpSp>
        <p:nvGrpSpPr>
          <p:cNvPr id="14" name="Group 14"/>
          <p:cNvGrpSpPr/>
          <p:nvPr/>
        </p:nvGrpSpPr>
        <p:grpSpPr>
          <a:xfrm>
            <a:off x="12381378" y="4490119"/>
            <a:ext cx="5429335" cy="1039617"/>
            <a:chOff x="0" y="0"/>
            <a:chExt cx="3377021" cy="646637"/>
          </a:xfrm>
        </p:grpSpPr>
        <p:sp>
          <p:nvSpPr>
            <p:cNvPr id="15" name="Freeform 15"/>
            <p:cNvSpPr/>
            <p:nvPr/>
          </p:nvSpPr>
          <p:spPr>
            <a:xfrm>
              <a:off x="0" y="0"/>
              <a:ext cx="3377021" cy="646637"/>
            </a:xfrm>
            <a:custGeom>
              <a:avLst/>
              <a:gdLst/>
              <a:ahLst/>
              <a:cxnLst/>
              <a:rect l="l" t="t" r="r" b="b"/>
              <a:pathLst>
                <a:path w="3377021" h="646637">
                  <a:moveTo>
                    <a:pt x="27093" y="0"/>
                  </a:moveTo>
                  <a:lnTo>
                    <a:pt x="3349928" y="0"/>
                  </a:lnTo>
                  <a:cubicBezTo>
                    <a:pt x="3357114" y="0"/>
                    <a:pt x="3364005" y="2854"/>
                    <a:pt x="3369086" y="7935"/>
                  </a:cubicBezTo>
                  <a:cubicBezTo>
                    <a:pt x="3374167" y="13016"/>
                    <a:pt x="3377021" y="19907"/>
                    <a:pt x="3377021" y="27093"/>
                  </a:cubicBezTo>
                  <a:lnTo>
                    <a:pt x="3377021" y="619544"/>
                  </a:lnTo>
                  <a:cubicBezTo>
                    <a:pt x="3377021" y="626729"/>
                    <a:pt x="3374167" y="633621"/>
                    <a:pt x="3369086" y="638702"/>
                  </a:cubicBezTo>
                  <a:cubicBezTo>
                    <a:pt x="3364005" y="643782"/>
                    <a:pt x="3357114" y="646637"/>
                    <a:pt x="3349928" y="646637"/>
                  </a:cubicBezTo>
                  <a:lnTo>
                    <a:pt x="27093" y="646637"/>
                  </a:lnTo>
                  <a:cubicBezTo>
                    <a:pt x="19907" y="646637"/>
                    <a:pt x="13016" y="643782"/>
                    <a:pt x="7935" y="638702"/>
                  </a:cubicBezTo>
                  <a:cubicBezTo>
                    <a:pt x="2854" y="633621"/>
                    <a:pt x="0" y="626729"/>
                    <a:pt x="0" y="619544"/>
                  </a:cubicBezTo>
                  <a:lnTo>
                    <a:pt x="0" y="27093"/>
                  </a:lnTo>
                  <a:cubicBezTo>
                    <a:pt x="0" y="19907"/>
                    <a:pt x="2854" y="13016"/>
                    <a:pt x="7935" y="7935"/>
                  </a:cubicBezTo>
                  <a:cubicBezTo>
                    <a:pt x="13016" y="2854"/>
                    <a:pt x="19907" y="0"/>
                    <a:pt x="27093" y="0"/>
                  </a:cubicBezTo>
                  <a:close/>
                </a:path>
              </a:pathLst>
            </a:custGeom>
            <a:solidFill>
              <a:srgbClr val="02B676"/>
            </a:solidFill>
          </p:spPr>
        </p:sp>
        <p:sp>
          <p:nvSpPr>
            <p:cNvPr id="16" name="TextBox 16"/>
            <p:cNvSpPr txBox="1"/>
            <p:nvPr/>
          </p:nvSpPr>
          <p:spPr>
            <a:xfrm>
              <a:off x="0" y="57150"/>
              <a:ext cx="3377021" cy="589487"/>
            </a:xfrm>
            <a:prstGeom prst="rect">
              <a:avLst/>
            </a:prstGeom>
          </p:spPr>
          <p:txBody>
            <a:bodyPr lIns="50800" tIns="50800" rIns="50800" bIns="50800" rtlCol="0" anchor="ctr"/>
            <a:lstStyle/>
            <a:p>
              <a:pPr algn="ctr">
                <a:lnSpc>
                  <a:spcPts val="4120"/>
                </a:lnSpc>
              </a:pPr>
              <a:r>
                <a:rPr lang="en-US" sz="4000" spc="284">
                  <a:solidFill>
                    <a:srgbClr val="FDF8F8"/>
                  </a:solidFill>
                  <a:latin typeface="TT Berlinerins"/>
                  <a:ea typeface="TT Berlinerins"/>
                  <a:cs typeface="TT Berlinerins"/>
                  <a:sym typeface="TT Berlinerins"/>
                </a:rPr>
                <a:t>classification</a:t>
              </a:r>
            </a:p>
          </p:txBody>
        </p:sp>
      </p:grpSp>
      <p:grpSp>
        <p:nvGrpSpPr>
          <p:cNvPr id="17" name="Group 17"/>
          <p:cNvGrpSpPr/>
          <p:nvPr/>
        </p:nvGrpSpPr>
        <p:grpSpPr>
          <a:xfrm>
            <a:off x="17259300" y="9258300"/>
            <a:ext cx="750152" cy="750152"/>
            <a:chOff x="0" y="0"/>
            <a:chExt cx="812800" cy="812800"/>
          </a:xfrm>
        </p:grpSpPr>
        <p:sp>
          <p:nvSpPr>
            <p:cNvPr id="18" name="Freeform 18"/>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7562B"/>
            </a:solidFill>
          </p:spPr>
        </p:sp>
        <p:sp>
          <p:nvSpPr>
            <p:cNvPr id="19" name="TextBox 19"/>
            <p:cNvSpPr txBox="1"/>
            <p:nvPr/>
          </p:nvSpPr>
          <p:spPr>
            <a:xfrm>
              <a:off x="76200" y="85725"/>
              <a:ext cx="660400" cy="650875"/>
            </a:xfrm>
            <a:prstGeom prst="rect">
              <a:avLst/>
            </a:prstGeom>
          </p:spPr>
          <p:txBody>
            <a:bodyPr lIns="50800" tIns="50800" rIns="50800" bIns="50800" rtlCol="0" anchor="ctr"/>
            <a:lstStyle/>
            <a:p>
              <a:pPr algn="ctr">
                <a:lnSpc>
                  <a:spcPts val="2400"/>
                </a:lnSpc>
              </a:pPr>
              <a:r>
                <a:rPr lang="en-US" sz="2400" b="1" spc="117">
                  <a:solidFill>
                    <a:srgbClr val="FFFFFF"/>
                  </a:solidFill>
                  <a:latin typeface="Telegraf Bold"/>
                  <a:ea typeface="Telegraf Bold"/>
                  <a:cs typeface="Telegraf Bold"/>
                  <a:sym typeface="Telegraf Bold"/>
                </a:rPr>
                <a:t>8</a:t>
              </a:r>
            </a:p>
          </p:txBody>
        </p:sp>
      </p:gr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EEF4F3"/>
        </a:solidFill>
        <a:effectLst/>
      </p:bgPr>
    </p:bg>
    <p:spTree>
      <p:nvGrpSpPr>
        <p:cNvPr id="1" name=""/>
        <p:cNvGrpSpPr/>
        <p:nvPr/>
      </p:nvGrpSpPr>
      <p:grpSpPr>
        <a:xfrm>
          <a:off x="0" y="0"/>
          <a:ext cx="0" cy="0"/>
          <a:chOff x="0" y="0"/>
          <a:chExt cx="0" cy="0"/>
        </a:xfrm>
      </p:grpSpPr>
      <p:grpSp>
        <p:nvGrpSpPr>
          <p:cNvPr id="2" name="Group 2"/>
          <p:cNvGrpSpPr/>
          <p:nvPr/>
        </p:nvGrpSpPr>
        <p:grpSpPr>
          <a:xfrm>
            <a:off x="1904998" y="1669284"/>
            <a:ext cx="14478004" cy="1153567"/>
            <a:chOff x="0" y="0"/>
            <a:chExt cx="3813137" cy="303820"/>
          </a:xfrm>
        </p:grpSpPr>
        <p:sp>
          <p:nvSpPr>
            <p:cNvPr id="3" name="Freeform 3"/>
            <p:cNvSpPr/>
            <p:nvPr/>
          </p:nvSpPr>
          <p:spPr>
            <a:xfrm>
              <a:off x="0" y="0"/>
              <a:ext cx="3813137" cy="303820"/>
            </a:xfrm>
            <a:custGeom>
              <a:avLst/>
              <a:gdLst/>
              <a:ahLst/>
              <a:cxnLst/>
              <a:rect l="l" t="t" r="r" b="b"/>
              <a:pathLst>
                <a:path w="3813137" h="303820">
                  <a:moveTo>
                    <a:pt x="27272" y="0"/>
                  </a:moveTo>
                  <a:lnTo>
                    <a:pt x="3785865" y="0"/>
                  </a:lnTo>
                  <a:cubicBezTo>
                    <a:pt x="3793098" y="0"/>
                    <a:pt x="3800035" y="2873"/>
                    <a:pt x="3805150" y="7988"/>
                  </a:cubicBezTo>
                  <a:cubicBezTo>
                    <a:pt x="3810264" y="13102"/>
                    <a:pt x="3813137" y="20039"/>
                    <a:pt x="3813137" y="27272"/>
                  </a:cubicBezTo>
                  <a:lnTo>
                    <a:pt x="3813137" y="276549"/>
                  </a:lnTo>
                  <a:cubicBezTo>
                    <a:pt x="3813137" y="291610"/>
                    <a:pt x="3800927" y="303820"/>
                    <a:pt x="3785865" y="303820"/>
                  </a:cubicBezTo>
                  <a:lnTo>
                    <a:pt x="27272" y="303820"/>
                  </a:lnTo>
                  <a:cubicBezTo>
                    <a:pt x="12210" y="303820"/>
                    <a:pt x="0" y="291610"/>
                    <a:pt x="0" y="276549"/>
                  </a:cubicBezTo>
                  <a:lnTo>
                    <a:pt x="0" y="27272"/>
                  </a:lnTo>
                  <a:cubicBezTo>
                    <a:pt x="0" y="12210"/>
                    <a:pt x="12210" y="0"/>
                    <a:pt x="27272" y="0"/>
                  </a:cubicBezTo>
                  <a:close/>
                </a:path>
              </a:pathLst>
            </a:custGeom>
            <a:solidFill>
              <a:srgbClr val="02B676"/>
            </a:solidFill>
          </p:spPr>
        </p:sp>
        <p:sp>
          <p:nvSpPr>
            <p:cNvPr id="4" name="TextBox 4"/>
            <p:cNvSpPr txBox="1"/>
            <p:nvPr/>
          </p:nvSpPr>
          <p:spPr>
            <a:xfrm>
              <a:off x="0" y="-95250"/>
              <a:ext cx="3813137" cy="399070"/>
            </a:xfrm>
            <a:prstGeom prst="rect">
              <a:avLst/>
            </a:prstGeom>
          </p:spPr>
          <p:txBody>
            <a:bodyPr lIns="50800" tIns="50800" rIns="50800" bIns="50800" rtlCol="0" anchor="ctr"/>
            <a:lstStyle/>
            <a:p>
              <a:pPr algn="ctr">
                <a:lnSpc>
                  <a:spcPts val="3920"/>
                </a:lnSpc>
              </a:pPr>
              <a:r>
                <a:rPr lang="en-US" sz="2800" b="1">
                  <a:solidFill>
                    <a:srgbClr val="FFFFFF"/>
                  </a:solidFill>
                  <a:latin typeface="Telegraf Bold"/>
                  <a:ea typeface="Telegraf Bold"/>
                  <a:cs typeface="Telegraf Bold"/>
                  <a:sym typeface="Telegraf Bold"/>
                </a:rPr>
                <a:t>Nous avons comblé les valeurs manquantes en utilisant des modèles de régression et de classification.</a:t>
              </a:r>
            </a:p>
          </p:txBody>
        </p:sp>
      </p:grpSp>
      <p:grpSp>
        <p:nvGrpSpPr>
          <p:cNvPr id="5" name="Group 5"/>
          <p:cNvGrpSpPr/>
          <p:nvPr/>
        </p:nvGrpSpPr>
        <p:grpSpPr>
          <a:xfrm>
            <a:off x="17259300" y="9258300"/>
            <a:ext cx="750152" cy="750152"/>
            <a:chOff x="0" y="0"/>
            <a:chExt cx="812800" cy="812800"/>
          </a:xfrm>
        </p:grpSpPr>
        <p:sp>
          <p:nvSpPr>
            <p:cNvPr id="6" name="Freeform 6"/>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7562B"/>
            </a:solidFill>
          </p:spPr>
        </p:sp>
        <p:sp>
          <p:nvSpPr>
            <p:cNvPr id="7" name="TextBox 7"/>
            <p:cNvSpPr txBox="1"/>
            <p:nvPr/>
          </p:nvSpPr>
          <p:spPr>
            <a:xfrm>
              <a:off x="76200" y="85725"/>
              <a:ext cx="660400" cy="650875"/>
            </a:xfrm>
            <a:prstGeom prst="rect">
              <a:avLst/>
            </a:prstGeom>
          </p:spPr>
          <p:txBody>
            <a:bodyPr lIns="50800" tIns="50800" rIns="50800" bIns="50800" rtlCol="0" anchor="ctr"/>
            <a:lstStyle/>
            <a:p>
              <a:pPr algn="ctr">
                <a:lnSpc>
                  <a:spcPts val="2400"/>
                </a:lnSpc>
              </a:pPr>
              <a:r>
                <a:rPr lang="en-US" sz="2400" b="1" spc="117">
                  <a:solidFill>
                    <a:srgbClr val="FFFFFF"/>
                  </a:solidFill>
                  <a:latin typeface="Telegraf Bold"/>
                  <a:ea typeface="Telegraf Bold"/>
                  <a:cs typeface="Telegraf Bold"/>
                  <a:sym typeface="Telegraf Bold"/>
                </a:rPr>
                <a:t>9</a:t>
              </a:r>
            </a:p>
          </p:txBody>
        </p:sp>
      </p:grpSp>
      <p:sp>
        <p:nvSpPr>
          <p:cNvPr id="8" name="Freeform 8"/>
          <p:cNvSpPr/>
          <p:nvPr/>
        </p:nvSpPr>
        <p:spPr>
          <a:xfrm>
            <a:off x="3153633" y="2927697"/>
            <a:ext cx="12356460" cy="7321203"/>
          </a:xfrm>
          <a:custGeom>
            <a:avLst/>
            <a:gdLst/>
            <a:ahLst/>
            <a:cxnLst/>
            <a:rect l="l" t="t" r="r" b="b"/>
            <a:pathLst>
              <a:path w="12356460" h="7321203">
                <a:moveTo>
                  <a:pt x="0" y="0"/>
                </a:moveTo>
                <a:lnTo>
                  <a:pt x="12356460" y="0"/>
                </a:lnTo>
                <a:lnTo>
                  <a:pt x="12356460" y="7321203"/>
                </a:lnTo>
                <a:lnTo>
                  <a:pt x="0" y="7321203"/>
                </a:lnTo>
                <a:lnTo>
                  <a:pt x="0" y="0"/>
                </a:lnTo>
                <a:close/>
              </a:path>
            </a:pathLst>
          </a:custGeom>
          <a:blipFill>
            <a:blip r:embed="rId2"/>
            <a:stretch>
              <a:fillRect/>
            </a:stretch>
          </a:blipFill>
        </p:spPr>
      </p:sp>
      <p:sp>
        <p:nvSpPr>
          <p:cNvPr id="9" name="TextBox 9"/>
          <p:cNvSpPr txBox="1"/>
          <p:nvPr/>
        </p:nvSpPr>
        <p:spPr>
          <a:xfrm>
            <a:off x="1028700" y="596135"/>
            <a:ext cx="16606326" cy="1073150"/>
          </a:xfrm>
          <a:prstGeom prst="rect">
            <a:avLst/>
          </a:prstGeom>
        </p:spPr>
        <p:txBody>
          <a:bodyPr lIns="0" tIns="0" rIns="0" bIns="0" rtlCol="0" anchor="t">
            <a:spAutoFit/>
          </a:bodyPr>
          <a:lstStyle/>
          <a:p>
            <a:pPr algn="ctr">
              <a:lnSpc>
                <a:spcPts val="6999"/>
              </a:lnSpc>
            </a:pPr>
            <a:r>
              <a:rPr lang="en-US" sz="6999" spc="342">
                <a:solidFill>
                  <a:srgbClr val="290606"/>
                </a:solidFill>
                <a:latin typeface="Cheddar"/>
                <a:ea typeface="Cheddar"/>
                <a:cs typeface="Cheddar"/>
                <a:sym typeface="Cheddar"/>
              </a:rPr>
              <a:t>VÉRIFICATION APRÈS LE REMPLISSAGE</a:t>
            </a:r>
          </a:p>
        </p:txBody>
      </p:sp>
      <p:pic>
        <p:nvPicPr>
          <p:cNvPr id="11" name="Image 10"/>
          <p:cNvPicPr>
            <a:picLocks noChangeAspect="1"/>
          </p:cNvPicPr>
          <p:nvPr/>
        </p:nvPicPr>
        <p:blipFill>
          <a:blip r:embed="rId3"/>
          <a:stretch>
            <a:fillRect/>
          </a:stretch>
        </p:blipFill>
        <p:spPr>
          <a:xfrm>
            <a:off x="16774031" y="611996"/>
            <a:ext cx="1111192" cy="785499"/>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EEF4F3"/>
        </a:solidFill>
        <a:effectLst/>
      </p:bgPr>
    </p:bg>
    <p:spTree>
      <p:nvGrpSpPr>
        <p:cNvPr id="1" name=""/>
        <p:cNvGrpSpPr/>
        <p:nvPr/>
      </p:nvGrpSpPr>
      <p:grpSpPr>
        <a:xfrm>
          <a:off x="0" y="0"/>
          <a:ext cx="0" cy="0"/>
          <a:chOff x="0" y="0"/>
          <a:chExt cx="0" cy="0"/>
        </a:xfrm>
      </p:grpSpPr>
      <p:grpSp>
        <p:nvGrpSpPr>
          <p:cNvPr id="2" name="Group 2"/>
          <p:cNvGrpSpPr/>
          <p:nvPr/>
        </p:nvGrpSpPr>
        <p:grpSpPr>
          <a:xfrm>
            <a:off x="7381783" y="4687439"/>
            <a:ext cx="3246678" cy="2680513"/>
            <a:chOff x="0" y="0"/>
            <a:chExt cx="855092" cy="705979"/>
          </a:xfrm>
        </p:grpSpPr>
        <p:sp>
          <p:nvSpPr>
            <p:cNvPr id="3" name="Freeform 3"/>
            <p:cNvSpPr/>
            <p:nvPr/>
          </p:nvSpPr>
          <p:spPr>
            <a:xfrm>
              <a:off x="0" y="0"/>
              <a:ext cx="855092" cy="705979"/>
            </a:xfrm>
            <a:custGeom>
              <a:avLst/>
              <a:gdLst/>
              <a:ahLst/>
              <a:cxnLst/>
              <a:rect l="l" t="t" r="r" b="b"/>
              <a:pathLst>
                <a:path w="855092" h="705979">
                  <a:moveTo>
                    <a:pt x="121613" y="0"/>
                  </a:moveTo>
                  <a:lnTo>
                    <a:pt x="733479" y="0"/>
                  </a:lnTo>
                  <a:cubicBezTo>
                    <a:pt x="765733" y="0"/>
                    <a:pt x="796666" y="12813"/>
                    <a:pt x="819473" y="35620"/>
                  </a:cubicBezTo>
                  <a:cubicBezTo>
                    <a:pt x="842279" y="58426"/>
                    <a:pt x="855092" y="89359"/>
                    <a:pt x="855092" y="121613"/>
                  </a:cubicBezTo>
                  <a:lnTo>
                    <a:pt x="855092" y="584366"/>
                  </a:lnTo>
                  <a:cubicBezTo>
                    <a:pt x="855092" y="616620"/>
                    <a:pt x="842279" y="647552"/>
                    <a:pt x="819473" y="670359"/>
                  </a:cubicBezTo>
                  <a:cubicBezTo>
                    <a:pt x="796666" y="693166"/>
                    <a:pt x="765733" y="705979"/>
                    <a:pt x="733479" y="705979"/>
                  </a:cubicBezTo>
                  <a:lnTo>
                    <a:pt x="121613" y="705979"/>
                  </a:lnTo>
                  <a:cubicBezTo>
                    <a:pt x="89359" y="705979"/>
                    <a:pt x="58426" y="693166"/>
                    <a:pt x="35620" y="670359"/>
                  </a:cubicBezTo>
                  <a:cubicBezTo>
                    <a:pt x="12813" y="647552"/>
                    <a:pt x="0" y="616620"/>
                    <a:pt x="0" y="584366"/>
                  </a:cubicBezTo>
                  <a:lnTo>
                    <a:pt x="0" y="121613"/>
                  </a:lnTo>
                  <a:cubicBezTo>
                    <a:pt x="0" y="89359"/>
                    <a:pt x="12813" y="58426"/>
                    <a:pt x="35620" y="35620"/>
                  </a:cubicBezTo>
                  <a:cubicBezTo>
                    <a:pt x="58426" y="12813"/>
                    <a:pt x="89359" y="0"/>
                    <a:pt x="121613" y="0"/>
                  </a:cubicBezTo>
                  <a:close/>
                </a:path>
              </a:pathLst>
            </a:custGeom>
            <a:solidFill>
              <a:srgbClr val="02B676"/>
            </a:solidFill>
          </p:spPr>
        </p:sp>
        <p:sp>
          <p:nvSpPr>
            <p:cNvPr id="4" name="TextBox 4"/>
            <p:cNvSpPr txBox="1"/>
            <p:nvPr/>
          </p:nvSpPr>
          <p:spPr>
            <a:xfrm>
              <a:off x="0" y="-66675"/>
              <a:ext cx="855092" cy="772654"/>
            </a:xfrm>
            <a:prstGeom prst="rect">
              <a:avLst/>
            </a:prstGeom>
          </p:spPr>
          <p:txBody>
            <a:bodyPr lIns="50800" tIns="50800" rIns="50800" bIns="50800" rtlCol="0" anchor="ctr"/>
            <a:lstStyle/>
            <a:p>
              <a:pPr algn="ctr">
                <a:lnSpc>
                  <a:spcPts val="2520"/>
                </a:lnSpc>
              </a:pPr>
              <a:r>
                <a:rPr lang="en-US" sz="1800" b="1">
                  <a:solidFill>
                    <a:srgbClr val="FFFFFF"/>
                  </a:solidFill>
                  <a:latin typeface="Telegraf Bold"/>
                  <a:ea typeface="Telegraf Bold"/>
                  <a:cs typeface="Telegraf Bold"/>
                  <a:sym typeface="Telegraf Bold"/>
                </a:rPr>
                <a:t>Nous avons éliminé les valeurs aberrantes pour éviter qu'elles influencent notre modèle.</a:t>
              </a:r>
            </a:p>
            <a:p>
              <a:pPr algn="ctr">
                <a:lnSpc>
                  <a:spcPts val="2520"/>
                </a:lnSpc>
              </a:pPr>
              <a:r>
                <a:rPr lang="en-US" sz="1800" b="1">
                  <a:solidFill>
                    <a:srgbClr val="FFFFFF"/>
                  </a:solidFill>
                  <a:latin typeface="Telegraf Bold"/>
                  <a:ea typeface="Telegraf Bold"/>
                  <a:cs typeface="Telegraf Bold"/>
                  <a:sym typeface="Telegraf Bold"/>
                </a:rPr>
                <a:t>les colonnes avec outliers: 'trestbps', 'chol', 'thalch', 'oldpeak'</a:t>
              </a:r>
            </a:p>
          </p:txBody>
        </p:sp>
      </p:grpSp>
      <p:grpSp>
        <p:nvGrpSpPr>
          <p:cNvPr id="5" name="Group 5"/>
          <p:cNvGrpSpPr/>
          <p:nvPr/>
        </p:nvGrpSpPr>
        <p:grpSpPr>
          <a:xfrm>
            <a:off x="17259300" y="9258300"/>
            <a:ext cx="750152" cy="750152"/>
            <a:chOff x="0" y="0"/>
            <a:chExt cx="812800" cy="812800"/>
          </a:xfrm>
        </p:grpSpPr>
        <p:sp>
          <p:nvSpPr>
            <p:cNvPr id="6" name="Freeform 6"/>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7562B"/>
            </a:solidFill>
          </p:spPr>
        </p:sp>
        <p:sp>
          <p:nvSpPr>
            <p:cNvPr id="7" name="TextBox 7"/>
            <p:cNvSpPr txBox="1"/>
            <p:nvPr/>
          </p:nvSpPr>
          <p:spPr>
            <a:xfrm>
              <a:off x="76200" y="85725"/>
              <a:ext cx="660400" cy="650875"/>
            </a:xfrm>
            <a:prstGeom prst="rect">
              <a:avLst/>
            </a:prstGeom>
          </p:spPr>
          <p:txBody>
            <a:bodyPr lIns="50800" tIns="50800" rIns="50800" bIns="50800" rtlCol="0" anchor="ctr"/>
            <a:lstStyle/>
            <a:p>
              <a:pPr algn="ctr">
                <a:lnSpc>
                  <a:spcPts val="2400"/>
                </a:lnSpc>
              </a:pPr>
              <a:r>
                <a:rPr lang="en-US" sz="2400" b="1" spc="117">
                  <a:solidFill>
                    <a:srgbClr val="FFFFFF"/>
                  </a:solidFill>
                  <a:latin typeface="Telegraf Bold"/>
                  <a:ea typeface="Telegraf Bold"/>
                  <a:cs typeface="Telegraf Bold"/>
                  <a:sym typeface="Telegraf Bold"/>
                </a:rPr>
                <a:t>10</a:t>
              </a:r>
            </a:p>
          </p:txBody>
        </p:sp>
      </p:grpSp>
      <p:sp>
        <p:nvSpPr>
          <p:cNvPr id="8" name="Freeform 8"/>
          <p:cNvSpPr/>
          <p:nvPr/>
        </p:nvSpPr>
        <p:spPr>
          <a:xfrm>
            <a:off x="1895716" y="1883994"/>
            <a:ext cx="4773334" cy="3259506"/>
          </a:xfrm>
          <a:custGeom>
            <a:avLst/>
            <a:gdLst/>
            <a:ahLst/>
            <a:cxnLst/>
            <a:rect l="l" t="t" r="r" b="b"/>
            <a:pathLst>
              <a:path w="4773334" h="3259506">
                <a:moveTo>
                  <a:pt x="0" y="0"/>
                </a:moveTo>
                <a:lnTo>
                  <a:pt x="4773335" y="0"/>
                </a:lnTo>
                <a:lnTo>
                  <a:pt x="4773335" y="3259506"/>
                </a:lnTo>
                <a:lnTo>
                  <a:pt x="0" y="3259506"/>
                </a:lnTo>
                <a:lnTo>
                  <a:pt x="0" y="0"/>
                </a:lnTo>
                <a:close/>
              </a:path>
            </a:pathLst>
          </a:custGeom>
          <a:blipFill>
            <a:blip r:embed="rId2"/>
            <a:stretch>
              <a:fillRect/>
            </a:stretch>
          </a:blipFill>
        </p:spPr>
      </p:sp>
      <p:sp>
        <p:nvSpPr>
          <p:cNvPr id="9" name="Freeform 9"/>
          <p:cNvSpPr/>
          <p:nvPr/>
        </p:nvSpPr>
        <p:spPr>
          <a:xfrm>
            <a:off x="11304624" y="1883994"/>
            <a:ext cx="4702238" cy="3259506"/>
          </a:xfrm>
          <a:custGeom>
            <a:avLst/>
            <a:gdLst/>
            <a:ahLst/>
            <a:cxnLst/>
            <a:rect l="l" t="t" r="r" b="b"/>
            <a:pathLst>
              <a:path w="4702238" h="3259506">
                <a:moveTo>
                  <a:pt x="0" y="0"/>
                </a:moveTo>
                <a:lnTo>
                  <a:pt x="4702238" y="0"/>
                </a:lnTo>
                <a:lnTo>
                  <a:pt x="4702238" y="3259506"/>
                </a:lnTo>
                <a:lnTo>
                  <a:pt x="0" y="3259506"/>
                </a:lnTo>
                <a:lnTo>
                  <a:pt x="0" y="0"/>
                </a:lnTo>
                <a:close/>
              </a:path>
            </a:pathLst>
          </a:custGeom>
          <a:blipFill>
            <a:blip r:embed="rId3"/>
            <a:stretch>
              <a:fillRect/>
            </a:stretch>
          </a:blipFill>
        </p:spPr>
      </p:sp>
      <p:sp>
        <p:nvSpPr>
          <p:cNvPr id="10" name="Freeform 10"/>
          <p:cNvSpPr/>
          <p:nvPr/>
        </p:nvSpPr>
        <p:spPr>
          <a:xfrm>
            <a:off x="1895716" y="6678518"/>
            <a:ext cx="4809905" cy="3329934"/>
          </a:xfrm>
          <a:custGeom>
            <a:avLst/>
            <a:gdLst/>
            <a:ahLst/>
            <a:cxnLst/>
            <a:rect l="l" t="t" r="r" b="b"/>
            <a:pathLst>
              <a:path w="4809905" h="3329934">
                <a:moveTo>
                  <a:pt x="0" y="0"/>
                </a:moveTo>
                <a:lnTo>
                  <a:pt x="4809905" y="0"/>
                </a:lnTo>
                <a:lnTo>
                  <a:pt x="4809905" y="3329934"/>
                </a:lnTo>
                <a:lnTo>
                  <a:pt x="0" y="3329934"/>
                </a:lnTo>
                <a:lnTo>
                  <a:pt x="0" y="0"/>
                </a:lnTo>
                <a:close/>
              </a:path>
            </a:pathLst>
          </a:custGeom>
          <a:blipFill>
            <a:blip r:embed="rId4"/>
            <a:stretch>
              <a:fillRect/>
            </a:stretch>
          </a:blipFill>
        </p:spPr>
      </p:sp>
      <p:sp>
        <p:nvSpPr>
          <p:cNvPr id="11" name="Freeform 11"/>
          <p:cNvSpPr/>
          <p:nvPr/>
        </p:nvSpPr>
        <p:spPr>
          <a:xfrm>
            <a:off x="11304624" y="6725913"/>
            <a:ext cx="4702238" cy="3235144"/>
          </a:xfrm>
          <a:custGeom>
            <a:avLst/>
            <a:gdLst/>
            <a:ahLst/>
            <a:cxnLst/>
            <a:rect l="l" t="t" r="r" b="b"/>
            <a:pathLst>
              <a:path w="4702238" h="3235144">
                <a:moveTo>
                  <a:pt x="0" y="0"/>
                </a:moveTo>
                <a:lnTo>
                  <a:pt x="4702238" y="0"/>
                </a:lnTo>
                <a:lnTo>
                  <a:pt x="4702238" y="3235144"/>
                </a:lnTo>
                <a:lnTo>
                  <a:pt x="0" y="3235144"/>
                </a:lnTo>
                <a:lnTo>
                  <a:pt x="0" y="0"/>
                </a:lnTo>
                <a:close/>
              </a:path>
            </a:pathLst>
          </a:custGeom>
          <a:blipFill>
            <a:blip r:embed="rId5"/>
            <a:stretch>
              <a:fillRect l="-740" r="-740"/>
            </a:stretch>
          </a:blipFill>
        </p:spPr>
      </p:sp>
      <p:sp>
        <p:nvSpPr>
          <p:cNvPr id="12" name="TextBox 12"/>
          <p:cNvSpPr txBox="1"/>
          <p:nvPr/>
        </p:nvSpPr>
        <p:spPr>
          <a:xfrm>
            <a:off x="1028700" y="596135"/>
            <a:ext cx="16606326" cy="1073150"/>
          </a:xfrm>
          <a:prstGeom prst="rect">
            <a:avLst/>
          </a:prstGeom>
        </p:spPr>
        <p:txBody>
          <a:bodyPr lIns="0" tIns="0" rIns="0" bIns="0" rtlCol="0" anchor="t">
            <a:spAutoFit/>
          </a:bodyPr>
          <a:lstStyle/>
          <a:p>
            <a:pPr algn="ctr">
              <a:lnSpc>
                <a:spcPts val="6999"/>
              </a:lnSpc>
            </a:pPr>
            <a:r>
              <a:rPr lang="en-US" sz="6999" spc="342">
                <a:solidFill>
                  <a:srgbClr val="290606"/>
                </a:solidFill>
                <a:latin typeface="Cheddar"/>
                <a:ea typeface="Cheddar"/>
                <a:cs typeface="Cheddar"/>
                <a:sym typeface="Cheddar"/>
              </a:rPr>
              <a:t>SUPPRESSION DES OUTLIERS</a:t>
            </a:r>
          </a:p>
        </p:txBody>
      </p:sp>
      <p:sp>
        <p:nvSpPr>
          <p:cNvPr id="13" name="Freeform 13"/>
          <p:cNvSpPr/>
          <p:nvPr/>
        </p:nvSpPr>
        <p:spPr>
          <a:xfrm>
            <a:off x="8375119" y="2351388"/>
            <a:ext cx="1260008" cy="1653948"/>
          </a:xfrm>
          <a:custGeom>
            <a:avLst/>
            <a:gdLst/>
            <a:ahLst/>
            <a:cxnLst/>
            <a:rect l="l" t="t" r="r" b="b"/>
            <a:pathLst>
              <a:path w="1260008" h="1653948">
                <a:moveTo>
                  <a:pt x="0" y="0"/>
                </a:moveTo>
                <a:lnTo>
                  <a:pt x="1260007" y="0"/>
                </a:lnTo>
                <a:lnTo>
                  <a:pt x="1260007" y="1653948"/>
                </a:lnTo>
                <a:lnTo>
                  <a:pt x="0" y="1653948"/>
                </a:lnTo>
                <a:lnTo>
                  <a:pt x="0" y="0"/>
                </a:lnTo>
                <a:close/>
              </a:path>
            </a:pathLst>
          </a:custGeom>
          <a:blipFill>
            <a:blip r:embed="rId6">
              <a:extLst>
                <a:ext uri="{96DAC541-7B7A-43D3-8B79-37D633B846F1}">
                  <asvg:svgBlip xmlns="" xmlns:asvg="http://schemas.microsoft.com/office/drawing/2016/SVG/main" r:embed="rId7"/>
                </a:ext>
              </a:extLst>
            </a:blip>
            <a:stretch>
              <a:fillRect/>
            </a:stretch>
          </a:blipFill>
        </p:spPr>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EEF4F3"/>
        </a:solidFill>
        <a:effectLst/>
      </p:bgPr>
    </p:bg>
    <p:spTree>
      <p:nvGrpSpPr>
        <p:cNvPr id="1" name=""/>
        <p:cNvGrpSpPr/>
        <p:nvPr/>
      </p:nvGrpSpPr>
      <p:grpSpPr>
        <a:xfrm>
          <a:off x="0" y="0"/>
          <a:ext cx="0" cy="0"/>
          <a:chOff x="0" y="0"/>
          <a:chExt cx="0" cy="0"/>
        </a:xfrm>
      </p:grpSpPr>
      <p:grpSp>
        <p:nvGrpSpPr>
          <p:cNvPr id="2" name="Group 2"/>
          <p:cNvGrpSpPr/>
          <p:nvPr/>
        </p:nvGrpSpPr>
        <p:grpSpPr>
          <a:xfrm>
            <a:off x="1140362" y="1574034"/>
            <a:ext cx="16383002" cy="613970"/>
            <a:chOff x="0" y="0"/>
            <a:chExt cx="4314865" cy="161704"/>
          </a:xfrm>
        </p:grpSpPr>
        <p:sp>
          <p:nvSpPr>
            <p:cNvPr id="3" name="Freeform 3"/>
            <p:cNvSpPr/>
            <p:nvPr/>
          </p:nvSpPr>
          <p:spPr>
            <a:xfrm>
              <a:off x="0" y="0"/>
              <a:ext cx="4314865" cy="161704"/>
            </a:xfrm>
            <a:custGeom>
              <a:avLst/>
              <a:gdLst/>
              <a:ahLst/>
              <a:cxnLst/>
              <a:rect l="l" t="t" r="r" b="b"/>
              <a:pathLst>
                <a:path w="4314865" h="161704">
                  <a:moveTo>
                    <a:pt x="24100" y="0"/>
                  </a:moveTo>
                  <a:lnTo>
                    <a:pt x="4290764" y="0"/>
                  </a:lnTo>
                  <a:cubicBezTo>
                    <a:pt x="4304074" y="0"/>
                    <a:pt x="4314865" y="10790"/>
                    <a:pt x="4314865" y="24100"/>
                  </a:cubicBezTo>
                  <a:lnTo>
                    <a:pt x="4314865" y="137603"/>
                  </a:lnTo>
                  <a:cubicBezTo>
                    <a:pt x="4314865" y="143995"/>
                    <a:pt x="4312326" y="150125"/>
                    <a:pt x="4307806" y="154645"/>
                  </a:cubicBezTo>
                  <a:cubicBezTo>
                    <a:pt x="4303286" y="159165"/>
                    <a:pt x="4297156" y="161704"/>
                    <a:pt x="4290764" y="161704"/>
                  </a:cubicBezTo>
                  <a:lnTo>
                    <a:pt x="24100" y="161704"/>
                  </a:lnTo>
                  <a:cubicBezTo>
                    <a:pt x="17709" y="161704"/>
                    <a:pt x="11579" y="159165"/>
                    <a:pt x="7059" y="154645"/>
                  </a:cubicBezTo>
                  <a:cubicBezTo>
                    <a:pt x="2539" y="150125"/>
                    <a:pt x="0" y="143995"/>
                    <a:pt x="0" y="137603"/>
                  </a:cubicBezTo>
                  <a:lnTo>
                    <a:pt x="0" y="24100"/>
                  </a:lnTo>
                  <a:cubicBezTo>
                    <a:pt x="0" y="17709"/>
                    <a:pt x="2539" y="11579"/>
                    <a:pt x="7059" y="7059"/>
                  </a:cubicBezTo>
                  <a:cubicBezTo>
                    <a:pt x="11579" y="2539"/>
                    <a:pt x="17709" y="0"/>
                    <a:pt x="24100" y="0"/>
                  </a:cubicBezTo>
                  <a:close/>
                </a:path>
              </a:pathLst>
            </a:custGeom>
            <a:solidFill>
              <a:srgbClr val="02B676"/>
            </a:solidFill>
          </p:spPr>
        </p:sp>
        <p:sp>
          <p:nvSpPr>
            <p:cNvPr id="4" name="TextBox 4"/>
            <p:cNvSpPr txBox="1"/>
            <p:nvPr/>
          </p:nvSpPr>
          <p:spPr>
            <a:xfrm>
              <a:off x="0" y="-85725"/>
              <a:ext cx="4314865" cy="247429"/>
            </a:xfrm>
            <a:prstGeom prst="rect">
              <a:avLst/>
            </a:prstGeom>
          </p:spPr>
          <p:txBody>
            <a:bodyPr lIns="50800" tIns="50800" rIns="50800" bIns="50800" rtlCol="0" anchor="ctr"/>
            <a:lstStyle/>
            <a:p>
              <a:pPr algn="ctr">
                <a:lnSpc>
                  <a:spcPts val="3640"/>
                </a:lnSpc>
              </a:pPr>
              <a:r>
                <a:rPr lang="en-US" sz="2600" b="1">
                  <a:solidFill>
                    <a:srgbClr val="FFFFFF"/>
                  </a:solidFill>
                  <a:latin typeface="Telegraf Bold"/>
                  <a:ea typeface="Telegraf Bold"/>
                  <a:cs typeface="Telegraf Bold"/>
                  <a:sym typeface="Telegraf Bold"/>
                </a:rPr>
                <a:t>Nous avons analysé la distribution des variables numériques pour mieux comprendre les données.</a:t>
              </a:r>
            </a:p>
          </p:txBody>
        </p:sp>
      </p:grpSp>
      <p:grpSp>
        <p:nvGrpSpPr>
          <p:cNvPr id="5" name="Group 5"/>
          <p:cNvGrpSpPr/>
          <p:nvPr/>
        </p:nvGrpSpPr>
        <p:grpSpPr>
          <a:xfrm>
            <a:off x="17259300" y="9258300"/>
            <a:ext cx="750152" cy="750152"/>
            <a:chOff x="0" y="0"/>
            <a:chExt cx="812800" cy="812800"/>
          </a:xfrm>
        </p:grpSpPr>
        <p:sp>
          <p:nvSpPr>
            <p:cNvPr id="6" name="Freeform 6"/>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7562B"/>
            </a:solidFill>
          </p:spPr>
        </p:sp>
        <p:sp>
          <p:nvSpPr>
            <p:cNvPr id="7" name="TextBox 7"/>
            <p:cNvSpPr txBox="1"/>
            <p:nvPr/>
          </p:nvSpPr>
          <p:spPr>
            <a:xfrm>
              <a:off x="76200" y="85725"/>
              <a:ext cx="660400" cy="650875"/>
            </a:xfrm>
            <a:prstGeom prst="rect">
              <a:avLst/>
            </a:prstGeom>
          </p:spPr>
          <p:txBody>
            <a:bodyPr lIns="50800" tIns="50800" rIns="50800" bIns="50800" rtlCol="0" anchor="ctr"/>
            <a:lstStyle/>
            <a:p>
              <a:pPr algn="ctr">
                <a:lnSpc>
                  <a:spcPts val="2400"/>
                </a:lnSpc>
              </a:pPr>
              <a:r>
                <a:rPr lang="en-US" sz="2400" b="1" spc="117">
                  <a:solidFill>
                    <a:srgbClr val="FFFFFF"/>
                  </a:solidFill>
                  <a:latin typeface="Telegraf Bold"/>
                  <a:ea typeface="Telegraf Bold"/>
                  <a:cs typeface="Telegraf Bold"/>
                  <a:sym typeface="Telegraf Bold"/>
                </a:rPr>
                <a:t>11</a:t>
              </a:r>
            </a:p>
          </p:txBody>
        </p:sp>
      </p:grpSp>
      <p:sp>
        <p:nvSpPr>
          <p:cNvPr id="8" name="Freeform 8"/>
          <p:cNvSpPr/>
          <p:nvPr/>
        </p:nvSpPr>
        <p:spPr>
          <a:xfrm>
            <a:off x="4464891" y="2235629"/>
            <a:ext cx="9358217" cy="8002889"/>
          </a:xfrm>
          <a:custGeom>
            <a:avLst/>
            <a:gdLst/>
            <a:ahLst/>
            <a:cxnLst/>
            <a:rect l="l" t="t" r="r" b="b"/>
            <a:pathLst>
              <a:path w="9358217" h="8002889">
                <a:moveTo>
                  <a:pt x="0" y="0"/>
                </a:moveTo>
                <a:lnTo>
                  <a:pt x="9358218" y="0"/>
                </a:lnTo>
                <a:lnTo>
                  <a:pt x="9358218" y="8002889"/>
                </a:lnTo>
                <a:lnTo>
                  <a:pt x="0" y="8002889"/>
                </a:lnTo>
                <a:lnTo>
                  <a:pt x="0" y="0"/>
                </a:lnTo>
                <a:close/>
              </a:path>
            </a:pathLst>
          </a:custGeom>
          <a:blipFill>
            <a:blip r:embed="rId2"/>
            <a:stretch>
              <a:fillRect/>
            </a:stretch>
          </a:blipFill>
        </p:spPr>
      </p:sp>
      <p:sp>
        <p:nvSpPr>
          <p:cNvPr id="9" name="TextBox 9"/>
          <p:cNvSpPr txBox="1"/>
          <p:nvPr/>
        </p:nvSpPr>
        <p:spPr>
          <a:xfrm>
            <a:off x="1028700" y="548510"/>
            <a:ext cx="16606326" cy="1073150"/>
          </a:xfrm>
          <a:prstGeom prst="rect">
            <a:avLst/>
          </a:prstGeom>
        </p:spPr>
        <p:txBody>
          <a:bodyPr lIns="0" tIns="0" rIns="0" bIns="0" rtlCol="0" anchor="t">
            <a:spAutoFit/>
          </a:bodyPr>
          <a:lstStyle/>
          <a:p>
            <a:pPr algn="ctr">
              <a:lnSpc>
                <a:spcPts val="6999"/>
              </a:lnSpc>
            </a:pPr>
            <a:r>
              <a:rPr lang="en-US" sz="6999" spc="342">
                <a:solidFill>
                  <a:srgbClr val="290606"/>
                </a:solidFill>
                <a:latin typeface="Cheddar"/>
                <a:ea typeface="Cheddar"/>
                <a:cs typeface="Cheddar"/>
                <a:sym typeface="Cheddar"/>
              </a:rPr>
              <a:t>DISTRIBUTION DES VARIABLES NUMÉRIQUES</a:t>
            </a:r>
          </a:p>
        </p:txBody>
      </p:sp>
      <p:pic>
        <p:nvPicPr>
          <p:cNvPr id="10" name="Image 9"/>
          <p:cNvPicPr>
            <a:picLocks noChangeAspect="1"/>
          </p:cNvPicPr>
          <p:nvPr/>
        </p:nvPicPr>
        <p:blipFill>
          <a:blip r:embed="rId3"/>
          <a:stretch>
            <a:fillRect/>
          </a:stretch>
        </p:blipFill>
        <p:spPr>
          <a:xfrm>
            <a:off x="-93298" y="8419839"/>
            <a:ext cx="2467319" cy="1867161"/>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EEF4F3"/>
        </a:solidFill>
        <a:effectLst/>
      </p:bgPr>
    </p:bg>
    <p:spTree>
      <p:nvGrpSpPr>
        <p:cNvPr id="1" name=""/>
        <p:cNvGrpSpPr/>
        <p:nvPr/>
      </p:nvGrpSpPr>
      <p:grpSpPr>
        <a:xfrm>
          <a:off x="0" y="0"/>
          <a:ext cx="0" cy="0"/>
          <a:chOff x="0" y="0"/>
          <a:chExt cx="0" cy="0"/>
        </a:xfrm>
      </p:grpSpPr>
      <p:grpSp>
        <p:nvGrpSpPr>
          <p:cNvPr id="2" name="Group 2"/>
          <p:cNvGrpSpPr/>
          <p:nvPr/>
        </p:nvGrpSpPr>
        <p:grpSpPr>
          <a:xfrm>
            <a:off x="0" y="1258364"/>
            <a:ext cx="18009452" cy="925425"/>
            <a:chOff x="0" y="0"/>
            <a:chExt cx="4743230" cy="243733"/>
          </a:xfrm>
        </p:grpSpPr>
        <p:sp>
          <p:nvSpPr>
            <p:cNvPr id="3" name="Freeform 3"/>
            <p:cNvSpPr/>
            <p:nvPr/>
          </p:nvSpPr>
          <p:spPr>
            <a:xfrm>
              <a:off x="0" y="0"/>
              <a:ext cx="4743230" cy="243733"/>
            </a:xfrm>
            <a:custGeom>
              <a:avLst/>
              <a:gdLst/>
              <a:ahLst/>
              <a:cxnLst/>
              <a:rect l="l" t="t" r="r" b="b"/>
              <a:pathLst>
                <a:path w="4743230" h="243733">
                  <a:moveTo>
                    <a:pt x="21924" y="0"/>
                  </a:moveTo>
                  <a:lnTo>
                    <a:pt x="4721306" y="0"/>
                  </a:lnTo>
                  <a:cubicBezTo>
                    <a:pt x="4733415" y="0"/>
                    <a:pt x="4743230" y="9816"/>
                    <a:pt x="4743230" y="21924"/>
                  </a:cubicBezTo>
                  <a:lnTo>
                    <a:pt x="4743230" y="221809"/>
                  </a:lnTo>
                  <a:cubicBezTo>
                    <a:pt x="4743230" y="227624"/>
                    <a:pt x="4740920" y="233200"/>
                    <a:pt x="4736809" y="237312"/>
                  </a:cubicBezTo>
                  <a:cubicBezTo>
                    <a:pt x="4732697" y="241423"/>
                    <a:pt x="4727121" y="243733"/>
                    <a:pt x="4721306" y="243733"/>
                  </a:cubicBezTo>
                  <a:lnTo>
                    <a:pt x="21924" y="243733"/>
                  </a:lnTo>
                  <a:cubicBezTo>
                    <a:pt x="9816" y="243733"/>
                    <a:pt x="0" y="233918"/>
                    <a:pt x="0" y="221809"/>
                  </a:cubicBezTo>
                  <a:lnTo>
                    <a:pt x="0" y="21924"/>
                  </a:lnTo>
                  <a:cubicBezTo>
                    <a:pt x="0" y="9816"/>
                    <a:pt x="9816" y="0"/>
                    <a:pt x="21924" y="0"/>
                  </a:cubicBezTo>
                  <a:close/>
                </a:path>
              </a:pathLst>
            </a:custGeom>
            <a:solidFill>
              <a:srgbClr val="02B676"/>
            </a:solidFill>
          </p:spPr>
        </p:sp>
        <p:sp>
          <p:nvSpPr>
            <p:cNvPr id="4" name="TextBox 4"/>
            <p:cNvSpPr txBox="1"/>
            <p:nvPr/>
          </p:nvSpPr>
          <p:spPr>
            <a:xfrm>
              <a:off x="0" y="-66675"/>
              <a:ext cx="4743230" cy="310408"/>
            </a:xfrm>
            <a:prstGeom prst="rect">
              <a:avLst/>
            </a:prstGeom>
          </p:spPr>
          <p:txBody>
            <a:bodyPr lIns="50800" tIns="50800" rIns="50800" bIns="50800" rtlCol="0" anchor="ctr"/>
            <a:lstStyle/>
            <a:p>
              <a:pPr algn="ctr">
                <a:lnSpc>
                  <a:spcPts val="3080"/>
                </a:lnSpc>
              </a:pPr>
              <a:r>
                <a:rPr lang="en-US" sz="2200" b="1">
                  <a:solidFill>
                    <a:srgbClr val="FFFFFF"/>
                  </a:solidFill>
                  <a:latin typeface="Telegraf Bold"/>
                  <a:ea typeface="Telegraf Bold"/>
                  <a:cs typeface="Telegraf Bold"/>
                  <a:sym typeface="Telegraf Bold"/>
                </a:rPr>
                <a:t>Les variables catégorielles ont été converties en valeurs numériques pour être utilisables par notre modèle. Ensuite, nous avons analysé les corrélations entre les variables pour mieux comprendre leur impact sur le modèle et la prédiction.</a:t>
              </a:r>
            </a:p>
          </p:txBody>
        </p:sp>
      </p:grpSp>
      <p:grpSp>
        <p:nvGrpSpPr>
          <p:cNvPr id="5" name="Group 5"/>
          <p:cNvGrpSpPr/>
          <p:nvPr/>
        </p:nvGrpSpPr>
        <p:grpSpPr>
          <a:xfrm>
            <a:off x="17259300" y="9258300"/>
            <a:ext cx="750152" cy="750152"/>
            <a:chOff x="0" y="0"/>
            <a:chExt cx="812800" cy="812800"/>
          </a:xfrm>
        </p:grpSpPr>
        <p:sp>
          <p:nvSpPr>
            <p:cNvPr id="6" name="Freeform 6"/>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7562B"/>
            </a:solidFill>
          </p:spPr>
        </p:sp>
        <p:sp>
          <p:nvSpPr>
            <p:cNvPr id="7" name="TextBox 7"/>
            <p:cNvSpPr txBox="1"/>
            <p:nvPr/>
          </p:nvSpPr>
          <p:spPr>
            <a:xfrm>
              <a:off x="76200" y="85725"/>
              <a:ext cx="660400" cy="650875"/>
            </a:xfrm>
            <a:prstGeom prst="rect">
              <a:avLst/>
            </a:prstGeom>
          </p:spPr>
          <p:txBody>
            <a:bodyPr lIns="50800" tIns="50800" rIns="50800" bIns="50800" rtlCol="0" anchor="ctr"/>
            <a:lstStyle/>
            <a:p>
              <a:pPr algn="ctr">
                <a:lnSpc>
                  <a:spcPts val="2400"/>
                </a:lnSpc>
              </a:pPr>
              <a:r>
                <a:rPr lang="en-US" sz="2400" b="1" spc="117">
                  <a:solidFill>
                    <a:srgbClr val="FFFFFF"/>
                  </a:solidFill>
                  <a:latin typeface="Telegraf Bold"/>
                  <a:ea typeface="Telegraf Bold"/>
                  <a:cs typeface="Telegraf Bold"/>
                  <a:sym typeface="Telegraf Bold"/>
                </a:rPr>
                <a:t>12</a:t>
              </a:r>
            </a:p>
          </p:txBody>
        </p:sp>
      </p:grpSp>
      <p:sp>
        <p:nvSpPr>
          <p:cNvPr id="8" name="Freeform 8"/>
          <p:cNvSpPr/>
          <p:nvPr/>
        </p:nvSpPr>
        <p:spPr>
          <a:xfrm>
            <a:off x="3560919" y="2282509"/>
            <a:ext cx="10887614" cy="7852091"/>
          </a:xfrm>
          <a:custGeom>
            <a:avLst/>
            <a:gdLst/>
            <a:ahLst/>
            <a:cxnLst/>
            <a:rect l="l" t="t" r="r" b="b"/>
            <a:pathLst>
              <a:path w="10887614" h="7852091">
                <a:moveTo>
                  <a:pt x="0" y="0"/>
                </a:moveTo>
                <a:lnTo>
                  <a:pt x="10887614" y="0"/>
                </a:lnTo>
                <a:lnTo>
                  <a:pt x="10887614" y="7852091"/>
                </a:lnTo>
                <a:lnTo>
                  <a:pt x="0" y="7852091"/>
                </a:lnTo>
                <a:lnTo>
                  <a:pt x="0" y="0"/>
                </a:lnTo>
                <a:close/>
              </a:path>
            </a:pathLst>
          </a:custGeom>
          <a:blipFill>
            <a:blip r:embed="rId2"/>
            <a:stretch>
              <a:fillRect/>
            </a:stretch>
          </a:blipFill>
        </p:spPr>
      </p:sp>
      <p:sp>
        <p:nvSpPr>
          <p:cNvPr id="9" name="TextBox 9"/>
          <p:cNvSpPr txBox="1"/>
          <p:nvPr/>
        </p:nvSpPr>
        <p:spPr>
          <a:xfrm>
            <a:off x="-266408" y="276654"/>
            <a:ext cx="18659183" cy="981710"/>
          </a:xfrm>
          <a:prstGeom prst="rect">
            <a:avLst/>
          </a:prstGeom>
        </p:spPr>
        <p:txBody>
          <a:bodyPr lIns="0" tIns="0" rIns="0" bIns="0" rtlCol="0" anchor="t">
            <a:spAutoFit/>
          </a:bodyPr>
          <a:lstStyle/>
          <a:p>
            <a:pPr algn="ctr">
              <a:lnSpc>
                <a:spcPts val="6400"/>
              </a:lnSpc>
            </a:pPr>
            <a:r>
              <a:rPr lang="en-US" sz="6400" spc="313">
                <a:solidFill>
                  <a:srgbClr val="290606"/>
                </a:solidFill>
                <a:latin typeface="Cheddar"/>
                <a:ea typeface="Cheddar"/>
                <a:cs typeface="Cheddar"/>
                <a:sym typeface="Cheddar"/>
              </a:rPr>
              <a:t>TRAITEMENT DES VARIABLES ET ANALYSE DE CORRÉLATION</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EEF4F3"/>
        </a:solidFill>
        <a:effectLst/>
      </p:bgPr>
    </p:bg>
    <p:spTree>
      <p:nvGrpSpPr>
        <p:cNvPr id="1" name=""/>
        <p:cNvGrpSpPr/>
        <p:nvPr/>
      </p:nvGrpSpPr>
      <p:grpSpPr>
        <a:xfrm>
          <a:off x="0" y="0"/>
          <a:ext cx="0" cy="0"/>
          <a:chOff x="0" y="0"/>
          <a:chExt cx="0" cy="0"/>
        </a:xfrm>
      </p:grpSpPr>
      <p:grpSp>
        <p:nvGrpSpPr>
          <p:cNvPr id="2" name="Group 2"/>
          <p:cNvGrpSpPr/>
          <p:nvPr/>
        </p:nvGrpSpPr>
        <p:grpSpPr>
          <a:xfrm>
            <a:off x="547350" y="5143500"/>
            <a:ext cx="9128730" cy="3053344"/>
            <a:chOff x="0" y="0"/>
            <a:chExt cx="2404274" cy="804173"/>
          </a:xfrm>
        </p:grpSpPr>
        <p:sp>
          <p:nvSpPr>
            <p:cNvPr id="3" name="Freeform 3"/>
            <p:cNvSpPr/>
            <p:nvPr/>
          </p:nvSpPr>
          <p:spPr>
            <a:xfrm>
              <a:off x="0" y="0"/>
              <a:ext cx="2404274" cy="804173"/>
            </a:xfrm>
            <a:custGeom>
              <a:avLst/>
              <a:gdLst/>
              <a:ahLst/>
              <a:cxnLst/>
              <a:rect l="l" t="t" r="r" b="b"/>
              <a:pathLst>
                <a:path w="2404274" h="804173">
                  <a:moveTo>
                    <a:pt x="43252" y="0"/>
                  </a:moveTo>
                  <a:lnTo>
                    <a:pt x="2361022" y="0"/>
                  </a:lnTo>
                  <a:cubicBezTo>
                    <a:pt x="2384910" y="0"/>
                    <a:pt x="2404274" y="19365"/>
                    <a:pt x="2404274" y="43252"/>
                  </a:cubicBezTo>
                  <a:lnTo>
                    <a:pt x="2404274" y="760921"/>
                  </a:lnTo>
                  <a:cubicBezTo>
                    <a:pt x="2404274" y="784808"/>
                    <a:pt x="2384910" y="804173"/>
                    <a:pt x="2361022" y="804173"/>
                  </a:cubicBezTo>
                  <a:lnTo>
                    <a:pt x="43252" y="804173"/>
                  </a:lnTo>
                  <a:cubicBezTo>
                    <a:pt x="19365" y="804173"/>
                    <a:pt x="0" y="784808"/>
                    <a:pt x="0" y="760921"/>
                  </a:cubicBezTo>
                  <a:lnTo>
                    <a:pt x="0" y="43252"/>
                  </a:lnTo>
                  <a:cubicBezTo>
                    <a:pt x="0" y="19365"/>
                    <a:pt x="19365" y="0"/>
                    <a:pt x="43252" y="0"/>
                  </a:cubicBezTo>
                  <a:close/>
                </a:path>
              </a:pathLst>
            </a:custGeom>
            <a:solidFill>
              <a:srgbClr val="02B676"/>
            </a:solidFill>
          </p:spPr>
        </p:sp>
        <p:sp>
          <p:nvSpPr>
            <p:cNvPr id="4" name="TextBox 4"/>
            <p:cNvSpPr txBox="1"/>
            <p:nvPr/>
          </p:nvSpPr>
          <p:spPr>
            <a:xfrm>
              <a:off x="0" y="-76200"/>
              <a:ext cx="2404274" cy="880373"/>
            </a:xfrm>
            <a:prstGeom prst="rect">
              <a:avLst/>
            </a:prstGeom>
          </p:spPr>
          <p:txBody>
            <a:bodyPr lIns="50800" tIns="50800" rIns="50800" bIns="50800" rtlCol="0" anchor="ctr"/>
            <a:lstStyle/>
            <a:p>
              <a:pPr algn="ctr">
                <a:lnSpc>
                  <a:spcPts val="3500"/>
                </a:lnSpc>
              </a:pPr>
              <a:r>
                <a:rPr lang="en-US" sz="2500" b="1">
                  <a:solidFill>
                    <a:srgbClr val="FFFFFF"/>
                  </a:solidFill>
                  <a:latin typeface="Telegraf Bold"/>
                  <a:ea typeface="Telegraf Bold"/>
                  <a:cs typeface="Telegraf Bold"/>
                  <a:sym typeface="Telegraf Bold"/>
                </a:rPr>
                <a:t>Dévision des données en jeu d'entraînement et de test pour évaluer notre modèle :</a:t>
              </a:r>
            </a:p>
            <a:p>
              <a:pPr algn="ctr">
                <a:lnSpc>
                  <a:spcPts val="3500"/>
                </a:lnSpc>
              </a:pPr>
              <a:r>
                <a:rPr lang="en-US" sz="2500" b="1">
                  <a:solidFill>
                    <a:srgbClr val="FFFFFF"/>
                  </a:solidFill>
                  <a:latin typeface="Telegraf Bold"/>
                  <a:ea typeface="Telegraf Bold"/>
                  <a:cs typeface="Telegraf Bold"/>
                  <a:sym typeface="Telegraf Bold"/>
                </a:rPr>
                <a:t> (Séparation en X_train/X_test et y_train/y_test)</a:t>
              </a:r>
            </a:p>
            <a:p>
              <a:pPr algn="ctr">
                <a:lnSpc>
                  <a:spcPts val="3500"/>
                </a:lnSpc>
              </a:pPr>
              <a:r>
                <a:rPr lang="en-US" sz="2500" b="1">
                  <a:solidFill>
                    <a:srgbClr val="FFFFFF"/>
                  </a:solidFill>
                  <a:latin typeface="Telegraf Bold"/>
                  <a:ea typeface="Telegraf Bold"/>
                  <a:cs typeface="Telegraf Bold"/>
                  <a:sym typeface="Telegraf Bold"/>
                </a:rPr>
                <a:t> Affichage de la distribution des variables cibles dans le train set .</a:t>
              </a:r>
            </a:p>
          </p:txBody>
        </p:sp>
      </p:grpSp>
      <p:sp>
        <p:nvSpPr>
          <p:cNvPr id="5" name="Freeform 5"/>
          <p:cNvSpPr/>
          <p:nvPr/>
        </p:nvSpPr>
        <p:spPr>
          <a:xfrm>
            <a:off x="10303437" y="4415892"/>
            <a:ext cx="7178539" cy="5217484"/>
          </a:xfrm>
          <a:custGeom>
            <a:avLst/>
            <a:gdLst/>
            <a:ahLst/>
            <a:cxnLst/>
            <a:rect l="l" t="t" r="r" b="b"/>
            <a:pathLst>
              <a:path w="7178539" h="5217484">
                <a:moveTo>
                  <a:pt x="0" y="0"/>
                </a:moveTo>
                <a:lnTo>
                  <a:pt x="7178539" y="0"/>
                </a:lnTo>
                <a:lnTo>
                  <a:pt x="7178539" y="5217484"/>
                </a:lnTo>
                <a:lnTo>
                  <a:pt x="0" y="5217484"/>
                </a:lnTo>
                <a:lnTo>
                  <a:pt x="0" y="0"/>
                </a:lnTo>
                <a:close/>
              </a:path>
            </a:pathLst>
          </a:custGeom>
          <a:blipFill>
            <a:blip r:embed="rId2"/>
            <a:stretch>
              <a:fillRect/>
            </a:stretch>
          </a:blipFill>
        </p:spPr>
      </p:sp>
      <p:sp>
        <p:nvSpPr>
          <p:cNvPr id="6" name="TextBox 6"/>
          <p:cNvSpPr txBox="1"/>
          <p:nvPr/>
        </p:nvSpPr>
        <p:spPr>
          <a:xfrm>
            <a:off x="852607" y="595031"/>
            <a:ext cx="9797485" cy="3561080"/>
          </a:xfrm>
          <a:prstGeom prst="rect">
            <a:avLst/>
          </a:prstGeom>
        </p:spPr>
        <p:txBody>
          <a:bodyPr lIns="0" tIns="0" rIns="0" bIns="0" rtlCol="0" anchor="t">
            <a:spAutoFit/>
          </a:bodyPr>
          <a:lstStyle/>
          <a:p>
            <a:pPr algn="l">
              <a:lnSpc>
                <a:spcPts val="6699"/>
              </a:lnSpc>
            </a:pPr>
            <a:r>
              <a:rPr lang="en-US" sz="6699" spc="328">
                <a:solidFill>
                  <a:srgbClr val="290606"/>
                </a:solidFill>
                <a:latin typeface="Cheddar"/>
                <a:ea typeface="Cheddar"/>
                <a:cs typeface="Cheddar"/>
                <a:sym typeface="Cheddar"/>
              </a:rPr>
              <a:t>SPLIT DES DONNÉES ET VISUALISATION DE LA DISTRIBUTION DE LA VARIABLE CIBLE</a:t>
            </a:r>
          </a:p>
        </p:txBody>
      </p:sp>
      <p:grpSp>
        <p:nvGrpSpPr>
          <p:cNvPr id="7" name="Group 7"/>
          <p:cNvGrpSpPr/>
          <p:nvPr/>
        </p:nvGrpSpPr>
        <p:grpSpPr>
          <a:xfrm>
            <a:off x="17364075" y="9330701"/>
            <a:ext cx="750152" cy="750152"/>
            <a:chOff x="0" y="0"/>
            <a:chExt cx="812800" cy="812800"/>
          </a:xfrm>
        </p:grpSpPr>
        <p:sp>
          <p:nvSpPr>
            <p:cNvPr id="8" name="Freeform 8"/>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7562B"/>
            </a:solidFill>
          </p:spPr>
        </p:sp>
        <p:sp>
          <p:nvSpPr>
            <p:cNvPr id="9" name="TextBox 9"/>
            <p:cNvSpPr txBox="1"/>
            <p:nvPr/>
          </p:nvSpPr>
          <p:spPr>
            <a:xfrm>
              <a:off x="76200" y="85725"/>
              <a:ext cx="660400" cy="650875"/>
            </a:xfrm>
            <a:prstGeom prst="rect">
              <a:avLst/>
            </a:prstGeom>
          </p:spPr>
          <p:txBody>
            <a:bodyPr lIns="50800" tIns="50800" rIns="50800" bIns="50800" rtlCol="0" anchor="ctr"/>
            <a:lstStyle/>
            <a:p>
              <a:pPr algn="ctr">
                <a:lnSpc>
                  <a:spcPts val="2400"/>
                </a:lnSpc>
              </a:pPr>
              <a:r>
                <a:rPr lang="en-US" sz="2400" b="1" spc="117">
                  <a:solidFill>
                    <a:srgbClr val="FFFFFF"/>
                  </a:solidFill>
                  <a:latin typeface="Telegraf Bold"/>
                  <a:ea typeface="Telegraf Bold"/>
                  <a:cs typeface="Telegraf Bold"/>
                  <a:sym typeface="Telegraf Bold"/>
                </a:rPr>
                <a:t>13</a:t>
              </a:r>
            </a:p>
          </p:txBody>
        </p:sp>
      </p:grpSp>
      <p:pic>
        <p:nvPicPr>
          <p:cNvPr id="11" name="Image 10"/>
          <p:cNvPicPr>
            <a:picLocks noChangeAspect="1"/>
          </p:cNvPicPr>
          <p:nvPr/>
        </p:nvPicPr>
        <p:blipFill>
          <a:blip r:embed="rId3"/>
          <a:stretch>
            <a:fillRect/>
          </a:stretch>
        </p:blipFill>
        <p:spPr>
          <a:xfrm>
            <a:off x="13335000" y="495300"/>
            <a:ext cx="2971800" cy="2499644"/>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EEF4F3"/>
        </a:solidFill>
        <a:effectLst/>
      </p:bgPr>
    </p:bg>
    <p:spTree>
      <p:nvGrpSpPr>
        <p:cNvPr id="1" name=""/>
        <p:cNvGrpSpPr/>
        <p:nvPr/>
      </p:nvGrpSpPr>
      <p:grpSpPr>
        <a:xfrm>
          <a:off x="0" y="0"/>
          <a:ext cx="0" cy="0"/>
          <a:chOff x="0" y="0"/>
          <a:chExt cx="0" cy="0"/>
        </a:xfrm>
      </p:grpSpPr>
      <p:graphicFrame>
        <p:nvGraphicFramePr>
          <p:cNvPr id="2" name="Table 2"/>
          <p:cNvGraphicFramePr>
            <a:graphicFrameLocks noGrp="1"/>
          </p:cNvGraphicFramePr>
          <p:nvPr>
            <p:extLst>
              <p:ext uri="{D42A27DB-BD31-4B8C-83A1-F6EECF244321}">
                <p14:modId xmlns:p14="http://schemas.microsoft.com/office/powerpoint/2010/main" val="3529518530"/>
              </p:ext>
            </p:extLst>
          </p:nvPr>
        </p:nvGraphicFramePr>
        <p:xfrm>
          <a:off x="297423" y="1201005"/>
          <a:ext cx="17816803" cy="8682706"/>
        </p:xfrm>
        <a:graphic>
          <a:graphicData uri="http://schemas.openxmlformats.org/drawingml/2006/table">
            <a:tbl>
              <a:tblPr/>
              <a:tblGrid>
                <a:gridCol w="2691130"/>
                <a:gridCol w="15125673"/>
              </a:tblGrid>
              <a:tr h="858191">
                <a:tc>
                  <a:txBody>
                    <a:bodyPr/>
                    <a:lstStyle/>
                    <a:p>
                      <a:pPr algn="l">
                        <a:lnSpc>
                          <a:spcPts val="3219"/>
                        </a:lnSpc>
                        <a:defRPr/>
                      </a:pPr>
                      <a:endParaRPr lang="en-US" sz="1100" dirty="0"/>
                    </a:p>
                  </a:txBody>
                  <a:tcPr marL="190500" marR="190500" marT="190500" marB="190500" anchor="ctr">
                    <a:lnL w="9525" cap="flat" cmpd="sng" algn="ctr">
                      <a:solidFill>
                        <a:srgbClr val="292828"/>
                      </a:solidFill>
                      <a:prstDash val="solid"/>
                      <a:round/>
                      <a:headEnd type="none" w="med" len="med"/>
                      <a:tailEnd type="none" w="med" len="med"/>
                    </a:lnL>
                    <a:lnR w="9525" cap="flat" cmpd="sng" algn="ctr">
                      <a:solidFill>
                        <a:srgbClr val="292828"/>
                      </a:solidFill>
                      <a:prstDash val="solid"/>
                      <a:round/>
                      <a:headEnd type="none" w="med" len="med"/>
                      <a:tailEnd type="none" w="med" len="med"/>
                    </a:lnR>
                    <a:lnT w="9525" cap="flat" cmpd="sng" algn="ctr">
                      <a:solidFill>
                        <a:srgbClr val="292828"/>
                      </a:solidFill>
                      <a:prstDash val="solid"/>
                      <a:round/>
                      <a:headEnd type="none" w="med" len="med"/>
                      <a:tailEnd type="none" w="med" len="med"/>
                    </a:lnT>
                    <a:lnB w="9525" cap="flat" cmpd="sng" algn="ctr">
                      <a:solidFill>
                        <a:srgbClr val="292828"/>
                      </a:solidFill>
                      <a:prstDash val="solid"/>
                      <a:round/>
                      <a:headEnd type="none" w="med" len="med"/>
                      <a:tailEnd type="none" w="med" len="med"/>
                    </a:lnB>
                  </a:tcPr>
                </a:tc>
                <a:tc>
                  <a:txBody>
                    <a:bodyPr/>
                    <a:lstStyle/>
                    <a:p>
                      <a:pPr algn="l">
                        <a:lnSpc>
                          <a:spcPts val="3219"/>
                        </a:lnSpc>
                        <a:defRPr/>
                      </a:pPr>
                      <a:endParaRPr lang="en-US" sz="1100"/>
                    </a:p>
                  </a:txBody>
                  <a:tcPr marL="190500" marR="190500" marT="190500" marB="190500" anchor="ctr">
                    <a:lnL w="9525" cap="flat" cmpd="sng" algn="ctr">
                      <a:solidFill>
                        <a:srgbClr val="292828"/>
                      </a:solidFill>
                      <a:prstDash val="solid"/>
                      <a:round/>
                      <a:headEnd type="none" w="med" len="med"/>
                      <a:tailEnd type="none" w="med" len="med"/>
                    </a:lnL>
                    <a:lnR w="9525" cap="flat" cmpd="sng" algn="ctr">
                      <a:solidFill>
                        <a:srgbClr val="292828"/>
                      </a:solidFill>
                      <a:prstDash val="solid"/>
                      <a:round/>
                      <a:headEnd type="none" w="med" len="med"/>
                      <a:tailEnd type="none" w="med" len="med"/>
                    </a:lnR>
                    <a:lnT w="9525" cap="flat" cmpd="sng" algn="ctr">
                      <a:solidFill>
                        <a:srgbClr val="292828"/>
                      </a:solidFill>
                      <a:prstDash val="solid"/>
                      <a:round/>
                      <a:headEnd type="none" w="med" len="med"/>
                      <a:tailEnd type="none" w="med" len="med"/>
                    </a:lnT>
                    <a:lnB w="9525" cap="flat" cmpd="sng" algn="ctr">
                      <a:solidFill>
                        <a:srgbClr val="292828"/>
                      </a:solidFill>
                      <a:prstDash val="solid"/>
                      <a:round/>
                      <a:headEnd type="none" w="med" len="med"/>
                      <a:tailEnd type="none" w="med" len="med"/>
                    </a:lnB>
                  </a:tcPr>
                </a:tc>
              </a:tr>
              <a:tr h="1197370">
                <a:tc>
                  <a:txBody>
                    <a:bodyPr/>
                    <a:lstStyle/>
                    <a:p>
                      <a:pPr algn="l">
                        <a:lnSpc>
                          <a:spcPts val="3219"/>
                        </a:lnSpc>
                        <a:defRPr/>
                      </a:pPr>
                      <a:endParaRPr lang="en-US" sz="1100"/>
                    </a:p>
                  </a:txBody>
                  <a:tcPr marL="190500" marR="190500" marT="190500" marB="190500" anchor="ctr">
                    <a:lnL w="9525" cap="flat" cmpd="sng" algn="ctr">
                      <a:solidFill>
                        <a:srgbClr val="292828"/>
                      </a:solidFill>
                      <a:prstDash val="solid"/>
                      <a:round/>
                      <a:headEnd type="none" w="med" len="med"/>
                      <a:tailEnd type="none" w="med" len="med"/>
                    </a:lnL>
                    <a:lnR w="9525" cap="flat" cmpd="sng" algn="ctr">
                      <a:solidFill>
                        <a:srgbClr val="292828"/>
                      </a:solidFill>
                      <a:prstDash val="solid"/>
                      <a:round/>
                      <a:headEnd type="none" w="med" len="med"/>
                      <a:tailEnd type="none" w="med" len="med"/>
                    </a:lnR>
                    <a:lnT w="9525" cap="flat" cmpd="sng" algn="ctr">
                      <a:solidFill>
                        <a:srgbClr val="292828"/>
                      </a:solidFill>
                      <a:prstDash val="solid"/>
                      <a:round/>
                      <a:headEnd type="none" w="med" len="med"/>
                      <a:tailEnd type="none" w="med" len="med"/>
                    </a:lnT>
                    <a:lnB w="9525" cap="flat" cmpd="sng" algn="ctr">
                      <a:solidFill>
                        <a:srgbClr val="292828"/>
                      </a:solidFill>
                      <a:prstDash val="solid"/>
                      <a:round/>
                      <a:headEnd type="none" w="med" len="med"/>
                      <a:tailEnd type="none" w="med" len="med"/>
                    </a:lnB>
                  </a:tcPr>
                </a:tc>
                <a:tc>
                  <a:txBody>
                    <a:bodyPr/>
                    <a:lstStyle/>
                    <a:p>
                      <a:pPr algn="l">
                        <a:lnSpc>
                          <a:spcPts val="2939"/>
                        </a:lnSpc>
                        <a:defRPr/>
                      </a:pPr>
                      <a:r>
                        <a:rPr lang="en-US" sz="2099">
                          <a:solidFill>
                            <a:srgbClr val="000000"/>
                          </a:solidFill>
                          <a:latin typeface="Arimo"/>
                          <a:ea typeface="Arimo"/>
                          <a:cs typeface="Arimo"/>
                          <a:sym typeface="Arimo"/>
                        </a:rPr>
                        <a:t>XGBoost (Extreme Gradient Boosting) est un algorithme basé sur le boosting d'arbres de décision, où plusieurs arbres sont entraînés séquentiellement pour corriger les erreurs des arbres précédents.</a:t>
                      </a:r>
                      <a:endParaRPr lang="en-US" sz="1100"/>
                    </a:p>
                  </a:txBody>
                  <a:tcPr marL="190500" marR="190500" marT="190500" marB="190500" anchor="ctr">
                    <a:lnL w="9525" cap="flat" cmpd="sng" algn="ctr">
                      <a:solidFill>
                        <a:srgbClr val="292828"/>
                      </a:solidFill>
                      <a:prstDash val="solid"/>
                      <a:round/>
                      <a:headEnd type="none" w="med" len="med"/>
                      <a:tailEnd type="none" w="med" len="med"/>
                    </a:lnL>
                    <a:lnR w="9525" cap="flat" cmpd="sng" algn="ctr">
                      <a:solidFill>
                        <a:srgbClr val="292828"/>
                      </a:solidFill>
                      <a:prstDash val="solid"/>
                      <a:round/>
                      <a:headEnd type="none" w="med" len="med"/>
                      <a:tailEnd type="none" w="med" len="med"/>
                    </a:lnR>
                    <a:lnT w="9525" cap="flat" cmpd="sng" algn="ctr">
                      <a:solidFill>
                        <a:srgbClr val="292828"/>
                      </a:solidFill>
                      <a:prstDash val="solid"/>
                      <a:round/>
                      <a:headEnd type="none" w="med" len="med"/>
                      <a:tailEnd type="none" w="med" len="med"/>
                    </a:lnT>
                    <a:lnB w="9525" cap="flat" cmpd="sng" algn="ctr">
                      <a:solidFill>
                        <a:srgbClr val="292828"/>
                      </a:solidFill>
                      <a:prstDash val="solid"/>
                      <a:round/>
                      <a:headEnd type="none" w="med" len="med"/>
                      <a:tailEnd type="none" w="med" len="med"/>
                    </a:lnB>
                  </a:tcPr>
                </a:tc>
              </a:tr>
              <a:tr h="1191933">
                <a:tc>
                  <a:txBody>
                    <a:bodyPr/>
                    <a:lstStyle/>
                    <a:p>
                      <a:pPr algn="l">
                        <a:lnSpc>
                          <a:spcPts val="3219"/>
                        </a:lnSpc>
                        <a:defRPr/>
                      </a:pPr>
                      <a:endParaRPr lang="en-US" sz="1100"/>
                    </a:p>
                  </a:txBody>
                  <a:tcPr marL="190500" marR="190500" marT="190500" marB="190500" anchor="ctr">
                    <a:lnL w="9525" cap="flat" cmpd="sng" algn="ctr">
                      <a:solidFill>
                        <a:srgbClr val="292828"/>
                      </a:solidFill>
                      <a:prstDash val="solid"/>
                      <a:round/>
                      <a:headEnd type="none" w="med" len="med"/>
                      <a:tailEnd type="none" w="med" len="med"/>
                    </a:lnL>
                    <a:lnR w="9525" cap="flat" cmpd="sng" algn="ctr">
                      <a:solidFill>
                        <a:srgbClr val="292828"/>
                      </a:solidFill>
                      <a:prstDash val="solid"/>
                      <a:round/>
                      <a:headEnd type="none" w="med" len="med"/>
                      <a:tailEnd type="none" w="med" len="med"/>
                    </a:lnR>
                    <a:lnT w="9525" cap="flat" cmpd="sng" algn="ctr">
                      <a:solidFill>
                        <a:srgbClr val="292828"/>
                      </a:solidFill>
                      <a:prstDash val="solid"/>
                      <a:round/>
                      <a:headEnd type="none" w="med" len="med"/>
                      <a:tailEnd type="none" w="med" len="med"/>
                    </a:lnT>
                    <a:lnB w="9525" cap="flat" cmpd="sng" algn="ctr">
                      <a:solidFill>
                        <a:srgbClr val="292828"/>
                      </a:solidFill>
                      <a:prstDash val="solid"/>
                      <a:round/>
                      <a:headEnd type="none" w="med" len="med"/>
                      <a:tailEnd type="none" w="med" len="med"/>
                    </a:lnB>
                  </a:tcPr>
                </a:tc>
                <a:tc>
                  <a:txBody>
                    <a:bodyPr/>
                    <a:lstStyle/>
                    <a:p>
                      <a:pPr algn="l">
                        <a:lnSpc>
                          <a:spcPts val="2939"/>
                        </a:lnSpc>
                        <a:defRPr/>
                      </a:pPr>
                      <a:r>
                        <a:rPr lang="en-US" sz="2099">
                          <a:solidFill>
                            <a:srgbClr val="000000"/>
                          </a:solidFill>
                          <a:latin typeface="Arimo"/>
                          <a:ea typeface="Arimo"/>
                          <a:cs typeface="Arimo"/>
                          <a:sym typeface="Arimo"/>
                        </a:rPr>
                        <a:t>Il est utilisé pour les tâches de classification et de régression en améliorant progressivement la précision grâce à l’optimisation du gradient.</a:t>
                      </a:r>
                      <a:endParaRPr lang="en-US" sz="1100"/>
                    </a:p>
                  </a:txBody>
                  <a:tcPr marL="190500" marR="190500" marT="190500" marB="190500" anchor="ctr">
                    <a:lnL w="9525" cap="flat" cmpd="sng" algn="ctr">
                      <a:solidFill>
                        <a:srgbClr val="292828"/>
                      </a:solidFill>
                      <a:prstDash val="solid"/>
                      <a:round/>
                      <a:headEnd type="none" w="med" len="med"/>
                      <a:tailEnd type="none" w="med" len="med"/>
                    </a:lnL>
                    <a:lnR w="9525" cap="flat" cmpd="sng" algn="ctr">
                      <a:solidFill>
                        <a:srgbClr val="292828"/>
                      </a:solidFill>
                      <a:prstDash val="solid"/>
                      <a:round/>
                      <a:headEnd type="none" w="med" len="med"/>
                      <a:tailEnd type="none" w="med" len="med"/>
                    </a:lnR>
                    <a:lnT w="9525" cap="flat" cmpd="sng" algn="ctr">
                      <a:solidFill>
                        <a:srgbClr val="292828"/>
                      </a:solidFill>
                      <a:prstDash val="solid"/>
                      <a:round/>
                      <a:headEnd type="none" w="med" len="med"/>
                      <a:tailEnd type="none" w="med" len="med"/>
                    </a:lnT>
                    <a:lnB w="9525" cap="flat" cmpd="sng" algn="ctr">
                      <a:solidFill>
                        <a:srgbClr val="292828"/>
                      </a:solidFill>
                      <a:prstDash val="solid"/>
                      <a:round/>
                      <a:headEnd type="none" w="med" len="med"/>
                      <a:tailEnd type="none" w="med" len="med"/>
                    </a:lnB>
                  </a:tcPr>
                </a:tc>
              </a:tr>
              <a:tr h="1935698">
                <a:tc>
                  <a:txBody>
                    <a:bodyPr/>
                    <a:lstStyle/>
                    <a:p>
                      <a:pPr algn="l">
                        <a:lnSpc>
                          <a:spcPts val="3219"/>
                        </a:lnSpc>
                        <a:defRPr/>
                      </a:pPr>
                      <a:endParaRPr lang="en-US" sz="1100"/>
                    </a:p>
                  </a:txBody>
                  <a:tcPr marL="190500" marR="190500" marT="190500" marB="190500" anchor="ctr">
                    <a:lnL w="9525" cap="flat" cmpd="sng" algn="ctr">
                      <a:solidFill>
                        <a:srgbClr val="292828"/>
                      </a:solidFill>
                      <a:prstDash val="solid"/>
                      <a:round/>
                      <a:headEnd type="none" w="med" len="med"/>
                      <a:tailEnd type="none" w="med" len="med"/>
                    </a:lnL>
                    <a:lnR w="9525" cap="flat" cmpd="sng" algn="ctr">
                      <a:solidFill>
                        <a:srgbClr val="292828"/>
                      </a:solidFill>
                      <a:prstDash val="solid"/>
                      <a:round/>
                      <a:headEnd type="none" w="med" len="med"/>
                      <a:tailEnd type="none" w="med" len="med"/>
                    </a:lnR>
                    <a:lnT w="9525" cap="flat" cmpd="sng" algn="ctr">
                      <a:solidFill>
                        <a:srgbClr val="292828"/>
                      </a:solidFill>
                      <a:prstDash val="solid"/>
                      <a:round/>
                      <a:headEnd type="none" w="med" len="med"/>
                      <a:tailEnd type="none" w="med" len="med"/>
                    </a:lnT>
                    <a:lnB w="9525" cap="flat" cmpd="sng" algn="ctr">
                      <a:solidFill>
                        <a:srgbClr val="292828"/>
                      </a:solidFill>
                      <a:prstDash val="solid"/>
                      <a:round/>
                      <a:headEnd type="none" w="med" len="med"/>
                      <a:tailEnd type="none" w="med" len="med"/>
                    </a:lnB>
                  </a:tcPr>
                </a:tc>
                <a:tc>
                  <a:txBody>
                    <a:bodyPr/>
                    <a:lstStyle/>
                    <a:p>
                      <a:pPr marL="453385" lvl="1" indent="-226693" algn="l">
                        <a:lnSpc>
                          <a:spcPts val="2939"/>
                        </a:lnSpc>
                        <a:buFont typeface="Arial"/>
                        <a:buChar char="•"/>
                        <a:defRPr/>
                      </a:pPr>
                      <a:r>
                        <a:rPr lang="en-US" sz="2099">
                          <a:solidFill>
                            <a:srgbClr val="000000"/>
                          </a:solidFill>
                          <a:latin typeface="Arimo"/>
                          <a:ea typeface="Arimo"/>
                          <a:cs typeface="Arimo"/>
                          <a:sym typeface="Arimo"/>
                        </a:rPr>
                        <a:t>Utilise la régularisation pour éviter le sur-apprentissage. </a:t>
                      </a:r>
                      <a:endParaRPr lang="en-US" sz="1100"/>
                    </a:p>
                    <a:p>
                      <a:pPr marL="453385" lvl="1" indent="-226693" algn="l">
                        <a:lnSpc>
                          <a:spcPts val="2939"/>
                        </a:lnSpc>
                        <a:buFont typeface="Arial"/>
                        <a:buChar char="•"/>
                      </a:pPr>
                      <a:r>
                        <a:rPr lang="en-US" sz="2099">
                          <a:solidFill>
                            <a:srgbClr val="000000"/>
                          </a:solidFill>
                          <a:latin typeface="Arimo"/>
                          <a:ea typeface="Arimo"/>
                          <a:cs typeface="Arimo"/>
                          <a:sym typeface="Arimo"/>
                        </a:rPr>
                        <a:t>Gestion efficace des valeurs manquantes. </a:t>
                      </a:r>
                    </a:p>
                    <a:p>
                      <a:pPr marL="453385" lvl="1" indent="-226693" algn="l">
                        <a:lnSpc>
                          <a:spcPts val="2939"/>
                        </a:lnSpc>
                        <a:buFont typeface="Arial"/>
                        <a:buChar char="•"/>
                      </a:pPr>
                      <a:r>
                        <a:rPr lang="en-US" sz="2099">
                          <a:solidFill>
                            <a:srgbClr val="000000"/>
                          </a:solidFill>
                          <a:latin typeface="Arimo"/>
                          <a:ea typeface="Arimo"/>
                          <a:cs typeface="Arimo"/>
                          <a:sym typeface="Arimo"/>
                        </a:rPr>
                        <a:t>Exploite le parallélisme pour un entraînement rapide. </a:t>
                      </a:r>
                    </a:p>
                    <a:p>
                      <a:pPr marL="453385" lvl="1" indent="-226693" algn="l">
                        <a:lnSpc>
                          <a:spcPts val="2939"/>
                        </a:lnSpc>
                        <a:buFont typeface="Arial"/>
                        <a:buChar char="•"/>
                      </a:pPr>
                      <a:r>
                        <a:rPr lang="en-US" sz="2099">
                          <a:solidFill>
                            <a:srgbClr val="000000"/>
                          </a:solidFill>
                          <a:latin typeface="Arimo"/>
                          <a:ea typeface="Arimo"/>
                          <a:cs typeface="Arimo"/>
                          <a:sym typeface="Arimo"/>
                        </a:rPr>
                        <a:t>Réduction du temps de calcul grâce à une implémentation optimisée.</a:t>
                      </a:r>
                    </a:p>
                  </a:txBody>
                  <a:tcPr marL="190500" marR="190500" marT="190500" marB="190500" anchor="ctr">
                    <a:lnL w="9525" cap="flat" cmpd="sng" algn="ctr">
                      <a:solidFill>
                        <a:srgbClr val="292828"/>
                      </a:solidFill>
                      <a:prstDash val="solid"/>
                      <a:round/>
                      <a:headEnd type="none" w="med" len="med"/>
                      <a:tailEnd type="none" w="med" len="med"/>
                    </a:lnL>
                    <a:lnR w="9525" cap="flat" cmpd="sng" algn="ctr">
                      <a:solidFill>
                        <a:srgbClr val="292828"/>
                      </a:solidFill>
                      <a:prstDash val="solid"/>
                      <a:round/>
                      <a:headEnd type="none" w="med" len="med"/>
                      <a:tailEnd type="none" w="med" len="med"/>
                    </a:lnR>
                    <a:lnT w="9525" cap="flat" cmpd="sng" algn="ctr">
                      <a:solidFill>
                        <a:srgbClr val="292828"/>
                      </a:solidFill>
                      <a:prstDash val="solid"/>
                      <a:round/>
                      <a:headEnd type="none" w="med" len="med"/>
                      <a:tailEnd type="none" w="med" len="med"/>
                    </a:lnT>
                    <a:lnB w="9525" cap="flat" cmpd="sng" algn="ctr">
                      <a:solidFill>
                        <a:srgbClr val="292828"/>
                      </a:solidFill>
                      <a:prstDash val="solid"/>
                      <a:round/>
                      <a:headEnd type="none" w="med" len="med"/>
                      <a:tailEnd type="none" w="med" len="med"/>
                    </a:lnB>
                  </a:tcPr>
                </a:tc>
              </a:tr>
              <a:tr h="1935698">
                <a:tc>
                  <a:txBody>
                    <a:bodyPr/>
                    <a:lstStyle/>
                    <a:p>
                      <a:pPr algn="l">
                        <a:lnSpc>
                          <a:spcPts val="3359"/>
                        </a:lnSpc>
                        <a:defRPr/>
                      </a:pPr>
                      <a:endParaRPr lang="en-US" sz="1100"/>
                    </a:p>
                  </a:txBody>
                  <a:tcPr marL="190500" marR="190500" marT="190500" marB="190500" anchor="ctr">
                    <a:lnL w="9525" cap="flat" cmpd="sng" algn="ctr">
                      <a:solidFill>
                        <a:srgbClr val="292828"/>
                      </a:solidFill>
                      <a:prstDash val="solid"/>
                      <a:round/>
                      <a:headEnd type="none" w="med" len="med"/>
                      <a:tailEnd type="none" w="med" len="med"/>
                    </a:lnL>
                    <a:lnR w="9525" cap="flat" cmpd="sng" algn="ctr">
                      <a:solidFill>
                        <a:srgbClr val="292828"/>
                      </a:solidFill>
                      <a:prstDash val="solid"/>
                      <a:round/>
                      <a:headEnd type="none" w="med" len="med"/>
                      <a:tailEnd type="none" w="med" len="med"/>
                    </a:lnR>
                    <a:lnT w="9525" cap="flat" cmpd="sng" algn="ctr">
                      <a:solidFill>
                        <a:srgbClr val="292828"/>
                      </a:solidFill>
                      <a:prstDash val="solid"/>
                      <a:round/>
                      <a:headEnd type="none" w="med" len="med"/>
                      <a:tailEnd type="none" w="med" len="med"/>
                    </a:lnT>
                    <a:lnB w="9525" cap="flat" cmpd="sng" algn="ctr">
                      <a:solidFill>
                        <a:srgbClr val="292828"/>
                      </a:solidFill>
                      <a:prstDash val="solid"/>
                      <a:round/>
                      <a:headEnd type="none" w="med" len="med"/>
                      <a:tailEnd type="none" w="med" len="med"/>
                    </a:lnB>
                  </a:tcPr>
                </a:tc>
                <a:tc>
                  <a:txBody>
                    <a:bodyPr/>
                    <a:lstStyle/>
                    <a:p>
                      <a:pPr algn="l">
                        <a:lnSpc>
                          <a:spcPts val="2939"/>
                        </a:lnSpc>
                        <a:defRPr/>
                      </a:pPr>
                      <a:r>
                        <a:rPr lang="en-US" sz="2099" dirty="0">
                          <a:solidFill>
                            <a:srgbClr val="00B050"/>
                          </a:solidFill>
                          <a:latin typeface="Arimo"/>
                          <a:ea typeface="Arimo"/>
                          <a:cs typeface="Arimo"/>
                          <a:sym typeface="Arimo"/>
                        </a:rPr>
                        <a:t>✅</a:t>
                      </a:r>
                      <a:r>
                        <a:rPr lang="en-US" sz="2099" dirty="0">
                          <a:solidFill>
                            <a:srgbClr val="000000"/>
                          </a:solidFill>
                          <a:latin typeface="Arimo"/>
                          <a:ea typeface="Arimo"/>
                          <a:cs typeface="Arimo"/>
                          <a:sym typeface="Arimo"/>
                        </a:rPr>
                        <a:t> Haute performance et </a:t>
                      </a:r>
                      <a:r>
                        <a:rPr lang="en-US" sz="2099" dirty="0" err="1">
                          <a:solidFill>
                            <a:srgbClr val="000000"/>
                          </a:solidFill>
                          <a:latin typeface="Arimo"/>
                          <a:ea typeface="Arimo"/>
                          <a:cs typeface="Arimo"/>
                          <a:sym typeface="Arimo"/>
                        </a:rPr>
                        <a:t>précision</a:t>
                      </a:r>
                      <a:r>
                        <a:rPr lang="en-US" sz="2099" dirty="0">
                          <a:solidFill>
                            <a:srgbClr val="000000"/>
                          </a:solidFill>
                          <a:latin typeface="Arimo"/>
                          <a:ea typeface="Arimo"/>
                          <a:cs typeface="Arimo"/>
                          <a:sym typeface="Arimo"/>
                        </a:rPr>
                        <a:t>. </a:t>
                      </a:r>
                      <a:endParaRPr lang="en-US" sz="1100" dirty="0"/>
                    </a:p>
                    <a:p>
                      <a:pPr algn="l">
                        <a:lnSpc>
                          <a:spcPts val="2939"/>
                        </a:lnSpc>
                      </a:pPr>
                      <a:r>
                        <a:rPr lang="en-US" sz="2099" dirty="0">
                          <a:solidFill>
                            <a:srgbClr val="00B050"/>
                          </a:solidFill>
                          <a:latin typeface="Arimo"/>
                          <a:ea typeface="Arimo"/>
                          <a:cs typeface="Arimo"/>
                          <a:sym typeface="Arimo"/>
                        </a:rPr>
                        <a:t>✅</a:t>
                      </a:r>
                      <a:r>
                        <a:rPr lang="en-US" sz="2099" dirty="0">
                          <a:solidFill>
                            <a:srgbClr val="000000"/>
                          </a:solidFill>
                          <a:latin typeface="Arimo"/>
                          <a:ea typeface="Arimo"/>
                          <a:cs typeface="Arimo"/>
                          <a:sym typeface="Arimo"/>
                        </a:rPr>
                        <a:t> </a:t>
                      </a:r>
                      <a:r>
                        <a:rPr lang="en-US" sz="2099" dirty="0" err="1">
                          <a:solidFill>
                            <a:srgbClr val="000000"/>
                          </a:solidFill>
                          <a:latin typeface="Arimo"/>
                          <a:ea typeface="Arimo"/>
                          <a:cs typeface="Arimo"/>
                          <a:sym typeface="Arimo"/>
                        </a:rPr>
                        <a:t>Supporte</a:t>
                      </a:r>
                      <a:r>
                        <a:rPr lang="en-US" sz="2099" dirty="0">
                          <a:solidFill>
                            <a:srgbClr val="000000"/>
                          </a:solidFill>
                          <a:latin typeface="Arimo"/>
                          <a:ea typeface="Arimo"/>
                          <a:cs typeface="Arimo"/>
                          <a:sym typeface="Arimo"/>
                        </a:rPr>
                        <a:t> les </a:t>
                      </a:r>
                      <a:r>
                        <a:rPr lang="en-US" sz="2099" dirty="0" err="1">
                          <a:solidFill>
                            <a:srgbClr val="000000"/>
                          </a:solidFill>
                          <a:latin typeface="Arimo"/>
                          <a:ea typeface="Arimo"/>
                          <a:cs typeface="Arimo"/>
                          <a:sym typeface="Arimo"/>
                        </a:rPr>
                        <a:t>grandes</a:t>
                      </a:r>
                      <a:r>
                        <a:rPr lang="en-US" sz="2099" dirty="0">
                          <a:solidFill>
                            <a:srgbClr val="000000"/>
                          </a:solidFill>
                          <a:latin typeface="Arimo"/>
                          <a:ea typeface="Arimo"/>
                          <a:cs typeface="Arimo"/>
                          <a:sym typeface="Arimo"/>
                        </a:rPr>
                        <a:t> bases de </a:t>
                      </a:r>
                      <a:r>
                        <a:rPr lang="en-US" sz="2099" dirty="0" err="1">
                          <a:solidFill>
                            <a:srgbClr val="000000"/>
                          </a:solidFill>
                          <a:latin typeface="Arimo"/>
                          <a:ea typeface="Arimo"/>
                          <a:cs typeface="Arimo"/>
                          <a:sym typeface="Arimo"/>
                        </a:rPr>
                        <a:t>données</a:t>
                      </a:r>
                      <a:r>
                        <a:rPr lang="en-US" sz="2099" dirty="0">
                          <a:solidFill>
                            <a:srgbClr val="000000"/>
                          </a:solidFill>
                          <a:latin typeface="Arimo"/>
                          <a:ea typeface="Arimo"/>
                          <a:cs typeface="Arimo"/>
                          <a:sym typeface="Arimo"/>
                        </a:rPr>
                        <a:t>. </a:t>
                      </a:r>
                    </a:p>
                    <a:p>
                      <a:pPr algn="l">
                        <a:lnSpc>
                          <a:spcPts val="2939"/>
                        </a:lnSpc>
                      </a:pPr>
                      <a:r>
                        <a:rPr lang="en-US" sz="2099" dirty="0">
                          <a:solidFill>
                            <a:srgbClr val="00B050"/>
                          </a:solidFill>
                          <a:latin typeface="Arimo"/>
                          <a:ea typeface="Arimo"/>
                          <a:cs typeface="Arimo"/>
                          <a:sym typeface="Arimo"/>
                        </a:rPr>
                        <a:t>✅</a:t>
                      </a:r>
                      <a:r>
                        <a:rPr lang="en-US" sz="2099" dirty="0">
                          <a:solidFill>
                            <a:srgbClr val="000000"/>
                          </a:solidFill>
                          <a:latin typeface="Arimo"/>
                          <a:ea typeface="Arimo"/>
                          <a:cs typeface="Arimo"/>
                          <a:sym typeface="Arimo"/>
                        </a:rPr>
                        <a:t> Compatible avec le </a:t>
                      </a:r>
                      <a:r>
                        <a:rPr lang="en-US" sz="2099" dirty="0" err="1">
                          <a:solidFill>
                            <a:srgbClr val="000000"/>
                          </a:solidFill>
                          <a:latin typeface="Arimo"/>
                          <a:ea typeface="Arimo"/>
                          <a:cs typeface="Arimo"/>
                          <a:sym typeface="Arimo"/>
                        </a:rPr>
                        <a:t>traitement</a:t>
                      </a:r>
                      <a:r>
                        <a:rPr lang="en-US" sz="2099" dirty="0">
                          <a:solidFill>
                            <a:srgbClr val="000000"/>
                          </a:solidFill>
                          <a:latin typeface="Arimo"/>
                          <a:ea typeface="Arimo"/>
                          <a:cs typeface="Arimo"/>
                          <a:sym typeface="Arimo"/>
                        </a:rPr>
                        <a:t> des </a:t>
                      </a:r>
                      <a:r>
                        <a:rPr lang="en-US" sz="2099" dirty="0" err="1">
                          <a:solidFill>
                            <a:srgbClr val="000000"/>
                          </a:solidFill>
                          <a:latin typeface="Arimo"/>
                          <a:ea typeface="Arimo"/>
                          <a:cs typeface="Arimo"/>
                          <a:sym typeface="Arimo"/>
                        </a:rPr>
                        <a:t>données</a:t>
                      </a:r>
                      <a:r>
                        <a:rPr lang="en-US" sz="2099" dirty="0">
                          <a:solidFill>
                            <a:srgbClr val="000000"/>
                          </a:solidFill>
                          <a:latin typeface="Arimo"/>
                          <a:ea typeface="Arimo"/>
                          <a:cs typeface="Arimo"/>
                          <a:sym typeface="Arimo"/>
                        </a:rPr>
                        <a:t> </a:t>
                      </a:r>
                      <a:r>
                        <a:rPr lang="en-US" sz="2099" dirty="0" err="1">
                          <a:solidFill>
                            <a:srgbClr val="000000"/>
                          </a:solidFill>
                          <a:latin typeface="Arimo"/>
                          <a:ea typeface="Arimo"/>
                          <a:cs typeface="Arimo"/>
                          <a:sym typeface="Arimo"/>
                        </a:rPr>
                        <a:t>hétérogènes</a:t>
                      </a:r>
                      <a:r>
                        <a:rPr lang="en-US" sz="2099" dirty="0">
                          <a:solidFill>
                            <a:srgbClr val="000000"/>
                          </a:solidFill>
                          <a:latin typeface="Arimo"/>
                          <a:ea typeface="Arimo"/>
                          <a:cs typeface="Arimo"/>
                          <a:sym typeface="Arimo"/>
                        </a:rPr>
                        <a:t>. </a:t>
                      </a:r>
                    </a:p>
                    <a:p>
                      <a:pPr algn="l">
                        <a:lnSpc>
                          <a:spcPts val="2939"/>
                        </a:lnSpc>
                      </a:pPr>
                      <a:r>
                        <a:rPr lang="en-US" sz="2099" dirty="0">
                          <a:solidFill>
                            <a:srgbClr val="00B050"/>
                          </a:solidFill>
                          <a:latin typeface="Arimo"/>
                          <a:ea typeface="Arimo"/>
                          <a:cs typeface="Arimo"/>
                          <a:sym typeface="Arimo"/>
                        </a:rPr>
                        <a:t>✅</a:t>
                      </a:r>
                      <a:r>
                        <a:rPr lang="en-US" sz="2099" dirty="0">
                          <a:solidFill>
                            <a:srgbClr val="000000"/>
                          </a:solidFill>
                          <a:latin typeface="Arimo"/>
                          <a:ea typeface="Arimo"/>
                          <a:cs typeface="Arimo"/>
                          <a:sym typeface="Arimo"/>
                        </a:rPr>
                        <a:t> </a:t>
                      </a:r>
                      <a:r>
                        <a:rPr lang="en-US" sz="2099" dirty="0" err="1">
                          <a:solidFill>
                            <a:srgbClr val="000000"/>
                          </a:solidFill>
                          <a:latin typeface="Arimo"/>
                          <a:ea typeface="Arimo"/>
                          <a:cs typeface="Arimo"/>
                          <a:sym typeface="Arimo"/>
                        </a:rPr>
                        <a:t>Facilement</a:t>
                      </a:r>
                      <a:r>
                        <a:rPr lang="en-US" sz="2099" dirty="0">
                          <a:solidFill>
                            <a:srgbClr val="000000"/>
                          </a:solidFill>
                          <a:latin typeface="Arimo"/>
                          <a:ea typeface="Arimo"/>
                          <a:cs typeface="Arimo"/>
                          <a:sym typeface="Arimo"/>
                        </a:rPr>
                        <a:t> </a:t>
                      </a:r>
                      <a:r>
                        <a:rPr lang="en-US" sz="2099" dirty="0" err="1">
                          <a:solidFill>
                            <a:srgbClr val="000000"/>
                          </a:solidFill>
                          <a:latin typeface="Arimo"/>
                          <a:ea typeface="Arimo"/>
                          <a:cs typeface="Arimo"/>
                          <a:sym typeface="Arimo"/>
                        </a:rPr>
                        <a:t>ajustable</a:t>
                      </a:r>
                      <a:r>
                        <a:rPr lang="en-US" sz="2099" dirty="0">
                          <a:solidFill>
                            <a:srgbClr val="000000"/>
                          </a:solidFill>
                          <a:latin typeface="Arimo"/>
                          <a:ea typeface="Arimo"/>
                          <a:cs typeface="Arimo"/>
                          <a:sym typeface="Arimo"/>
                        </a:rPr>
                        <a:t> avec des </a:t>
                      </a:r>
                      <a:r>
                        <a:rPr lang="en-US" sz="2099" dirty="0" err="1">
                          <a:solidFill>
                            <a:srgbClr val="000000"/>
                          </a:solidFill>
                          <a:latin typeface="Arimo"/>
                          <a:ea typeface="Arimo"/>
                          <a:cs typeface="Arimo"/>
                          <a:sym typeface="Arimo"/>
                        </a:rPr>
                        <a:t>hyperparamètres</a:t>
                      </a:r>
                      <a:r>
                        <a:rPr lang="en-US" sz="2099" dirty="0">
                          <a:solidFill>
                            <a:srgbClr val="000000"/>
                          </a:solidFill>
                          <a:latin typeface="Arimo"/>
                          <a:ea typeface="Arimo"/>
                          <a:cs typeface="Arimo"/>
                          <a:sym typeface="Arimo"/>
                        </a:rPr>
                        <a:t>.</a:t>
                      </a:r>
                    </a:p>
                  </a:txBody>
                  <a:tcPr marL="190500" marR="190500" marT="190500" marB="190500" anchor="ctr">
                    <a:lnL w="9525" cap="flat" cmpd="sng" algn="ctr">
                      <a:solidFill>
                        <a:srgbClr val="292828"/>
                      </a:solidFill>
                      <a:prstDash val="solid"/>
                      <a:round/>
                      <a:headEnd type="none" w="med" len="med"/>
                      <a:tailEnd type="none" w="med" len="med"/>
                    </a:lnL>
                    <a:lnR w="9525" cap="flat" cmpd="sng" algn="ctr">
                      <a:solidFill>
                        <a:srgbClr val="292828"/>
                      </a:solidFill>
                      <a:prstDash val="solid"/>
                      <a:round/>
                      <a:headEnd type="none" w="med" len="med"/>
                      <a:tailEnd type="none" w="med" len="med"/>
                    </a:lnR>
                    <a:lnT w="9525" cap="flat" cmpd="sng" algn="ctr">
                      <a:solidFill>
                        <a:srgbClr val="292828"/>
                      </a:solidFill>
                      <a:prstDash val="solid"/>
                      <a:round/>
                      <a:headEnd type="none" w="med" len="med"/>
                      <a:tailEnd type="none" w="med" len="med"/>
                    </a:lnT>
                    <a:lnB w="9525" cap="flat" cmpd="sng" algn="ctr">
                      <a:solidFill>
                        <a:srgbClr val="292828"/>
                      </a:solidFill>
                      <a:prstDash val="solid"/>
                      <a:round/>
                      <a:headEnd type="none" w="med" len="med"/>
                      <a:tailEnd type="none" w="med" len="med"/>
                    </a:lnB>
                  </a:tcPr>
                </a:tc>
              </a:tr>
              <a:tr h="1563816">
                <a:tc>
                  <a:txBody>
                    <a:bodyPr/>
                    <a:lstStyle/>
                    <a:p>
                      <a:pPr algn="l">
                        <a:lnSpc>
                          <a:spcPts val="3219"/>
                        </a:lnSpc>
                        <a:defRPr/>
                      </a:pPr>
                      <a:endParaRPr lang="en-US" sz="1100"/>
                    </a:p>
                  </a:txBody>
                  <a:tcPr marL="190500" marR="190500" marT="190500" marB="190500" anchor="ctr">
                    <a:lnL w="9525" cap="flat" cmpd="sng" algn="ctr">
                      <a:solidFill>
                        <a:srgbClr val="292828"/>
                      </a:solidFill>
                      <a:prstDash val="solid"/>
                      <a:round/>
                      <a:headEnd type="none" w="med" len="med"/>
                      <a:tailEnd type="none" w="med" len="med"/>
                    </a:lnL>
                    <a:lnR w="9525" cap="flat" cmpd="sng" algn="ctr">
                      <a:solidFill>
                        <a:srgbClr val="292828"/>
                      </a:solidFill>
                      <a:prstDash val="solid"/>
                      <a:round/>
                      <a:headEnd type="none" w="med" len="med"/>
                      <a:tailEnd type="none" w="med" len="med"/>
                    </a:lnR>
                    <a:lnT w="9525" cap="flat" cmpd="sng" algn="ctr">
                      <a:solidFill>
                        <a:srgbClr val="292828"/>
                      </a:solidFill>
                      <a:prstDash val="solid"/>
                      <a:round/>
                      <a:headEnd type="none" w="med" len="med"/>
                      <a:tailEnd type="none" w="med" len="med"/>
                    </a:lnT>
                    <a:lnB w="9525" cap="flat" cmpd="sng" algn="ctr">
                      <a:solidFill>
                        <a:srgbClr val="292828"/>
                      </a:solidFill>
                      <a:prstDash val="solid"/>
                      <a:round/>
                      <a:headEnd type="none" w="med" len="med"/>
                      <a:tailEnd type="none" w="med" len="med"/>
                    </a:lnB>
                  </a:tcPr>
                </a:tc>
                <a:tc>
                  <a:txBody>
                    <a:bodyPr/>
                    <a:lstStyle/>
                    <a:p>
                      <a:pPr algn="l">
                        <a:lnSpc>
                          <a:spcPts val="2939"/>
                        </a:lnSpc>
                        <a:defRPr/>
                      </a:pPr>
                      <a:r>
                        <a:rPr lang="en-US" sz="2099" dirty="0">
                          <a:solidFill>
                            <a:srgbClr val="FF0000"/>
                          </a:solidFill>
                          <a:latin typeface="Arimo"/>
                          <a:ea typeface="Arimo"/>
                          <a:cs typeface="Arimo"/>
                          <a:sym typeface="Arimo"/>
                        </a:rPr>
                        <a:t>❌</a:t>
                      </a:r>
                      <a:r>
                        <a:rPr lang="en-US" sz="2099" dirty="0">
                          <a:solidFill>
                            <a:srgbClr val="000000"/>
                          </a:solidFill>
                          <a:latin typeface="Arimo"/>
                          <a:ea typeface="Arimo"/>
                          <a:cs typeface="Arimo"/>
                          <a:sym typeface="Arimo"/>
                        </a:rPr>
                        <a:t> </a:t>
                      </a:r>
                      <a:r>
                        <a:rPr lang="en-US" sz="2099" dirty="0" err="1">
                          <a:solidFill>
                            <a:srgbClr val="000000"/>
                          </a:solidFill>
                          <a:latin typeface="Arimo"/>
                          <a:ea typeface="Arimo"/>
                          <a:cs typeface="Arimo"/>
                          <a:sym typeface="Arimo"/>
                        </a:rPr>
                        <a:t>Peut</a:t>
                      </a:r>
                      <a:r>
                        <a:rPr lang="en-US" sz="2099" dirty="0">
                          <a:solidFill>
                            <a:srgbClr val="000000"/>
                          </a:solidFill>
                          <a:latin typeface="Arimo"/>
                          <a:ea typeface="Arimo"/>
                          <a:cs typeface="Arimo"/>
                          <a:sym typeface="Arimo"/>
                        </a:rPr>
                        <a:t> </a:t>
                      </a:r>
                      <a:r>
                        <a:rPr lang="en-US" sz="2099" dirty="0" err="1">
                          <a:solidFill>
                            <a:srgbClr val="000000"/>
                          </a:solidFill>
                          <a:latin typeface="Arimo"/>
                          <a:ea typeface="Arimo"/>
                          <a:cs typeface="Arimo"/>
                          <a:sym typeface="Arimo"/>
                        </a:rPr>
                        <a:t>être</a:t>
                      </a:r>
                      <a:r>
                        <a:rPr lang="en-US" sz="2099" dirty="0">
                          <a:solidFill>
                            <a:srgbClr val="000000"/>
                          </a:solidFill>
                          <a:latin typeface="Arimo"/>
                          <a:ea typeface="Arimo"/>
                          <a:cs typeface="Arimo"/>
                          <a:sym typeface="Arimo"/>
                        </a:rPr>
                        <a:t> sensible aux </a:t>
                      </a:r>
                      <a:r>
                        <a:rPr lang="en-US" sz="2099" dirty="0" err="1">
                          <a:solidFill>
                            <a:srgbClr val="000000"/>
                          </a:solidFill>
                          <a:latin typeface="Arimo"/>
                          <a:ea typeface="Arimo"/>
                          <a:cs typeface="Arimo"/>
                          <a:sym typeface="Arimo"/>
                        </a:rPr>
                        <a:t>hyperparamètres</a:t>
                      </a:r>
                      <a:r>
                        <a:rPr lang="en-US" sz="2099" dirty="0">
                          <a:solidFill>
                            <a:srgbClr val="000000"/>
                          </a:solidFill>
                          <a:latin typeface="Arimo"/>
                          <a:ea typeface="Arimo"/>
                          <a:cs typeface="Arimo"/>
                          <a:sym typeface="Arimo"/>
                        </a:rPr>
                        <a:t>. </a:t>
                      </a:r>
                      <a:endParaRPr lang="en-US" sz="1100" dirty="0"/>
                    </a:p>
                    <a:p>
                      <a:pPr algn="l">
                        <a:lnSpc>
                          <a:spcPts val="2939"/>
                        </a:lnSpc>
                      </a:pPr>
                      <a:r>
                        <a:rPr lang="en-US" sz="2099" dirty="0">
                          <a:solidFill>
                            <a:srgbClr val="FF0000"/>
                          </a:solidFill>
                          <a:latin typeface="Arimo"/>
                          <a:ea typeface="Arimo"/>
                          <a:cs typeface="Arimo"/>
                          <a:sym typeface="Arimo"/>
                        </a:rPr>
                        <a:t>❌ </a:t>
                      </a:r>
                      <a:r>
                        <a:rPr lang="en-US" sz="2099" dirty="0">
                          <a:solidFill>
                            <a:srgbClr val="000000"/>
                          </a:solidFill>
                          <a:latin typeface="Arimo"/>
                          <a:ea typeface="Arimo"/>
                          <a:cs typeface="Arimo"/>
                          <a:sym typeface="Arimo"/>
                        </a:rPr>
                        <a:t>Temps </a:t>
                      </a:r>
                      <a:r>
                        <a:rPr lang="en-US" sz="2099" dirty="0" err="1">
                          <a:solidFill>
                            <a:srgbClr val="000000"/>
                          </a:solidFill>
                          <a:latin typeface="Arimo"/>
                          <a:ea typeface="Arimo"/>
                          <a:cs typeface="Arimo"/>
                          <a:sym typeface="Arimo"/>
                        </a:rPr>
                        <a:t>d’entraînement</a:t>
                      </a:r>
                      <a:r>
                        <a:rPr lang="en-US" sz="2099" dirty="0">
                          <a:solidFill>
                            <a:srgbClr val="000000"/>
                          </a:solidFill>
                          <a:latin typeface="Arimo"/>
                          <a:ea typeface="Arimo"/>
                          <a:cs typeface="Arimo"/>
                          <a:sym typeface="Arimo"/>
                        </a:rPr>
                        <a:t> plus long sur des </a:t>
                      </a:r>
                      <a:r>
                        <a:rPr lang="en-US" sz="2099" dirty="0" err="1">
                          <a:solidFill>
                            <a:srgbClr val="000000"/>
                          </a:solidFill>
                          <a:latin typeface="Arimo"/>
                          <a:ea typeface="Arimo"/>
                          <a:cs typeface="Arimo"/>
                          <a:sym typeface="Arimo"/>
                        </a:rPr>
                        <a:t>jeux</a:t>
                      </a:r>
                      <a:r>
                        <a:rPr lang="en-US" sz="2099" dirty="0">
                          <a:solidFill>
                            <a:srgbClr val="000000"/>
                          </a:solidFill>
                          <a:latin typeface="Arimo"/>
                          <a:ea typeface="Arimo"/>
                          <a:cs typeface="Arimo"/>
                          <a:sym typeface="Arimo"/>
                        </a:rPr>
                        <a:t> de </a:t>
                      </a:r>
                      <a:r>
                        <a:rPr lang="en-US" sz="2099" dirty="0" err="1">
                          <a:solidFill>
                            <a:srgbClr val="000000"/>
                          </a:solidFill>
                          <a:latin typeface="Arimo"/>
                          <a:ea typeface="Arimo"/>
                          <a:cs typeface="Arimo"/>
                          <a:sym typeface="Arimo"/>
                        </a:rPr>
                        <a:t>données</a:t>
                      </a:r>
                      <a:r>
                        <a:rPr lang="en-US" sz="2099" dirty="0">
                          <a:solidFill>
                            <a:srgbClr val="000000"/>
                          </a:solidFill>
                          <a:latin typeface="Arimo"/>
                          <a:ea typeface="Arimo"/>
                          <a:cs typeface="Arimo"/>
                          <a:sym typeface="Arimo"/>
                        </a:rPr>
                        <a:t> complexes. </a:t>
                      </a:r>
                    </a:p>
                    <a:p>
                      <a:pPr algn="l">
                        <a:lnSpc>
                          <a:spcPts val="2939"/>
                        </a:lnSpc>
                      </a:pPr>
                      <a:r>
                        <a:rPr lang="en-US" sz="2099" dirty="0">
                          <a:solidFill>
                            <a:srgbClr val="FF0000"/>
                          </a:solidFill>
                          <a:latin typeface="Arimo"/>
                          <a:ea typeface="Arimo"/>
                          <a:cs typeface="Arimo"/>
                          <a:sym typeface="Arimo"/>
                        </a:rPr>
                        <a:t>❌</a:t>
                      </a:r>
                      <a:r>
                        <a:rPr lang="en-US" sz="2099" dirty="0">
                          <a:solidFill>
                            <a:srgbClr val="000000"/>
                          </a:solidFill>
                          <a:latin typeface="Arimo"/>
                          <a:ea typeface="Arimo"/>
                          <a:cs typeface="Arimo"/>
                          <a:sym typeface="Arimo"/>
                        </a:rPr>
                        <a:t> </a:t>
                      </a:r>
                      <a:r>
                        <a:rPr lang="en-US" sz="2099" dirty="0" err="1">
                          <a:solidFill>
                            <a:srgbClr val="000000"/>
                          </a:solidFill>
                          <a:latin typeface="Arimo"/>
                          <a:ea typeface="Arimo"/>
                          <a:cs typeface="Arimo"/>
                          <a:sym typeface="Arimo"/>
                        </a:rPr>
                        <a:t>Risque</a:t>
                      </a:r>
                      <a:r>
                        <a:rPr lang="en-US" sz="2099" dirty="0">
                          <a:solidFill>
                            <a:srgbClr val="000000"/>
                          </a:solidFill>
                          <a:latin typeface="Arimo"/>
                          <a:ea typeface="Arimo"/>
                          <a:cs typeface="Arimo"/>
                          <a:sym typeface="Arimo"/>
                        </a:rPr>
                        <a:t> de sur-</a:t>
                      </a:r>
                      <a:r>
                        <a:rPr lang="en-US" sz="2099" dirty="0" err="1">
                          <a:solidFill>
                            <a:srgbClr val="000000"/>
                          </a:solidFill>
                          <a:latin typeface="Arimo"/>
                          <a:ea typeface="Arimo"/>
                          <a:cs typeface="Arimo"/>
                          <a:sym typeface="Arimo"/>
                        </a:rPr>
                        <a:t>ajustement</a:t>
                      </a:r>
                      <a:r>
                        <a:rPr lang="en-US" sz="2099" dirty="0">
                          <a:solidFill>
                            <a:srgbClr val="000000"/>
                          </a:solidFill>
                          <a:latin typeface="Arimo"/>
                          <a:ea typeface="Arimo"/>
                          <a:cs typeface="Arimo"/>
                          <a:sym typeface="Arimo"/>
                        </a:rPr>
                        <a:t> </a:t>
                      </a:r>
                      <a:r>
                        <a:rPr lang="en-US" sz="2099" dirty="0" err="1">
                          <a:solidFill>
                            <a:srgbClr val="000000"/>
                          </a:solidFill>
                          <a:latin typeface="Arimo"/>
                          <a:ea typeface="Arimo"/>
                          <a:cs typeface="Arimo"/>
                          <a:sym typeface="Arimo"/>
                        </a:rPr>
                        <a:t>si</a:t>
                      </a:r>
                      <a:r>
                        <a:rPr lang="en-US" sz="2099" dirty="0">
                          <a:solidFill>
                            <a:srgbClr val="000000"/>
                          </a:solidFill>
                          <a:latin typeface="Arimo"/>
                          <a:ea typeface="Arimo"/>
                          <a:cs typeface="Arimo"/>
                          <a:sym typeface="Arimo"/>
                        </a:rPr>
                        <a:t> mal </a:t>
                      </a:r>
                      <a:r>
                        <a:rPr lang="en-US" sz="2099" dirty="0" err="1">
                          <a:solidFill>
                            <a:srgbClr val="000000"/>
                          </a:solidFill>
                          <a:latin typeface="Arimo"/>
                          <a:ea typeface="Arimo"/>
                          <a:cs typeface="Arimo"/>
                          <a:sym typeface="Arimo"/>
                        </a:rPr>
                        <a:t>configuré</a:t>
                      </a:r>
                      <a:r>
                        <a:rPr lang="en-US" sz="2099" dirty="0">
                          <a:solidFill>
                            <a:srgbClr val="000000"/>
                          </a:solidFill>
                          <a:latin typeface="Arimo"/>
                          <a:ea typeface="Arimo"/>
                          <a:cs typeface="Arimo"/>
                          <a:sym typeface="Arimo"/>
                        </a:rPr>
                        <a:t>.</a:t>
                      </a:r>
                    </a:p>
                  </a:txBody>
                  <a:tcPr marL="190500" marR="190500" marT="190500" marB="190500" anchor="ctr">
                    <a:lnL w="9525" cap="flat" cmpd="sng" algn="ctr">
                      <a:solidFill>
                        <a:srgbClr val="292828"/>
                      </a:solidFill>
                      <a:prstDash val="solid"/>
                      <a:round/>
                      <a:headEnd type="none" w="med" len="med"/>
                      <a:tailEnd type="none" w="med" len="med"/>
                    </a:lnL>
                    <a:lnR w="9525" cap="flat" cmpd="sng" algn="ctr">
                      <a:solidFill>
                        <a:srgbClr val="292828"/>
                      </a:solidFill>
                      <a:prstDash val="solid"/>
                      <a:round/>
                      <a:headEnd type="none" w="med" len="med"/>
                      <a:tailEnd type="none" w="med" len="med"/>
                    </a:lnR>
                    <a:lnT w="9525" cap="flat" cmpd="sng" algn="ctr">
                      <a:solidFill>
                        <a:srgbClr val="292828"/>
                      </a:solidFill>
                      <a:prstDash val="solid"/>
                      <a:round/>
                      <a:headEnd type="none" w="med" len="med"/>
                      <a:tailEnd type="none" w="med" len="med"/>
                    </a:lnT>
                    <a:lnB w="9525" cap="flat" cmpd="sng" algn="ctr">
                      <a:solidFill>
                        <a:srgbClr val="292828"/>
                      </a:solidFill>
                      <a:prstDash val="solid"/>
                      <a:round/>
                      <a:headEnd type="none" w="med" len="med"/>
                      <a:tailEnd type="none" w="med" len="med"/>
                    </a:lnB>
                  </a:tcPr>
                </a:tc>
              </a:tr>
            </a:tbl>
          </a:graphicData>
        </a:graphic>
      </p:graphicFrame>
      <p:sp>
        <p:nvSpPr>
          <p:cNvPr id="3" name="TextBox 3"/>
          <p:cNvSpPr txBox="1"/>
          <p:nvPr/>
        </p:nvSpPr>
        <p:spPr>
          <a:xfrm>
            <a:off x="656767" y="270730"/>
            <a:ext cx="8115300" cy="930275"/>
          </a:xfrm>
          <a:prstGeom prst="rect">
            <a:avLst/>
          </a:prstGeom>
        </p:spPr>
        <p:txBody>
          <a:bodyPr lIns="0" tIns="0" rIns="0" bIns="0" rtlCol="0" anchor="t">
            <a:spAutoFit/>
          </a:bodyPr>
          <a:lstStyle/>
          <a:p>
            <a:pPr algn="l">
              <a:lnSpc>
                <a:spcPts val="6999"/>
              </a:lnSpc>
            </a:pPr>
            <a:r>
              <a:rPr lang="en-US" sz="6999" spc="342">
                <a:solidFill>
                  <a:srgbClr val="290606"/>
                </a:solidFill>
                <a:latin typeface="TT Berlinerins"/>
                <a:ea typeface="TT Berlinerins"/>
                <a:cs typeface="TT Berlinerins"/>
                <a:sym typeface="TT Berlinerins"/>
              </a:rPr>
              <a:t>ALGORITHME XGBOOST :</a:t>
            </a:r>
          </a:p>
        </p:txBody>
      </p:sp>
      <p:grpSp>
        <p:nvGrpSpPr>
          <p:cNvPr id="4" name="Group 4"/>
          <p:cNvGrpSpPr/>
          <p:nvPr/>
        </p:nvGrpSpPr>
        <p:grpSpPr>
          <a:xfrm>
            <a:off x="17364075" y="9330701"/>
            <a:ext cx="750152" cy="750152"/>
            <a:chOff x="0" y="0"/>
            <a:chExt cx="812800" cy="812800"/>
          </a:xfrm>
        </p:grpSpPr>
        <p:sp>
          <p:nvSpPr>
            <p:cNvPr id="5" name="Freeform 5"/>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7562B"/>
            </a:solidFill>
          </p:spPr>
        </p:sp>
        <p:sp>
          <p:nvSpPr>
            <p:cNvPr id="6" name="TextBox 6"/>
            <p:cNvSpPr txBox="1"/>
            <p:nvPr/>
          </p:nvSpPr>
          <p:spPr>
            <a:xfrm>
              <a:off x="76200" y="85725"/>
              <a:ext cx="660400" cy="650875"/>
            </a:xfrm>
            <a:prstGeom prst="rect">
              <a:avLst/>
            </a:prstGeom>
          </p:spPr>
          <p:txBody>
            <a:bodyPr lIns="50800" tIns="50800" rIns="50800" bIns="50800" rtlCol="0" anchor="ctr"/>
            <a:lstStyle/>
            <a:p>
              <a:pPr algn="ctr">
                <a:lnSpc>
                  <a:spcPts val="2400"/>
                </a:lnSpc>
              </a:pPr>
              <a:r>
                <a:rPr lang="en-US" sz="2400" b="1" spc="117">
                  <a:solidFill>
                    <a:srgbClr val="FFFFFF"/>
                  </a:solidFill>
                  <a:latin typeface="Telegraf Bold"/>
                  <a:ea typeface="Telegraf Bold"/>
                  <a:cs typeface="Telegraf Bold"/>
                  <a:sym typeface="Telegraf Bold"/>
                </a:rPr>
                <a:t>14</a:t>
              </a:r>
            </a:p>
          </p:txBody>
        </p:sp>
      </p:grpSp>
      <p:grpSp>
        <p:nvGrpSpPr>
          <p:cNvPr id="7" name="Group 7"/>
          <p:cNvGrpSpPr/>
          <p:nvPr/>
        </p:nvGrpSpPr>
        <p:grpSpPr>
          <a:xfrm>
            <a:off x="1028700" y="1382041"/>
            <a:ext cx="1294480" cy="507598"/>
            <a:chOff x="0" y="0"/>
            <a:chExt cx="805161" cy="315723"/>
          </a:xfrm>
        </p:grpSpPr>
        <p:sp>
          <p:nvSpPr>
            <p:cNvPr id="8" name="Freeform 8"/>
            <p:cNvSpPr/>
            <p:nvPr/>
          </p:nvSpPr>
          <p:spPr>
            <a:xfrm>
              <a:off x="0" y="0"/>
              <a:ext cx="805161" cy="315723"/>
            </a:xfrm>
            <a:custGeom>
              <a:avLst/>
              <a:gdLst/>
              <a:ahLst/>
              <a:cxnLst/>
              <a:rect l="l" t="t" r="r" b="b"/>
              <a:pathLst>
                <a:path w="805161" h="315723">
                  <a:moveTo>
                    <a:pt x="113634" y="0"/>
                  </a:moveTo>
                  <a:lnTo>
                    <a:pt x="691527" y="0"/>
                  </a:lnTo>
                  <a:cubicBezTo>
                    <a:pt x="754285" y="0"/>
                    <a:pt x="805161" y="50875"/>
                    <a:pt x="805161" y="113634"/>
                  </a:cubicBezTo>
                  <a:lnTo>
                    <a:pt x="805161" y="202090"/>
                  </a:lnTo>
                  <a:cubicBezTo>
                    <a:pt x="805161" y="264848"/>
                    <a:pt x="754285" y="315723"/>
                    <a:pt x="691527" y="315723"/>
                  </a:cubicBezTo>
                  <a:lnTo>
                    <a:pt x="113634" y="315723"/>
                  </a:lnTo>
                  <a:cubicBezTo>
                    <a:pt x="50875" y="315723"/>
                    <a:pt x="0" y="264848"/>
                    <a:pt x="0" y="202090"/>
                  </a:cubicBezTo>
                  <a:lnTo>
                    <a:pt x="0" y="113634"/>
                  </a:lnTo>
                  <a:cubicBezTo>
                    <a:pt x="0" y="50875"/>
                    <a:pt x="50875" y="0"/>
                    <a:pt x="113634" y="0"/>
                  </a:cubicBezTo>
                  <a:close/>
                </a:path>
              </a:pathLst>
            </a:custGeom>
            <a:solidFill>
              <a:srgbClr val="02B676"/>
            </a:solidFill>
          </p:spPr>
        </p:sp>
        <p:sp>
          <p:nvSpPr>
            <p:cNvPr id="9" name="TextBox 9"/>
            <p:cNvSpPr txBox="1"/>
            <p:nvPr/>
          </p:nvSpPr>
          <p:spPr>
            <a:xfrm>
              <a:off x="0" y="38100"/>
              <a:ext cx="805161" cy="277623"/>
            </a:xfrm>
            <a:prstGeom prst="rect">
              <a:avLst/>
            </a:prstGeom>
          </p:spPr>
          <p:txBody>
            <a:bodyPr lIns="50800" tIns="50800" rIns="50800" bIns="50800" rtlCol="0" anchor="ctr"/>
            <a:lstStyle/>
            <a:p>
              <a:pPr algn="ctr">
                <a:lnSpc>
                  <a:spcPts val="2369"/>
                </a:lnSpc>
              </a:pPr>
              <a:r>
                <a:rPr lang="en-US" sz="2300" spc="163">
                  <a:solidFill>
                    <a:srgbClr val="FDF8F8"/>
                  </a:solidFill>
                  <a:latin typeface="TT Berlinerins"/>
                  <a:ea typeface="TT Berlinerins"/>
                  <a:cs typeface="TT Berlinerins"/>
                  <a:sym typeface="TT Berlinerins"/>
                </a:rPr>
                <a:t>Aspect </a:t>
              </a:r>
            </a:p>
          </p:txBody>
        </p:sp>
      </p:grpSp>
      <p:grpSp>
        <p:nvGrpSpPr>
          <p:cNvPr id="10" name="Group 10"/>
          <p:cNvGrpSpPr/>
          <p:nvPr/>
        </p:nvGrpSpPr>
        <p:grpSpPr>
          <a:xfrm>
            <a:off x="9205825" y="1382041"/>
            <a:ext cx="1904996" cy="507598"/>
            <a:chOff x="0" y="0"/>
            <a:chExt cx="1184899" cy="315723"/>
          </a:xfrm>
        </p:grpSpPr>
        <p:sp>
          <p:nvSpPr>
            <p:cNvPr id="11" name="Freeform 11"/>
            <p:cNvSpPr/>
            <p:nvPr/>
          </p:nvSpPr>
          <p:spPr>
            <a:xfrm>
              <a:off x="0" y="0"/>
              <a:ext cx="1184899" cy="315723"/>
            </a:xfrm>
            <a:custGeom>
              <a:avLst/>
              <a:gdLst/>
              <a:ahLst/>
              <a:cxnLst/>
              <a:rect l="l" t="t" r="r" b="b"/>
              <a:pathLst>
                <a:path w="1184899" h="315723">
                  <a:moveTo>
                    <a:pt x="77216" y="0"/>
                  </a:moveTo>
                  <a:lnTo>
                    <a:pt x="1107682" y="0"/>
                  </a:lnTo>
                  <a:cubicBezTo>
                    <a:pt x="1150328" y="0"/>
                    <a:pt x="1184899" y="34571"/>
                    <a:pt x="1184899" y="77216"/>
                  </a:cubicBezTo>
                  <a:lnTo>
                    <a:pt x="1184899" y="238507"/>
                  </a:lnTo>
                  <a:cubicBezTo>
                    <a:pt x="1184899" y="281153"/>
                    <a:pt x="1150328" y="315723"/>
                    <a:pt x="1107682" y="315723"/>
                  </a:cubicBezTo>
                  <a:lnTo>
                    <a:pt x="77216" y="315723"/>
                  </a:lnTo>
                  <a:cubicBezTo>
                    <a:pt x="34571" y="315723"/>
                    <a:pt x="0" y="281153"/>
                    <a:pt x="0" y="238507"/>
                  </a:cubicBezTo>
                  <a:lnTo>
                    <a:pt x="0" y="77216"/>
                  </a:lnTo>
                  <a:cubicBezTo>
                    <a:pt x="0" y="34571"/>
                    <a:pt x="34571" y="0"/>
                    <a:pt x="77216" y="0"/>
                  </a:cubicBezTo>
                  <a:close/>
                </a:path>
              </a:pathLst>
            </a:custGeom>
            <a:solidFill>
              <a:srgbClr val="02B676"/>
            </a:solidFill>
          </p:spPr>
        </p:sp>
        <p:sp>
          <p:nvSpPr>
            <p:cNvPr id="12" name="TextBox 12"/>
            <p:cNvSpPr txBox="1"/>
            <p:nvPr/>
          </p:nvSpPr>
          <p:spPr>
            <a:xfrm>
              <a:off x="0" y="38100"/>
              <a:ext cx="1184899" cy="277623"/>
            </a:xfrm>
            <a:prstGeom prst="rect">
              <a:avLst/>
            </a:prstGeom>
          </p:spPr>
          <p:txBody>
            <a:bodyPr lIns="50800" tIns="50800" rIns="50800" bIns="50800" rtlCol="0" anchor="ctr"/>
            <a:lstStyle/>
            <a:p>
              <a:pPr algn="ctr">
                <a:lnSpc>
                  <a:spcPts val="2369"/>
                </a:lnSpc>
              </a:pPr>
              <a:r>
                <a:rPr lang="en-US" sz="2300" spc="163">
                  <a:solidFill>
                    <a:srgbClr val="FDF8F8"/>
                  </a:solidFill>
                  <a:latin typeface="TT Berlinerins"/>
                  <a:ea typeface="TT Berlinerins"/>
                  <a:cs typeface="TT Berlinerins"/>
                  <a:sym typeface="TT Berlinerins"/>
                </a:rPr>
                <a:t>Description</a:t>
              </a:r>
            </a:p>
          </p:txBody>
        </p:sp>
      </p:grpSp>
      <p:grpSp>
        <p:nvGrpSpPr>
          <p:cNvPr id="13" name="Group 13"/>
          <p:cNvGrpSpPr/>
          <p:nvPr/>
        </p:nvGrpSpPr>
        <p:grpSpPr>
          <a:xfrm>
            <a:off x="501437" y="2426585"/>
            <a:ext cx="2349007" cy="507598"/>
            <a:chOff x="0" y="0"/>
            <a:chExt cx="1461072" cy="315723"/>
          </a:xfrm>
        </p:grpSpPr>
        <p:sp>
          <p:nvSpPr>
            <p:cNvPr id="14" name="Freeform 14"/>
            <p:cNvSpPr/>
            <p:nvPr/>
          </p:nvSpPr>
          <p:spPr>
            <a:xfrm>
              <a:off x="0" y="0"/>
              <a:ext cx="1461072" cy="315723"/>
            </a:xfrm>
            <a:custGeom>
              <a:avLst/>
              <a:gdLst/>
              <a:ahLst/>
              <a:cxnLst/>
              <a:rect l="l" t="t" r="r" b="b"/>
              <a:pathLst>
                <a:path w="1461072" h="315723">
                  <a:moveTo>
                    <a:pt x="62621" y="0"/>
                  </a:moveTo>
                  <a:lnTo>
                    <a:pt x="1398451" y="0"/>
                  </a:lnTo>
                  <a:cubicBezTo>
                    <a:pt x="1415059" y="0"/>
                    <a:pt x="1430987" y="6598"/>
                    <a:pt x="1442730" y="18341"/>
                  </a:cubicBezTo>
                  <a:cubicBezTo>
                    <a:pt x="1454474" y="30085"/>
                    <a:pt x="1461072" y="46013"/>
                    <a:pt x="1461072" y="62621"/>
                  </a:cubicBezTo>
                  <a:lnTo>
                    <a:pt x="1461072" y="253103"/>
                  </a:lnTo>
                  <a:cubicBezTo>
                    <a:pt x="1461072" y="287687"/>
                    <a:pt x="1433035" y="315723"/>
                    <a:pt x="1398451" y="315723"/>
                  </a:cubicBezTo>
                  <a:lnTo>
                    <a:pt x="62621" y="315723"/>
                  </a:lnTo>
                  <a:cubicBezTo>
                    <a:pt x="46013" y="315723"/>
                    <a:pt x="30085" y="309126"/>
                    <a:pt x="18341" y="297382"/>
                  </a:cubicBezTo>
                  <a:cubicBezTo>
                    <a:pt x="6598" y="285639"/>
                    <a:pt x="0" y="269711"/>
                    <a:pt x="0" y="253103"/>
                  </a:cubicBezTo>
                  <a:lnTo>
                    <a:pt x="0" y="62621"/>
                  </a:lnTo>
                  <a:cubicBezTo>
                    <a:pt x="0" y="46013"/>
                    <a:pt x="6598" y="30085"/>
                    <a:pt x="18341" y="18341"/>
                  </a:cubicBezTo>
                  <a:cubicBezTo>
                    <a:pt x="30085" y="6598"/>
                    <a:pt x="46013" y="0"/>
                    <a:pt x="62621" y="0"/>
                  </a:cubicBezTo>
                  <a:close/>
                </a:path>
              </a:pathLst>
            </a:custGeom>
            <a:solidFill>
              <a:srgbClr val="02B676"/>
            </a:solidFill>
          </p:spPr>
        </p:sp>
        <p:sp>
          <p:nvSpPr>
            <p:cNvPr id="15" name="TextBox 15"/>
            <p:cNvSpPr txBox="1"/>
            <p:nvPr/>
          </p:nvSpPr>
          <p:spPr>
            <a:xfrm>
              <a:off x="0" y="38100"/>
              <a:ext cx="1461072" cy="277623"/>
            </a:xfrm>
            <a:prstGeom prst="rect">
              <a:avLst/>
            </a:prstGeom>
          </p:spPr>
          <p:txBody>
            <a:bodyPr lIns="50800" tIns="50800" rIns="50800" bIns="50800" rtlCol="0" anchor="ctr"/>
            <a:lstStyle/>
            <a:p>
              <a:pPr algn="ctr">
                <a:lnSpc>
                  <a:spcPts val="2369"/>
                </a:lnSpc>
              </a:pPr>
              <a:r>
                <a:rPr lang="en-US" sz="2300" spc="163">
                  <a:solidFill>
                    <a:srgbClr val="FDF8F8"/>
                  </a:solidFill>
                  <a:latin typeface="TT Berlinerins"/>
                  <a:ea typeface="TT Berlinerins"/>
                  <a:cs typeface="TT Berlinerins"/>
                  <a:sym typeface="TT Berlinerins"/>
                </a:rPr>
                <a:t>Fonctionnement</a:t>
              </a:r>
            </a:p>
          </p:txBody>
        </p:sp>
      </p:grpSp>
      <p:grpSp>
        <p:nvGrpSpPr>
          <p:cNvPr id="16" name="Group 16"/>
          <p:cNvGrpSpPr/>
          <p:nvPr/>
        </p:nvGrpSpPr>
        <p:grpSpPr>
          <a:xfrm>
            <a:off x="1147579" y="3600932"/>
            <a:ext cx="961472" cy="507598"/>
            <a:chOff x="0" y="0"/>
            <a:chExt cx="598031" cy="315723"/>
          </a:xfrm>
        </p:grpSpPr>
        <p:sp>
          <p:nvSpPr>
            <p:cNvPr id="17" name="Freeform 17"/>
            <p:cNvSpPr/>
            <p:nvPr/>
          </p:nvSpPr>
          <p:spPr>
            <a:xfrm>
              <a:off x="0" y="0"/>
              <a:ext cx="598031" cy="315723"/>
            </a:xfrm>
            <a:custGeom>
              <a:avLst/>
              <a:gdLst/>
              <a:ahLst/>
              <a:cxnLst/>
              <a:rect l="l" t="t" r="r" b="b"/>
              <a:pathLst>
                <a:path w="598031" h="315723">
                  <a:moveTo>
                    <a:pt x="152991" y="0"/>
                  </a:moveTo>
                  <a:lnTo>
                    <a:pt x="445040" y="0"/>
                  </a:lnTo>
                  <a:cubicBezTo>
                    <a:pt x="529535" y="0"/>
                    <a:pt x="598031" y="68496"/>
                    <a:pt x="598031" y="152991"/>
                  </a:cubicBezTo>
                  <a:lnTo>
                    <a:pt x="598031" y="162733"/>
                  </a:lnTo>
                  <a:cubicBezTo>
                    <a:pt x="598031" y="203308"/>
                    <a:pt x="581913" y="242222"/>
                    <a:pt x="553221" y="270913"/>
                  </a:cubicBezTo>
                  <a:cubicBezTo>
                    <a:pt x="524530" y="299605"/>
                    <a:pt x="485616" y="315723"/>
                    <a:pt x="445040" y="315723"/>
                  </a:cubicBezTo>
                  <a:lnTo>
                    <a:pt x="152991" y="315723"/>
                  </a:lnTo>
                  <a:cubicBezTo>
                    <a:pt x="112415" y="315723"/>
                    <a:pt x="73501" y="299605"/>
                    <a:pt x="44810" y="270913"/>
                  </a:cubicBezTo>
                  <a:cubicBezTo>
                    <a:pt x="16119" y="242222"/>
                    <a:pt x="0" y="203308"/>
                    <a:pt x="0" y="162733"/>
                  </a:cubicBezTo>
                  <a:lnTo>
                    <a:pt x="0" y="152991"/>
                  </a:lnTo>
                  <a:cubicBezTo>
                    <a:pt x="0" y="112415"/>
                    <a:pt x="16119" y="73501"/>
                    <a:pt x="44810" y="44810"/>
                  </a:cubicBezTo>
                  <a:cubicBezTo>
                    <a:pt x="73501" y="16119"/>
                    <a:pt x="112415" y="0"/>
                    <a:pt x="152991" y="0"/>
                  </a:cubicBezTo>
                  <a:close/>
                </a:path>
              </a:pathLst>
            </a:custGeom>
            <a:solidFill>
              <a:srgbClr val="02B676"/>
            </a:solidFill>
          </p:spPr>
        </p:sp>
        <p:sp>
          <p:nvSpPr>
            <p:cNvPr id="18" name="TextBox 18"/>
            <p:cNvSpPr txBox="1"/>
            <p:nvPr/>
          </p:nvSpPr>
          <p:spPr>
            <a:xfrm>
              <a:off x="0" y="38100"/>
              <a:ext cx="598031" cy="277623"/>
            </a:xfrm>
            <a:prstGeom prst="rect">
              <a:avLst/>
            </a:prstGeom>
          </p:spPr>
          <p:txBody>
            <a:bodyPr lIns="50800" tIns="50800" rIns="50800" bIns="50800" rtlCol="0" anchor="ctr"/>
            <a:lstStyle/>
            <a:p>
              <a:pPr algn="ctr">
                <a:lnSpc>
                  <a:spcPts val="2369"/>
                </a:lnSpc>
              </a:pPr>
              <a:r>
                <a:rPr lang="en-US" sz="2300" spc="163">
                  <a:solidFill>
                    <a:srgbClr val="FDF8F8"/>
                  </a:solidFill>
                  <a:latin typeface="TT Berlinerins"/>
                  <a:ea typeface="TT Berlinerins"/>
                  <a:cs typeface="TT Berlinerins"/>
                  <a:sym typeface="TT Berlinerins"/>
                </a:rPr>
                <a:t>Rôle</a:t>
              </a:r>
            </a:p>
          </p:txBody>
        </p:sp>
      </p:grpSp>
      <p:grpSp>
        <p:nvGrpSpPr>
          <p:cNvPr id="19" name="Group 19"/>
          <p:cNvGrpSpPr/>
          <p:nvPr/>
        </p:nvGrpSpPr>
        <p:grpSpPr>
          <a:xfrm>
            <a:off x="495438" y="5032455"/>
            <a:ext cx="2265755" cy="802873"/>
            <a:chOff x="0" y="0"/>
            <a:chExt cx="1409289" cy="499383"/>
          </a:xfrm>
        </p:grpSpPr>
        <p:sp>
          <p:nvSpPr>
            <p:cNvPr id="20" name="Freeform 20"/>
            <p:cNvSpPr/>
            <p:nvPr/>
          </p:nvSpPr>
          <p:spPr>
            <a:xfrm>
              <a:off x="0" y="0"/>
              <a:ext cx="1409289" cy="499383"/>
            </a:xfrm>
            <a:custGeom>
              <a:avLst/>
              <a:gdLst/>
              <a:ahLst/>
              <a:cxnLst/>
              <a:rect l="l" t="t" r="r" b="b"/>
              <a:pathLst>
                <a:path w="1409289" h="499383">
                  <a:moveTo>
                    <a:pt x="64922" y="0"/>
                  </a:moveTo>
                  <a:lnTo>
                    <a:pt x="1344368" y="0"/>
                  </a:lnTo>
                  <a:cubicBezTo>
                    <a:pt x="1361586" y="0"/>
                    <a:pt x="1378099" y="6840"/>
                    <a:pt x="1390274" y="19015"/>
                  </a:cubicBezTo>
                  <a:cubicBezTo>
                    <a:pt x="1402449" y="31190"/>
                    <a:pt x="1409289" y="47703"/>
                    <a:pt x="1409289" y="64922"/>
                  </a:cubicBezTo>
                  <a:lnTo>
                    <a:pt x="1409289" y="434462"/>
                  </a:lnTo>
                  <a:cubicBezTo>
                    <a:pt x="1409289" y="470317"/>
                    <a:pt x="1380223" y="499383"/>
                    <a:pt x="1344368" y="499383"/>
                  </a:cubicBezTo>
                  <a:lnTo>
                    <a:pt x="64922" y="499383"/>
                  </a:lnTo>
                  <a:cubicBezTo>
                    <a:pt x="47703" y="499383"/>
                    <a:pt x="31190" y="492543"/>
                    <a:pt x="19015" y="480368"/>
                  </a:cubicBezTo>
                  <a:cubicBezTo>
                    <a:pt x="6840" y="468193"/>
                    <a:pt x="0" y="451680"/>
                    <a:pt x="0" y="434462"/>
                  </a:cubicBezTo>
                  <a:lnTo>
                    <a:pt x="0" y="64922"/>
                  </a:lnTo>
                  <a:cubicBezTo>
                    <a:pt x="0" y="47703"/>
                    <a:pt x="6840" y="31190"/>
                    <a:pt x="19015" y="19015"/>
                  </a:cubicBezTo>
                  <a:cubicBezTo>
                    <a:pt x="31190" y="6840"/>
                    <a:pt x="47703" y="0"/>
                    <a:pt x="64922" y="0"/>
                  </a:cubicBezTo>
                  <a:close/>
                </a:path>
              </a:pathLst>
            </a:custGeom>
            <a:solidFill>
              <a:srgbClr val="02B676"/>
            </a:solidFill>
          </p:spPr>
        </p:sp>
        <p:sp>
          <p:nvSpPr>
            <p:cNvPr id="21" name="TextBox 21"/>
            <p:cNvSpPr txBox="1"/>
            <p:nvPr/>
          </p:nvSpPr>
          <p:spPr>
            <a:xfrm>
              <a:off x="0" y="38100"/>
              <a:ext cx="1409289" cy="461283"/>
            </a:xfrm>
            <a:prstGeom prst="rect">
              <a:avLst/>
            </a:prstGeom>
          </p:spPr>
          <p:txBody>
            <a:bodyPr lIns="50800" tIns="50800" rIns="50800" bIns="50800" rtlCol="0" anchor="ctr"/>
            <a:lstStyle/>
            <a:p>
              <a:pPr algn="ctr">
                <a:lnSpc>
                  <a:spcPts val="2369"/>
                </a:lnSpc>
              </a:pPr>
              <a:r>
                <a:rPr lang="en-US" sz="2300" spc="163">
                  <a:solidFill>
                    <a:srgbClr val="FDF8F8"/>
                  </a:solidFill>
                  <a:latin typeface="TT Berlinerins"/>
                  <a:ea typeface="TT Berlinerins"/>
                  <a:cs typeface="TT Berlinerins"/>
                  <a:sym typeface="TT Berlinerins"/>
                </a:rPr>
                <a:t>Pourquoi est-il efficace ?</a:t>
              </a:r>
            </a:p>
          </p:txBody>
        </p:sp>
      </p:grpSp>
      <p:grpSp>
        <p:nvGrpSpPr>
          <p:cNvPr id="22" name="Group 22"/>
          <p:cNvGrpSpPr/>
          <p:nvPr/>
        </p:nvGrpSpPr>
        <p:grpSpPr>
          <a:xfrm>
            <a:off x="717443" y="7083103"/>
            <a:ext cx="1821744" cy="507598"/>
            <a:chOff x="0" y="0"/>
            <a:chExt cx="1133116" cy="315723"/>
          </a:xfrm>
        </p:grpSpPr>
        <p:sp>
          <p:nvSpPr>
            <p:cNvPr id="23" name="Freeform 23"/>
            <p:cNvSpPr/>
            <p:nvPr/>
          </p:nvSpPr>
          <p:spPr>
            <a:xfrm>
              <a:off x="0" y="0"/>
              <a:ext cx="1133116" cy="315723"/>
            </a:xfrm>
            <a:custGeom>
              <a:avLst/>
              <a:gdLst/>
              <a:ahLst/>
              <a:cxnLst/>
              <a:rect l="l" t="t" r="r" b="b"/>
              <a:pathLst>
                <a:path w="1133116" h="315723">
                  <a:moveTo>
                    <a:pt x="80745" y="0"/>
                  </a:moveTo>
                  <a:lnTo>
                    <a:pt x="1052371" y="0"/>
                  </a:lnTo>
                  <a:cubicBezTo>
                    <a:pt x="1096966" y="0"/>
                    <a:pt x="1133116" y="36151"/>
                    <a:pt x="1133116" y="80745"/>
                  </a:cubicBezTo>
                  <a:lnTo>
                    <a:pt x="1133116" y="234979"/>
                  </a:lnTo>
                  <a:cubicBezTo>
                    <a:pt x="1133116" y="256393"/>
                    <a:pt x="1124609" y="276931"/>
                    <a:pt x="1109467" y="292074"/>
                  </a:cubicBezTo>
                  <a:cubicBezTo>
                    <a:pt x="1094324" y="307216"/>
                    <a:pt x="1073786" y="315723"/>
                    <a:pt x="1052371" y="315723"/>
                  </a:cubicBezTo>
                  <a:lnTo>
                    <a:pt x="80745" y="315723"/>
                  </a:lnTo>
                  <a:cubicBezTo>
                    <a:pt x="59330" y="315723"/>
                    <a:pt x="38792" y="307216"/>
                    <a:pt x="23650" y="292074"/>
                  </a:cubicBezTo>
                  <a:cubicBezTo>
                    <a:pt x="8507" y="276931"/>
                    <a:pt x="0" y="256393"/>
                    <a:pt x="0" y="234979"/>
                  </a:cubicBezTo>
                  <a:lnTo>
                    <a:pt x="0" y="80745"/>
                  </a:lnTo>
                  <a:cubicBezTo>
                    <a:pt x="0" y="59330"/>
                    <a:pt x="8507" y="38792"/>
                    <a:pt x="23650" y="23650"/>
                  </a:cubicBezTo>
                  <a:cubicBezTo>
                    <a:pt x="38792" y="8507"/>
                    <a:pt x="59330" y="0"/>
                    <a:pt x="80745" y="0"/>
                  </a:cubicBezTo>
                  <a:close/>
                </a:path>
              </a:pathLst>
            </a:custGeom>
            <a:solidFill>
              <a:srgbClr val="02B676"/>
            </a:solidFill>
          </p:spPr>
        </p:sp>
        <p:sp>
          <p:nvSpPr>
            <p:cNvPr id="24" name="TextBox 24"/>
            <p:cNvSpPr txBox="1"/>
            <p:nvPr/>
          </p:nvSpPr>
          <p:spPr>
            <a:xfrm>
              <a:off x="0" y="38100"/>
              <a:ext cx="1133116" cy="277623"/>
            </a:xfrm>
            <a:prstGeom prst="rect">
              <a:avLst/>
            </a:prstGeom>
          </p:spPr>
          <p:txBody>
            <a:bodyPr lIns="50800" tIns="50800" rIns="50800" bIns="50800" rtlCol="0" anchor="ctr"/>
            <a:lstStyle/>
            <a:p>
              <a:pPr algn="ctr">
                <a:lnSpc>
                  <a:spcPts val="2369"/>
                </a:lnSpc>
              </a:pPr>
              <a:r>
                <a:rPr lang="en-US" sz="2300" spc="163">
                  <a:solidFill>
                    <a:srgbClr val="FDF8F8"/>
                  </a:solidFill>
                  <a:latin typeface="TT Berlinerins"/>
                  <a:ea typeface="TT Berlinerins"/>
                  <a:cs typeface="TT Berlinerins"/>
                  <a:sym typeface="TT Berlinerins"/>
                </a:rPr>
                <a:t>Avantages</a:t>
              </a:r>
            </a:p>
          </p:txBody>
        </p:sp>
      </p:grpSp>
      <p:grpSp>
        <p:nvGrpSpPr>
          <p:cNvPr id="25" name="Group 25"/>
          <p:cNvGrpSpPr/>
          <p:nvPr/>
        </p:nvGrpSpPr>
        <p:grpSpPr>
          <a:xfrm>
            <a:off x="577743" y="8838476"/>
            <a:ext cx="2101144" cy="507598"/>
            <a:chOff x="0" y="0"/>
            <a:chExt cx="1306902" cy="315723"/>
          </a:xfrm>
        </p:grpSpPr>
        <p:sp>
          <p:nvSpPr>
            <p:cNvPr id="26" name="Freeform 26"/>
            <p:cNvSpPr/>
            <p:nvPr/>
          </p:nvSpPr>
          <p:spPr>
            <a:xfrm>
              <a:off x="0" y="0"/>
              <a:ext cx="1306902" cy="315723"/>
            </a:xfrm>
            <a:custGeom>
              <a:avLst/>
              <a:gdLst/>
              <a:ahLst/>
              <a:cxnLst/>
              <a:rect l="l" t="t" r="r" b="b"/>
              <a:pathLst>
                <a:path w="1306902" h="315723">
                  <a:moveTo>
                    <a:pt x="70008" y="0"/>
                  </a:moveTo>
                  <a:lnTo>
                    <a:pt x="1236894" y="0"/>
                  </a:lnTo>
                  <a:cubicBezTo>
                    <a:pt x="1275558" y="0"/>
                    <a:pt x="1306902" y="31344"/>
                    <a:pt x="1306902" y="70008"/>
                  </a:cubicBezTo>
                  <a:lnTo>
                    <a:pt x="1306902" y="245716"/>
                  </a:lnTo>
                  <a:cubicBezTo>
                    <a:pt x="1306902" y="284380"/>
                    <a:pt x="1275558" y="315723"/>
                    <a:pt x="1236894" y="315723"/>
                  </a:cubicBezTo>
                  <a:lnTo>
                    <a:pt x="70008" y="315723"/>
                  </a:lnTo>
                  <a:cubicBezTo>
                    <a:pt x="31344" y="315723"/>
                    <a:pt x="0" y="284380"/>
                    <a:pt x="0" y="245716"/>
                  </a:cubicBezTo>
                  <a:lnTo>
                    <a:pt x="0" y="70008"/>
                  </a:lnTo>
                  <a:cubicBezTo>
                    <a:pt x="0" y="31344"/>
                    <a:pt x="31344" y="0"/>
                    <a:pt x="70008" y="0"/>
                  </a:cubicBezTo>
                  <a:close/>
                </a:path>
              </a:pathLst>
            </a:custGeom>
            <a:solidFill>
              <a:srgbClr val="02B676"/>
            </a:solidFill>
          </p:spPr>
        </p:sp>
        <p:sp>
          <p:nvSpPr>
            <p:cNvPr id="27" name="TextBox 27"/>
            <p:cNvSpPr txBox="1"/>
            <p:nvPr/>
          </p:nvSpPr>
          <p:spPr>
            <a:xfrm>
              <a:off x="0" y="38100"/>
              <a:ext cx="1306902" cy="277623"/>
            </a:xfrm>
            <a:prstGeom prst="rect">
              <a:avLst/>
            </a:prstGeom>
          </p:spPr>
          <p:txBody>
            <a:bodyPr lIns="50800" tIns="50800" rIns="50800" bIns="50800" rtlCol="0" anchor="ctr"/>
            <a:lstStyle/>
            <a:p>
              <a:pPr algn="ctr">
                <a:lnSpc>
                  <a:spcPts val="2369"/>
                </a:lnSpc>
              </a:pPr>
              <a:r>
                <a:rPr lang="en-US" sz="2300" spc="163">
                  <a:solidFill>
                    <a:srgbClr val="FDF8F8"/>
                  </a:solidFill>
                  <a:latin typeface="TT Berlinerins"/>
                  <a:ea typeface="TT Berlinerins"/>
                  <a:cs typeface="TT Berlinerins"/>
                  <a:sym typeface="TT Berlinerins"/>
                </a:rPr>
                <a:t>Inconvénients</a:t>
              </a:r>
            </a:p>
          </p:txBody>
        </p:sp>
      </p:gr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EEF4F3"/>
        </a:solidFill>
        <a:effectLst/>
      </p:bgPr>
    </p:bg>
    <p:spTree>
      <p:nvGrpSpPr>
        <p:cNvPr id="1" name=""/>
        <p:cNvGrpSpPr/>
        <p:nvPr/>
      </p:nvGrpSpPr>
      <p:grpSpPr>
        <a:xfrm>
          <a:off x="0" y="0"/>
          <a:ext cx="0" cy="0"/>
          <a:chOff x="0" y="0"/>
          <a:chExt cx="0" cy="0"/>
        </a:xfrm>
      </p:grpSpPr>
      <p:sp>
        <p:nvSpPr>
          <p:cNvPr id="2" name="TextBox 2"/>
          <p:cNvSpPr txBox="1"/>
          <p:nvPr/>
        </p:nvSpPr>
        <p:spPr>
          <a:xfrm>
            <a:off x="608759" y="487363"/>
            <a:ext cx="9899716" cy="1073150"/>
          </a:xfrm>
          <a:prstGeom prst="rect">
            <a:avLst/>
          </a:prstGeom>
        </p:spPr>
        <p:txBody>
          <a:bodyPr lIns="0" tIns="0" rIns="0" bIns="0" rtlCol="0" anchor="t">
            <a:spAutoFit/>
          </a:bodyPr>
          <a:lstStyle/>
          <a:p>
            <a:pPr algn="l">
              <a:lnSpc>
                <a:spcPts val="6999"/>
              </a:lnSpc>
            </a:pPr>
            <a:r>
              <a:rPr lang="en-US" sz="6999" spc="342">
                <a:solidFill>
                  <a:srgbClr val="290606"/>
                </a:solidFill>
                <a:latin typeface="Cheddar"/>
                <a:ea typeface="Cheddar"/>
                <a:cs typeface="Cheddar"/>
                <a:sym typeface="Cheddar"/>
              </a:rPr>
              <a:t>DÉVELOPPEMENT DU MODÈLE</a:t>
            </a:r>
          </a:p>
        </p:txBody>
      </p:sp>
      <p:grpSp>
        <p:nvGrpSpPr>
          <p:cNvPr id="3" name="Group 3"/>
          <p:cNvGrpSpPr/>
          <p:nvPr/>
        </p:nvGrpSpPr>
        <p:grpSpPr>
          <a:xfrm>
            <a:off x="17364075" y="9330701"/>
            <a:ext cx="750152" cy="750152"/>
            <a:chOff x="0" y="0"/>
            <a:chExt cx="812800" cy="812800"/>
          </a:xfrm>
        </p:grpSpPr>
        <p:sp>
          <p:nvSpPr>
            <p:cNvPr id="4" name="Freeform 4"/>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7562B"/>
            </a:solidFill>
          </p:spPr>
        </p:sp>
        <p:sp>
          <p:nvSpPr>
            <p:cNvPr id="5" name="TextBox 5"/>
            <p:cNvSpPr txBox="1"/>
            <p:nvPr/>
          </p:nvSpPr>
          <p:spPr>
            <a:xfrm>
              <a:off x="76200" y="85725"/>
              <a:ext cx="660400" cy="650875"/>
            </a:xfrm>
            <a:prstGeom prst="rect">
              <a:avLst/>
            </a:prstGeom>
          </p:spPr>
          <p:txBody>
            <a:bodyPr lIns="50800" tIns="50800" rIns="50800" bIns="50800" rtlCol="0" anchor="ctr"/>
            <a:lstStyle/>
            <a:p>
              <a:pPr algn="ctr">
                <a:lnSpc>
                  <a:spcPts val="2400"/>
                </a:lnSpc>
              </a:pPr>
              <a:r>
                <a:rPr lang="en-US" sz="2400" b="1" spc="117">
                  <a:solidFill>
                    <a:srgbClr val="FFFFFF"/>
                  </a:solidFill>
                  <a:latin typeface="Telegraf Bold"/>
                  <a:ea typeface="Telegraf Bold"/>
                  <a:cs typeface="Telegraf Bold"/>
                  <a:sym typeface="Telegraf Bold"/>
                </a:rPr>
                <a:t>15</a:t>
              </a:r>
            </a:p>
          </p:txBody>
        </p:sp>
      </p:grpSp>
      <p:grpSp>
        <p:nvGrpSpPr>
          <p:cNvPr id="6" name="Group 6"/>
          <p:cNvGrpSpPr/>
          <p:nvPr/>
        </p:nvGrpSpPr>
        <p:grpSpPr>
          <a:xfrm>
            <a:off x="1028700" y="2002979"/>
            <a:ext cx="7052412" cy="4489986"/>
            <a:chOff x="0" y="0"/>
            <a:chExt cx="9403216" cy="5986647"/>
          </a:xfrm>
        </p:grpSpPr>
        <p:sp>
          <p:nvSpPr>
            <p:cNvPr id="7" name="TextBox 7"/>
            <p:cNvSpPr txBox="1"/>
            <p:nvPr/>
          </p:nvSpPr>
          <p:spPr>
            <a:xfrm>
              <a:off x="0" y="1298679"/>
              <a:ext cx="9403216" cy="1700570"/>
            </a:xfrm>
            <a:prstGeom prst="rect">
              <a:avLst/>
            </a:prstGeom>
          </p:spPr>
          <p:txBody>
            <a:bodyPr lIns="0" tIns="0" rIns="0" bIns="0" rtlCol="0" anchor="t">
              <a:spAutoFit/>
            </a:bodyPr>
            <a:lstStyle/>
            <a:p>
              <a:pPr marL="523811" lvl="1" indent="-261905" algn="l">
                <a:lnSpc>
                  <a:spcPts val="3396"/>
                </a:lnSpc>
                <a:buFont typeface="Arial"/>
                <a:buChar char="•"/>
              </a:pPr>
              <a:r>
                <a:rPr lang="en-US" sz="2426" spc="109">
                  <a:solidFill>
                    <a:srgbClr val="290606"/>
                  </a:solidFill>
                  <a:latin typeface="Telegraf"/>
                  <a:ea typeface="Telegraf"/>
                  <a:cs typeface="Telegraf"/>
                  <a:sym typeface="Telegraf"/>
                </a:rPr>
                <a:t>Paramétrage  et lancement du modèle.</a:t>
              </a:r>
            </a:p>
            <a:p>
              <a:pPr marL="523811" lvl="1" indent="-261905" algn="l">
                <a:lnSpc>
                  <a:spcPts val="3396"/>
                </a:lnSpc>
                <a:buFont typeface="Arial"/>
                <a:buChar char="•"/>
              </a:pPr>
              <a:r>
                <a:rPr lang="en-US" sz="2426" spc="109">
                  <a:solidFill>
                    <a:srgbClr val="290606"/>
                  </a:solidFill>
                  <a:latin typeface="Telegraf"/>
                  <a:ea typeface="Telegraf"/>
                  <a:cs typeface="Telegraf"/>
                  <a:sym typeface="Telegraf"/>
                </a:rPr>
                <a:t>Utilisation de</a:t>
              </a:r>
              <a:r>
                <a:rPr lang="en-US" sz="2426" b="1" spc="109">
                  <a:solidFill>
                    <a:srgbClr val="290606"/>
                  </a:solidFill>
                  <a:latin typeface="Telegraf Bold"/>
                  <a:ea typeface="Telegraf Bold"/>
                  <a:cs typeface="Telegraf Bold"/>
                  <a:sym typeface="Telegraf Bold"/>
                </a:rPr>
                <a:t> XGBoostClassifier</a:t>
              </a:r>
              <a:r>
                <a:rPr lang="en-US" sz="2426" spc="109">
                  <a:solidFill>
                    <a:srgbClr val="290606"/>
                  </a:solidFill>
                  <a:latin typeface="Telegraf"/>
                  <a:ea typeface="Telegraf"/>
                  <a:cs typeface="Telegraf"/>
                  <a:sym typeface="Telegraf"/>
                </a:rPr>
                <a:t> avec des hyperparamètres ajustés.</a:t>
              </a:r>
            </a:p>
          </p:txBody>
        </p:sp>
        <p:grpSp>
          <p:nvGrpSpPr>
            <p:cNvPr id="8" name="Group 8"/>
            <p:cNvGrpSpPr/>
            <p:nvPr/>
          </p:nvGrpSpPr>
          <p:grpSpPr>
            <a:xfrm>
              <a:off x="189615" y="0"/>
              <a:ext cx="6761849" cy="1019351"/>
              <a:chOff x="0" y="0"/>
              <a:chExt cx="3380373" cy="509592"/>
            </a:xfrm>
          </p:grpSpPr>
          <p:sp>
            <p:nvSpPr>
              <p:cNvPr id="9" name="Freeform 9"/>
              <p:cNvSpPr/>
              <p:nvPr/>
            </p:nvSpPr>
            <p:spPr>
              <a:xfrm>
                <a:off x="0" y="0"/>
                <a:ext cx="3380373" cy="509592"/>
              </a:xfrm>
              <a:custGeom>
                <a:avLst/>
                <a:gdLst/>
                <a:ahLst/>
                <a:cxnLst/>
                <a:rect l="l" t="t" r="r" b="b"/>
                <a:pathLst>
                  <a:path w="3380373" h="509592">
                    <a:moveTo>
                      <a:pt x="27066" y="0"/>
                    </a:moveTo>
                    <a:lnTo>
                      <a:pt x="3353307" y="0"/>
                    </a:lnTo>
                    <a:cubicBezTo>
                      <a:pt x="3368255" y="0"/>
                      <a:pt x="3380373" y="12118"/>
                      <a:pt x="3380373" y="27066"/>
                    </a:cubicBezTo>
                    <a:lnTo>
                      <a:pt x="3380373" y="482526"/>
                    </a:lnTo>
                    <a:cubicBezTo>
                      <a:pt x="3380373" y="489705"/>
                      <a:pt x="3377521" y="496589"/>
                      <a:pt x="3372445" y="501665"/>
                    </a:cubicBezTo>
                    <a:cubicBezTo>
                      <a:pt x="3367369" y="506741"/>
                      <a:pt x="3360485" y="509592"/>
                      <a:pt x="3353307" y="509592"/>
                    </a:cubicBezTo>
                    <a:lnTo>
                      <a:pt x="27066" y="509592"/>
                    </a:lnTo>
                    <a:cubicBezTo>
                      <a:pt x="12118" y="509592"/>
                      <a:pt x="0" y="497474"/>
                      <a:pt x="0" y="482526"/>
                    </a:cubicBezTo>
                    <a:lnTo>
                      <a:pt x="0" y="27066"/>
                    </a:lnTo>
                    <a:cubicBezTo>
                      <a:pt x="0" y="12118"/>
                      <a:pt x="12118" y="0"/>
                      <a:pt x="27066" y="0"/>
                    </a:cubicBezTo>
                    <a:close/>
                  </a:path>
                </a:pathLst>
              </a:custGeom>
              <a:solidFill>
                <a:srgbClr val="02B676"/>
              </a:solidFill>
            </p:spPr>
          </p:sp>
          <p:sp>
            <p:nvSpPr>
              <p:cNvPr id="10" name="TextBox 10"/>
              <p:cNvSpPr txBox="1"/>
              <p:nvPr/>
            </p:nvSpPr>
            <p:spPr>
              <a:xfrm>
                <a:off x="0" y="57150"/>
                <a:ext cx="3380373" cy="452442"/>
              </a:xfrm>
              <a:prstGeom prst="rect">
                <a:avLst/>
              </a:prstGeom>
            </p:spPr>
            <p:txBody>
              <a:bodyPr lIns="50800" tIns="50800" rIns="50800" bIns="50800" rtlCol="0" anchor="ctr"/>
              <a:lstStyle/>
              <a:p>
                <a:pPr algn="ctr">
                  <a:lnSpc>
                    <a:spcPts val="3090"/>
                  </a:lnSpc>
                </a:pPr>
                <a:r>
                  <a:rPr lang="en-US" sz="3000" spc="213">
                    <a:solidFill>
                      <a:srgbClr val="FDF8F8"/>
                    </a:solidFill>
                    <a:latin typeface="TT Berlinerins"/>
                    <a:ea typeface="TT Berlinerins"/>
                    <a:cs typeface="TT Berlinerins"/>
                    <a:sym typeface="TT Berlinerins"/>
                  </a:rPr>
                  <a:t>Entraînement du Modèle :</a:t>
                </a:r>
              </a:p>
            </p:txBody>
          </p:sp>
        </p:grpSp>
        <p:grpSp>
          <p:nvGrpSpPr>
            <p:cNvPr id="11" name="Group 11"/>
            <p:cNvGrpSpPr/>
            <p:nvPr/>
          </p:nvGrpSpPr>
          <p:grpSpPr>
            <a:xfrm>
              <a:off x="189615" y="3354778"/>
              <a:ext cx="8390613" cy="1019351"/>
              <a:chOff x="0" y="0"/>
              <a:chExt cx="4194622" cy="509592"/>
            </a:xfrm>
          </p:grpSpPr>
          <p:sp>
            <p:nvSpPr>
              <p:cNvPr id="12" name="Freeform 12"/>
              <p:cNvSpPr/>
              <p:nvPr/>
            </p:nvSpPr>
            <p:spPr>
              <a:xfrm>
                <a:off x="0" y="0"/>
                <a:ext cx="4194622" cy="509592"/>
              </a:xfrm>
              <a:custGeom>
                <a:avLst/>
                <a:gdLst/>
                <a:ahLst/>
                <a:cxnLst/>
                <a:rect l="l" t="t" r="r" b="b"/>
                <a:pathLst>
                  <a:path w="4194622" h="509592">
                    <a:moveTo>
                      <a:pt x="21812" y="0"/>
                    </a:moveTo>
                    <a:lnTo>
                      <a:pt x="4172810" y="0"/>
                    </a:lnTo>
                    <a:cubicBezTo>
                      <a:pt x="4178595" y="0"/>
                      <a:pt x="4184143" y="2298"/>
                      <a:pt x="4188233" y="6389"/>
                    </a:cubicBezTo>
                    <a:cubicBezTo>
                      <a:pt x="4192324" y="10479"/>
                      <a:pt x="4194622" y="16027"/>
                      <a:pt x="4194622" y="21812"/>
                    </a:cubicBezTo>
                    <a:lnTo>
                      <a:pt x="4194622" y="487780"/>
                    </a:lnTo>
                    <a:cubicBezTo>
                      <a:pt x="4194622" y="493565"/>
                      <a:pt x="4192324" y="499113"/>
                      <a:pt x="4188233" y="503204"/>
                    </a:cubicBezTo>
                    <a:cubicBezTo>
                      <a:pt x="4184143" y="507294"/>
                      <a:pt x="4178595" y="509592"/>
                      <a:pt x="4172810" y="509592"/>
                    </a:cubicBezTo>
                    <a:lnTo>
                      <a:pt x="21812" y="509592"/>
                    </a:lnTo>
                    <a:cubicBezTo>
                      <a:pt x="16027" y="509592"/>
                      <a:pt x="10479" y="507294"/>
                      <a:pt x="6389" y="503204"/>
                    </a:cubicBezTo>
                    <a:cubicBezTo>
                      <a:pt x="2298" y="499113"/>
                      <a:pt x="0" y="493565"/>
                      <a:pt x="0" y="487780"/>
                    </a:cubicBezTo>
                    <a:lnTo>
                      <a:pt x="0" y="21812"/>
                    </a:lnTo>
                    <a:cubicBezTo>
                      <a:pt x="0" y="16027"/>
                      <a:pt x="2298" y="10479"/>
                      <a:pt x="6389" y="6389"/>
                    </a:cubicBezTo>
                    <a:cubicBezTo>
                      <a:pt x="10479" y="2298"/>
                      <a:pt x="16027" y="0"/>
                      <a:pt x="21812" y="0"/>
                    </a:cubicBezTo>
                    <a:close/>
                  </a:path>
                </a:pathLst>
              </a:custGeom>
              <a:solidFill>
                <a:srgbClr val="02B676"/>
              </a:solidFill>
            </p:spPr>
          </p:sp>
          <p:sp>
            <p:nvSpPr>
              <p:cNvPr id="13" name="TextBox 13"/>
              <p:cNvSpPr txBox="1"/>
              <p:nvPr/>
            </p:nvSpPr>
            <p:spPr>
              <a:xfrm>
                <a:off x="0" y="57150"/>
                <a:ext cx="4194622" cy="452442"/>
              </a:xfrm>
              <a:prstGeom prst="rect">
                <a:avLst/>
              </a:prstGeom>
            </p:spPr>
            <p:txBody>
              <a:bodyPr lIns="50800" tIns="50800" rIns="50800" bIns="50800" rtlCol="0" anchor="ctr"/>
              <a:lstStyle/>
              <a:p>
                <a:pPr algn="ctr">
                  <a:lnSpc>
                    <a:spcPts val="3090"/>
                  </a:lnSpc>
                </a:pPr>
                <a:r>
                  <a:rPr lang="en-US" sz="3000" spc="213">
                    <a:solidFill>
                      <a:srgbClr val="FDF8F8"/>
                    </a:solidFill>
                    <a:latin typeface="TT Berlinerins"/>
                    <a:ea typeface="TT Berlinerins"/>
                    <a:cs typeface="TT Berlinerins"/>
                    <a:sym typeface="TT Berlinerins"/>
                  </a:rPr>
                  <a:t>Optimisation des Hyperparamètres :</a:t>
                </a:r>
              </a:p>
            </p:txBody>
          </p:sp>
        </p:grpSp>
        <p:sp>
          <p:nvSpPr>
            <p:cNvPr id="14" name="TextBox 14"/>
            <p:cNvSpPr txBox="1"/>
            <p:nvPr/>
          </p:nvSpPr>
          <p:spPr>
            <a:xfrm>
              <a:off x="0" y="4854923"/>
              <a:ext cx="9403216" cy="1131724"/>
            </a:xfrm>
            <a:prstGeom prst="rect">
              <a:avLst/>
            </a:prstGeom>
          </p:spPr>
          <p:txBody>
            <a:bodyPr lIns="0" tIns="0" rIns="0" bIns="0" rtlCol="0" anchor="t">
              <a:spAutoFit/>
            </a:bodyPr>
            <a:lstStyle/>
            <a:p>
              <a:pPr marL="523811" lvl="1" indent="-261905" algn="l">
                <a:lnSpc>
                  <a:spcPts val="3396"/>
                </a:lnSpc>
                <a:buFont typeface="Arial"/>
                <a:buChar char="•"/>
              </a:pPr>
              <a:r>
                <a:rPr lang="en-US" sz="2426" spc="109">
                  <a:solidFill>
                    <a:srgbClr val="290606"/>
                  </a:solidFill>
                  <a:latin typeface="Telegraf"/>
                  <a:ea typeface="Telegraf"/>
                  <a:cs typeface="Telegraf"/>
                  <a:sym typeface="Telegraf"/>
                </a:rPr>
                <a:t>Ajustement des hyperparamètres pour améliorer la performance.</a:t>
              </a:r>
            </a:p>
          </p:txBody>
        </p:sp>
      </p:grpSp>
      <p:grpSp>
        <p:nvGrpSpPr>
          <p:cNvPr id="15" name="Group 15"/>
          <p:cNvGrpSpPr/>
          <p:nvPr/>
        </p:nvGrpSpPr>
        <p:grpSpPr>
          <a:xfrm>
            <a:off x="330328" y="6739342"/>
            <a:ext cx="11082035" cy="3080735"/>
            <a:chOff x="0" y="0"/>
            <a:chExt cx="2918725" cy="811387"/>
          </a:xfrm>
        </p:grpSpPr>
        <p:sp>
          <p:nvSpPr>
            <p:cNvPr id="16" name="Freeform 16"/>
            <p:cNvSpPr/>
            <p:nvPr/>
          </p:nvSpPr>
          <p:spPr>
            <a:xfrm>
              <a:off x="0" y="0"/>
              <a:ext cx="2918725" cy="811387"/>
            </a:xfrm>
            <a:custGeom>
              <a:avLst/>
              <a:gdLst/>
              <a:ahLst/>
              <a:cxnLst/>
              <a:rect l="l" t="t" r="r" b="b"/>
              <a:pathLst>
                <a:path w="2918725" h="811387">
                  <a:moveTo>
                    <a:pt x="35629" y="0"/>
                  </a:moveTo>
                  <a:lnTo>
                    <a:pt x="2883096" y="0"/>
                  </a:lnTo>
                  <a:cubicBezTo>
                    <a:pt x="2892546" y="0"/>
                    <a:pt x="2901608" y="3754"/>
                    <a:pt x="2908290" y="10435"/>
                  </a:cubicBezTo>
                  <a:cubicBezTo>
                    <a:pt x="2914971" y="17117"/>
                    <a:pt x="2918725" y="26179"/>
                    <a:pt x="2918725" y="35629"/>
                  </a:cubicBezTo>
                  <a:lnTo>
                    <a:pt x="2918725" y="775758"/>
                  </a:lnTo>
                  <a:cubicBezTo>
                    <a:pt x="2918725" y="785208"/>
                    <a:pt x="2914971" y="794270"/>
                    <a:pt x="2908290" y="800952"/>
                  </a:cubicBezTo>
                  <a:cubicBezTo>
                    <a:pt x="2901608" y="807633"/>
                    <a:pt x="2892546" y="811387"/>
                    <a:pt x="2883096" y="811387"/>
                  </a:cubicBezTo>
                  <a:lnTo>
                    <a:pt x="35629" y="811387"/>
                  </a:lnTo>
                  <a:cubicBezTo>
                    <a:pt x="26179" y="811387"/>
                    <a:pt x="17117" y="807633"/>
                    <a:pt x="10435" y="800952"/>
                  </a:cubicBezTo>
                  <a:cubicBezTo>
                    <a:pt x="3754" y="794270"/>
                    <a:pt x="0" y="785208"/>
                    <a:pt x="0" y="775758"/>
                  </a:cubicBezTo>
                  <a:lnTo>
                    <a:pt x="0" y="35629"/>
                  </a:lnTo>
                  <a:cubicBezTo>
                    <a:pt x="0" y="26179"/>
                    <a:pt x="3754" y="17117"/>
                    <a:pt x="10435" y="10435"/>
                  </a:cubicBezTo>
                  <a:cubicBezTo>
                    <a:pt x="17117" y="3754"/>
                    <a:pt x="26179" y="0"/>
                    <a:pt x="35629" y="0"/>
                  </a:cubicBezTo>
                  <a:close/>
                </a:path>
              </a:pathLst>
            </a:custGeom>
            <a:solidFill>
              <a:srgbClr val="CFB0E2"/>
            </a:solidFill>
          </p:spPr>
        </p:sp>
        <p:sp>
          <p:nvSpPr>
            <p:cNvPr id="17" name="TextBox 17"/>
            <p:cNvSpPr txBox="1"/>
            <p:nvPr/>
          </p:nvSpPr>
          <p:spPr>
            <a:xfrm>
              <a:off x="0" y="-76200"/>
              <a:ext cx="2918725" cy="887587"/>
            </a:xfrm>
            <a:prstGeom prst="rect">
              <a:avLst/>
            </a:prstGeom>
          </p:spPr>
          <p:txBody>
            <a:bodyPr lIns="50800" tIns="50800" rIns="50800" bIns="50800" rtlCol="0" anchor="ctr"/>
            <a:lstStyle/>
            <a:p>
              <a:pPr marL="496577" lvl="1" indent="-248289" algn="l">
                <a:lnSpc>
                  <a:spcPts val="3220"/>
                </a:lnSpc>
                <a:buFont typeface="Arial"/>
                <a:buChar char="•"/>
              </a:pPr>
              <a:r>
                <a:rPr lang="en-US" sz="2300" b="1">
                  <a:solidFill>
                    <a:srgbClr val="FFFFFF"/>
                  </a:solidFill>
                  <a:latin typeface="Telegraf Bold"/>
                  <a:ea typeface="Telegraf Bold"/>
                  <a:cs typeface="Telegraf Bold"/>
                  <a:sym typeface="Telegraf Bold"/>
                </a:rPr>
                <a:t>Ce code entraîne un modèle XGBoost, une bibliothèque optimisée pour le boosting, et des outils de scikit-learn pour l'évaluation et pour une tâche de classification multiple.</a:t>
              </a:r>
            </a:p>
            <a:p>
              <a:pPr marL="496577" lvl="1" indent="-248289" algn="l">
                <a:lnSpc>
                  <a:spcPts val="3220"/>
                </a:lnSpc>
                <a:buFont typeface="Arial"/>
                <a:buChar char="•"/>
              </a:pPr>
              <a:r>
                <a:rPr lang="en-US" sz="2300" b="1">
                  <a:solidFill>
                    <a:srgbClr val="FFFFFF"/>
                  </a:solidFill>
                  <a:latin typeface="Telegraf Bold"/>
                  <a:ea typeface="Telegraf Bold"/>
                  <a:cs typeface="Telegraf Bold"/>
                  <a:sym typeface="Telegraf Bold"/>
                </a:rPr>
                <a:t>En testant différents hyperparamètres clés comme le taux d’apprentissage (learning_rate) et le nombre d’arbres </a:t>
              </a:r>
            </a:p>
            <a:p>
              <a:pPr marL="496577" lvl="1" indent="-248289" algn="l">
                <a:lnSpc>
                  <a:spcPts val="3220"/>
                </a:lnSpc>
                <a:buFont typeface="Arial"/>
                <a:buChar char="•"/>
              </a:pPr>
              <a:r>
                <a:rPr lang="en-US" sz="2300" b="1">
                  <a:solidFill>
                    <a:srgbClr val="FFFFFF"/>
                  </a:solidFill>
                  <a:latin typeface="Telegraf Bold"/>
                  <a:ea typeface="Telegraf Bold"/>
                  <a:cs typeface="Telegraf Bold"/>
                  <a:sym typeface="Telegraf Bold"/>
                </a:rPr>
                <a:t>Entraîne le modèle sur X_train, y_train. Ensuite, il effectue une prédiction sur X_test .</a:t>
              </a:r>
            </a:p>
          </p:txBody>
        </p:sp>
      </p:grpSp>
      <p:pic>
        <p:nvPicPr>
          <p:cNvPr id="18" name="Image 17"/>
          <p:cNvPicPr>
            <a:picLocks noChangeAspect="1"/>
          </p:cNvPicPr>
          <p:nvPr/>
        </p:nvPicPr>
        <p:blipFill>
          <a:blip r:embed="rId2"/>
          <a:stretch>
            <a:fillRect/>
          </a:stretch>
        </p:blipFill>
        <p:spPr>
          <a:xfrm>
            <a:off x="11658600" y="413688"/>
            <a:ext cx="5996087" cy="8846687"/>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EEF4F3"/>
        </a:solidFill>
        <a:effectLst/>
      </p:bgPr>
    </p:bg>
    <p:spTree>
      <p:nvGrpSpPr>
        <p:cNvPr id="1" name=""/>
        <p:cNvGrpSpPr/>
        <p:nvPr/>
      </p:nvGrpSpPr>
      <p:grpSpPr>
        <a:xfrm>
          <a:off x="0" y="0"/>
          <a:ext cx="0" cy="0"/>
          <a:chOff x="0" y="0"/>
          <a:chExt cx="0" cy="0"/>
        </a:xfrm>
      </p:grpSpPr>
      <p:grpSp>
        <p:nvGrpSpPr>
          <p:cNvPr id="2" name="Group 2"/>
          <p:cNvGrpSpPr/>
          <p:nvPr/>
        </p:nvGrpSpPr>
        <p:grpSpPr>
          <a:xfrm>
            <a:off x="9074648" y="1672196"/>
            <a:ext cx="6866801" cy="1071170"/>
            <a:chOff x="0" y="0"/>
            <a:chExt cx="1808540" cy="282119"/>
          </a:xfrm>
        </p:grpSpPr>
        <p:sp>
          <p:nvSpPr>
            <p:cNvPr id="3" name="Freeform 3"/>
            <p:cNvSpPr/>
            <p:nvPr/>
          </p:nvSpPr>
          <p:spPr>
            <a:xfrm>
              <a:off x="0" y="0"/>
              <a:ext cx="1808540" cy="282119"/>
            </a:xfrm>
            <a:custGeom>
              <a:avLst/>
              <a:gdLst/>
              <a:ahLst/>
              <a:cxnLst/>
              <a:rect l="l" t="t" r="r" b="b"/>
              <a:pathLst>
                <a:path w="1808540" h="282119">
                  <a:moveTo>
                    <a:pt x="57500" y="0"/>
                  </a:moveTo>
                  <a:lnTo>
                    <a:pt x="1751041" y="0"/>
                  </a:lnTo>
                  <a:cubicBezTo>
                    <a:pt x="1766290" y="0"/>
                    <a:pt x="1780916" y="6058"/>
                    <a:pt x="1791699" y="16841"/>
                  </a:cubicBezTo>
                  <a:cubicBezTo>
                    <a:pt x="1802482" y="27624"/>
                    <a:pt x="1808540" y="42250"/>
                    <a:pt x="1808540" y="57500"/>
                  </a:cubicBezTo>
                  <a:lnTo>
                    <a:pt x="1808540" y="224619"/>
                  </a:lnTo>
                  <a:cubicBezTo>
                    <a:pt x="1808540" y="239869"/>
                    <a:pt x="1802482" y="254494"/>
                    <a:pt x="1791699" y="265278"/>
                  </a:cubicBezTo>
                  <a:cubicBezTo>
                    <a:pt x="1780916" y="276061"/>
                    <a:pt x="1766290" y="282119"/>
                    <a:pt x="1751041" y="282119"/>
                  </a:cubicBezTo>
                  <a:lnTo>
                    <a:pt x="57500" y="282119"/>
                  </a:lnTo>
                  <a:cubicBezTo>
                    <a:pt x="42250" y="282119"/>
                    <a:pt x="27624" y="276061"/>
                    <a:pt x="16841" y="265278"/>
                  </a:cubicBezTo>
                  <a:cubicBezTo>
                    <a:pt x="6058" y="254494"/>
                    <a:pt x="0" y="239869"/>
                    <a:pt x="0" y="224619"/>
                  </a:cubicBezTo>
                  <a:lnTo>
                    <a:pt x="0" y="57500"/>
                  </a:lnTo>
                  <a:cubicBezTo>
                    <a:pt x="0" y="42250"/>
                    <a:pt x="6058" y="27624"/>
                    <a:pt x="16841" y="16841"/>
                  </a:cubicBezTo>
                  <a:cubicBezTo>
                    <a:pt x="27624" y="6058"/>
                    <a:pt x="42250" y="0"/>
                    <a:pt x="57500" y="0"/>
                  </a:cubicBezTo>
                  <a:close/>
                </a:path>
              </a:pathLst>
            </a:custGeom>
            <a:solidFill>
              <a:srgbClr val="F7562B"/>
            </a:solidFill>
          </p:spPr>
        </p:sp>
        <p:sp>
          <p:nvSpPr>
            <p:cNvPr id="4" name="TextBox 4"/>
            <p:cNvSpPr txBox="1"/>
            <p:nvPr/>
          </p:nvSpPr>
          <p:spPr>
            <a:xfrm>
              <a:off x="0" y="-85725"/>
              <a:ext cx="1808540" cy="367844"/>
            </a:xfrm>
            <a:prstGeom prst="rect">
              <a:avLst/>
            </a:prstGeom>
          </p:spPr>
          <p:txBody>
            <a:bodyPr lIns="50800" tIns="50800" rIns="50800" bIns="50800" rtlCol="0" anchor="ctr"/>
            <a:lstStyle/>
            <a:p>
              <a:pPr algn="ctr">
                <a:lnSpc>
                  <a:spcPts val="3640"/>
                </a:lnSpc>
              </a:pPr>
              <a:r>
                <a:rPr lang="en-US" sz="2600">
                  <a:solidFill>
                    <a:srgbClr val="FFFFFF"/>
                  </a:solidFill>
                  <a:latin typeface="Telegraf"/>
                  <a:ea typeface="Telegraf"/>
                  <a:cs typeface="Telegraf"/>
                  <a:sym typeface="Telegraf"/>
                </a:rPr>
                <a:t>Notre modèle a atteint une précision de </a:t>
              </a:r>
              <a:r>
                <a:rPr lang="en-US" sz="2600" b="1" u="sng">
                  <a:solidFill>
                    <a:srgbClr val="FFFFFF"/>
                  </a:solidFill>
                  <a:latin typeface="Telegraf Bold"/>
                  <a:ea typeface="Telegraf Bold"/>
                  <a:cs typeface="Telegraf Bold"/>
                  <a:sym typeface="Telegraf Bold"/>
                </a:rPr>
                <a:t>71%</a:t>
              </a:r>
              <a:r>
                <a:rPr lang="en-US" sz="2600">
                  <a:solidFill>
                    <a:srgbClr val="FFFFFF"/>
                  </a:solidFill>
                  <a:latin typeface="Telegraf"/>
                  <a:ea typeface="Telegraf"/>
                  <a:cs typeface="Telegraf"/>
                  <a:sym typeface="Telegraf"/>
                </a:rPr>
                <a:t> et voici son rapport de classification.</a:t>
              </a:r>
            </a:p>
          </p:txBody>
        </p:sp>
      </p:grpSp>
      <p:sp>
        <p:nvSpPr>
          <p:cNvPr id="5" name="Freeform 5"/>
          <p:cNvSpPr/>
          <p:nvPr/>
        </p:nvSpPr>
        <p:spPr>
          <a:xfrm>
            <a:off x="7817803" y="3488927"/>
            <a:ext cx="9380493" cy="5297052"/>
          </a:xfrm>
          <a:custGeom>
            <a:avLst/>
            <a:gdLst/>
            <a:ahLst/>
            <a:cxnLst/>
            <a:rect l="l" t="t" r="r" b="b"/>
            <a:pathLst>
              <a:path w="9380493" h="5297052">
                <a:moveTo>
                  <a:pt x="0" y="0"/>
                </a:moveTo>
                <a:lnTo>
                  <a:pt x="9380492" y="0"/>
                </a:lnTo>
                <a:lnTo>
                  <a:pt x="9380492" y="5297052"/>
                </a:lnTo>
                <a:lnTo>
                  <a:pt x="0" y="5297052"/>
                </a:lnTo>
                <a:lnTo>
                  <a:pt x="0" y="0"/>
                </a:lnTo>
                <a:close/>
              </a:path>
            </a:pathLst>
          </a:custGeom>
          <a:blipFill>
            <a:blip r:embed="rId2"/>
            <a:stretch>
              <a:fillRect/>
            </a:stretch>
          </a:blipFill>
        </p:spPr>
      </p:sp>
      <p:sp>
        <p:nvSpPr>
          <p:cNvPr id="6" name="Freeform 6"/>
          <p:cNvSpPr/>
          <p:nvPr/>
        </p:nvSpPr>
        <p:spPr>
          <a:xfrm>
            <a:off x="7817803" y="2999740"/>
            <a:ext cx="3475738" cy="1769467"/>
          </a:xfrm>
          <a:custGeom>
            <a:avLst/>
            <a:gdLst/>
            <a:ahLst/>
            <a:cxnLst/>
            <a:rect l="l" t="t" r="r" b="b"/>
            <a:pathLst>
              <a:path w="3475738" h="1769467">
                <a:moveTo>
                  <a:pt x="0" y="0"/>
                </a:moveTo>
                <a:lnTo>
                  <a:pt x="3475738" y="0"/>
                </a:lnTo>
                <a:lnTo>
                  <a:pt x="3475738" y="1769466"/>
                </a:lnTo>
                <a:lnTo>
                  <a:pt x="0" y="1769466"/>
                </a:lnTo>
                <a:lnTo>
                  <a:pt x="0" y="0"/>
                </a:lnTo>
                <a:close/>
              </a:path>
            </a:pathLst>
          </a:custGeom>
          <a:blipFill>
            <a:blip r:embed="rId3">
              <a:extLst>
                <a:ext uri="{96DAC541-7B7A-43D3-8B79-37D633B846F1}">
                  <asvg:svgBlip xmlns="" xmlns:asvg="http://schemas.microsoft.com/office/drawing/2016/SVG/main" r:embed="rId4"/>
                </a:ext>
              </a:extLst>
            </a:blip>
            <a:stretch>
              <a:fillRect/>
            </a:stretch>
          </a:blipFill>
        </p:spPr>
      </p:sp>
      <p:sp>
        <p:nvSpPr>
          <p:cNvPr id="7" name="TextBox 7"/>
          <p:cNvSpPr txBox="1"/>
          <p:nvPr/>
        </p:nvSpPr>
        <p:spPr>
          <a:xfrm>
            <a:off x="1028700" y="1028700"/>
            <a:ext cx="8115300" cy="1971040"/>
          </a:xfrm>
          <a:prstGeom prst="rect">
            <a:avLst/>
          </a:prstGeom>
        </p:spPr>
        <p:txBody>
          <a:bodyPr lIns="0" tIns="0" rIns="0" bIns="0" rtlCol="0" anchor="t">
            <a:spAutoFit/>
          </a:bodyPr>
          <a:lstStyle/>
          <a:p>
            <a:pPr algn="l">
              <a:lnSpc>
                <a:spcPts val="7099"/>
              </a:lnSpc>
            </a:pPr>
            <a:r>
              <a:rPr lang="en-US" sz="7099" spc="347">
                <a:solidFill>
                  <a:srgbClr val="290606"/>
                </a:solidFill>
                <a:latin typeface="Cheddar"/>
                <a:ea typeface="Cheddar"/>
                <a:cs typeface="Cheddar"/>
                <a:sym typeface="Cheddar"/>
              </a:rPr>
              <a:t>ÉVALUATION DU</a:t>
            </a:r>
          </a:p>
          <a:p>
            <a:pPr algn="l">
              <a:lnSpc>
                <a:spcPts val="7099"/>
              </a:lnSpc>
            </a:pPr>
            <a:r>
              <a:rPr lang="en-US" sz="7099" spc="347">
                <a:solidFill>
                  <a:srgbClr val="290606"/>
                </a:solidFill>
                <a:latin typeface="Cheddar"/>
                <a:ea typeface="Cheddar"/>
                <a:cs typeface="Cheddar"/>
                <a:sym typeface="Cheddar"/>
              </a:rPr>
              <a:t>MODÈLE</a:t>
            </a:r>
          </a:p>
        </p:txBody>
      </p:sp>
      <p:sp>
        <p:nvSpPr>
          <p:cNvPr id="8" name="Freeform 8"/>
          <p:cNvSpPr/>
          <p:nvPr/>
        </p:nvSpPr>
        <p:spPr>
          <a:xfrm>
            <a:off x="14059682" y="7115332"/>
            <a:ext cx="1561300" cy="794844"/>
          </a:xfrm>
          <a:custGeom>
            <a:avLst/>
            <a:gdLst/>
            <a:ahLst/>
            <a:cxnLst/>
            <a:rect l="l" t="t" r="r" b="b"/>
            <a:pathLst>
              <a:path w="1561300" h="794844">
                <a:moveTo>
                  <a:pt x="0" y="0"/>
                </a:moveTo>
                <a:lnTo>
                  <a:pt x="1561300" y="0"/>
                </a:lnTo>
                <a:lnTo>
                  <a:pt x="1561300" y="794844"/>
                </a:lnTo>
                <a:lnTo>
                  <a:pt x="0" y="794844"/>
                </a:lnTo>
                <a:lnTo>
                  <a:pt x="0" y="0"/>
                </a:lnTo>
                <a:close/>
              </a:path>
            </a:pathLst>
          </a:custGeom>
          <a:blipFill>
            <a:blip r:embed="rId3">
              <a:extLst>
                <a:ext uri="{96DAC541-7B7A-43D3-8B79-37D633B846F1}">
                  <asvg:svgBlip xmlns="" xmlns:asvg="http://schemas.microsoft.com/office/drawing/2016/SVG/main" r:embed="rId4"/>
                </a:ext>
              </a:extLst>
            </a:blip>
            <a:stretch>
              <a:fillRect/>
            </a:stretch>
          </a:blipFill>
        </p:spPr>
      </p:sp>
      <p:grpSp>
        <p:nvGrpSpPr>
          <p:cNvPr id="9" name="Group 9"/>
          <p:cNvGrpSpPr/>
          <p:nvPr/>
        </p:nvGrpSpPr>
        <p:grpSpPr>
          <a:xfrm>
            <a:off x="17364075" y="9330701"/>
            <a:ext cx="750152" cy="750152"/>
            <a:chOff x="0" y="0"/>
            <a:chExt cx="812800" cy="812800"/>
          </a:xfrm>
        </p:grpSpPr>
        <p:sp>
          <p:nvSpPr>
            <p:cNvPr id="10" name="Freeform 10"/>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7562B"/>
            </a:solidFill>
          </p:spPr>
        </p:sp>
        <p:sp>
          <p:nvSpPr>
            <p:cNvPr id="11" name="TextBox 11"/>
            <p:cNvSpPr txBox="1"/>
            <p:nvPr/>
          </p:nvSpPr>
          <p:spPr>
            <a:xfrm>
              <a:off x="76200" y="85725"/>
              <a:ext cx="660400" cy="650875"/>
            </a:xfrm>
            <a:prstGeom prst="rect">
              <a:avLst/>
            </a:prstGeom>
          </p:spPr>
          <p:txBody>
            <a:bodyPr lIns="50800" tIns="50800" rIns="50800" bIns="50800" rtlCol="0" anchor="ctr"/>
            <a:lstStyle/>
            <a:p>
              <a:pPr algn="ctr">
                <a:lnSpc>
                  <a:spcPts val="2400"/>
                </a:lnSpc>
              </a:pPr>
              <a:r>
                <a:rPr lang="en-US" sz="2400" b="1" spc="117">
                  <a:solidFill>
                    <a:srgbClr val="FFFFFF"/>
                  </a:solidFill>
                  <a:latin typeface="Telegraf Bold"/>
                  <a:ea typeface="Telegraf Bold"/>
                  <a:cs typeface="Telegraf Bold"/>
                  <a:sym typeface="Telegraf Bold"/>
                </a:rPr>
                <a:t>16</a:t>
              </a:r>
            </a:p>
          </p:txBody>
        </p:sp>
      </p:grpSp>
      <p:sp>
        <p:nvSpPr>
          <p:cNvPr id="12" name="TextBox 12"/>
          <p:cNvSpPr txBox="1"/>
          <p:nvPr/>
        </p:nvSpPr>
        <p:spPr>
          <a:xfrm>
            <a:off x="195485" y="3798748"/>
            <a:ext cx="6884697" cy="4134485"/>
          </a:xfrm>
          <a:prstGeom prst="rect">
            <a:avLst/>
          </a:prstGeom>
        </p:spPr>
        <p:txBody>
          <a:bodyPr lIns="0" tIns="0" rIns="0" bIns="0" rtlCol="0" anchor="t">
            <a:spAutoFit/>
          </a:bodyPr>
          <a:lstStyle/>
          <a:p>
            <a:pPr marL="561339" lvl="1" indent="-280669" algn="l">
              <a:lnSpc>
                <a:spcPts val="3639"/>
              </a:lnSpc>
              <a:buFont typeface="Arial"/>
              <a:buChar char="•"/>
            </a:pPr>
            <a:r>
              <a:rPr lang="en-US" sz="2599" spc="116">
                <a:solidFill>
                  <a:srgbClr val="290606"/>
                </a:solidFill>
                <a:latin typeface="Telegraf"/>
                <a:ea typeface="Telegraf"/>
                <a:cs typeface="Telegraf"/>
                <a:sym typeface="Telegraf"/>
              </a:rPr>
              <a:t>Bonne performance globale avec une précision de 71 %.</a:t>
            </a:r>
          </a:p>
          <a:p>
            <a:pPr marL="561339" lvl="1" indent="-280669" algn="l">
              <a:lnSpc>
                <a:spcPts val="3639"/>
              </a:lnSpc>
              <a:buFont typeface="Arial"/>
              <a:buChar char="•"/>
            </a:pPr>
            <a:r>
              <a:rPr lang="en-US" sz="2599" spc="116">
                <a:solidFill>
                  <a:srgbClr val="290606"/>
                </a:solidFill>
                <a:latin typeface="Telegraf"/>
                <a:ea typeface="Telegraf"/>
                <a:cs typeface="Telegraf"/>
                <a:sym typeface="Telegraf"/>
              </a:rPr>
              <a:t>Capacité à gérer plusieurs classes efficacement.</a:t>
            </a:r>
          </a:p>
          <a:p>
            <a:pPr marL="561339" lvl="1" indent="-280669" algn="l">
              <a:lnSpc>
                <a:spcPts val="3639"/>
              </a:lnSpc>
              <a:buFont typeface="Arial"/>
              <a:buChar char="•"/>
            </a:pPr>
            <a:r>
              <a:rPr lang="en-US" sz="2599" spc="116">
                <a:solidFill>
                  <a:srgbClr val="290606"/>
                </a:solidFill>
                <a:latin typeface="Telegraf"/>
                <a:ea typeface="Telegraf"/>
                <a:cs typeface="Telegraf"/>
                <a:sym typeface="Telegraf"/>
              </a:rPr>
              <a:t>Utilisation de XGBoost, un algorithme puissant et optimisé.</a:t>
            </a:r>
          </a:p>
          <a:p>
            <a:pPr marL="561339" lvl="1" indent="-280669" algn="l">
              <a:lnSpc>
                <a:spcPts val="3639"/>
              </a:lnSpc>
              <a:buFont typeface="Arial"/>
              <a:buChar char="•"/>
            </a:pPr>
            <a:r>
              <a:rPr lang="en-US" sz="2599" spc="116">
                <a:solidFill>
                  <a:srgbClr val="290606"/>
                </a:solidFill>
                <a:latin typeface="Telegraf"/>
                <a:ea typeface="Telegraf"/>
                <a:cs typeface="Telegraf"/>
                <a:sym typeface="Telegraf"/>
              </a:rPr>
              <a:t>Possibilité d'amélioration avec plus de données et un meilleur ajustement des hyperparamètres.</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EEF4F3"/>
        </a:solidFill>
        <a:effectLst/>
      </p:bgPr>
    </p:bg>
    <p:spTree>
      <p:nvGrpSpPr>
        <p:cNvPr id="1" name=""/>
        <p:cNvGrpSpPr/>
        <p:nvPr/>
      </p:nvGrpSpPr>
      <p:grpSpPr>
        <a:xfrm>
          <a:off x="0" y="0"/>
          <a:ext cx="0" cy="0"/>
          <a:chOff x="0" y="0"/>
          <a:chExt cx="0" cy="0"/>
        </a:xfrm>
      </p:grpSpPr>
      <p:grpSp>
        <p:nvGrpSpPr>
          <p:cNvPr id="2" name="Group 2"/>
          <p:cNvGrpSpPr/>
          <p:nvPr/>
        </p:nvGrpSpPr>
        <p:grpSpPr>
          <a:xfrm>
            <a:off x="852606" y="2324100"/>
            <a:ext cx="5852993" cy="2594608"/>
            <a:chOff x="0" y="-104774"/>
            <a:chExt cx="1484858" cy="570780"/>
          </a:xfrm>
        </p:grpSpPr>
        <p:sp>
          <p:nvSpPr>
            <p:cNvPr id="3" name="Freeform 3"/>
            <p:cNvSpPr/>
            <p:nvPr/>
          </p:nvSpPr>
          <p:spPr>
            <a:xfrm>
              <a:off x="0" y="-52387"/>
              <a:ext cx="1484858" cy="466005"/>
            </a:xfrm>
            <a:custGeom>
              <a:avLst/>
              <a:gdLst/>
              <a:ahLst/>
              <a:cxnLst/>
              <a:rect l="l" t="t" r="r" b="b"/>
              <a:pathLst>
                <a:path w="1484858" h="466005">
                  <a:moveTo>
                    <a:pt x="70034" y="0"/>
                  </a:moveTo>
                  <a:lnTo>
                    <a:pt x="1414824" y="0"/>
                  </a:lnTo>
                  <a:cubicBezTo>
                    <a:pt x="1453502" y="0"/>
                    <a:pt x="1484858" y="31355"/>
                    <a:pt x="1484858" y="70034"/>
                  </a:cubicBezTo>
                  <a:lnTo>
                    <a:pt x="1484858" y="395972"/>
                  </a:lnTo>
                  <a:cubicBezTo>
                    <a:pt x="1484858" y="434650"/>
                    <a:pt x="1453502" y="466005"/>
                    <a:pt x="1414824" y="466005"/>
                  </a:cubicBezTo>
                  <a:lnTo>
                    <a:pt x="70034" y="466005"/>
                  </a:lnTo>
                  <a:cubicBezTo>
                    <a:pt x="31355" y="466005"/>
                    <a:pt x="0" y="434650"/>
                    <a:pt x="0" y="395972"/>
                  </a:cubicBezTo>
                  <a:lnTo>
                    <a:pt x="0" y="70034"/>
                  </a:lnTo>
                  <a:cubicBezTo>
                    <a:pt x="0" y="31355"/>
                    <a:pt x="31355" y="0"/>
                    <a:pt x="70034" y="0"/>
                  </a:cubicBezTo>
                  <a:close/>
                </a:path>
              </a:pathLst>
            </a:custGeom>
            <a:solidFill>
              <a:srgbClr val="02B676"/>
            </a:solidFill>
          </p:spPr>
        </p:sp>
        <p:sp>
          <p:nvSpPr>
            <p:cNvPr id="4" name="TextBox 4"/>
            <p:cNvSpPr txBox="1"/>
            <p:nvPr/>
          </p:nvSpPr>
          <p:spPr>
            <a:xfrm>
              <a:off x="0" y="-104774"/>
              <a:ext cx="1484857" cy="570780"/>
            </a:xfrm>
            <a:prstGeom prst="rect">
              <a:avLst/>
            </a:prstGeom>
          </p:spPr>
          <p:txBody>
            <a:bodyPr lIns="50800" tIns="50800" rIns="50800" bIns="50800" rtlCol="0" anchor="ctr"/>
            <a:lstStyle/>
            <a:p>
              <a:pPr algn="ctr">
                <a:lnSpc>
                  <a:spcPts val="4200"/>
                </a:lnSpc>
              </a:pPr>
              <a:r>
                <a:rPr lang="en-US" sz="3000" b="1" dirty="0">
                  <a:solidFill>
                    <a:srgbClr val="FFFFFF"/>
                  </a:solidFill>
                  <a:latin typeface="Telegraf Bold"/>
                  <a:ea typeface="Telegraf Bold"/>
                  <a:cs typeface="Telegraf Bold"/>
                  <a:sym typeface="Telegraf Bold"/>
                </a:rPr>
                <a:t>La </a:t>
              </a:r>
              <a:r>
                <a:rPr lang="en-US" sz="3000" b="1" dirty="0" err="1">
                  <a:solidFill>
                    <a:srgbClr val="FFFFFF"/>
                  </a:solidFill>
                  <a:latin typeface="Telegraf Bold"/>
                  <a:ea typeface="Telegraf Bold"/>
                  <a:cs typeface="Telegraf Bold"/>
                  <a:sym typeface="Telegraf Bold"/>
                </a:rPr>
                <a:t>matrice</a:t>
              </a:r>
              <a:r>
                <a:rPr lang="en-US" sz="3000" b="1" dirty="0">
                  <a:solidFill>
                    <a:srgbClr val="FFFFFF"/>
                  </a:solidFill>
                  <a:latin typeface="Telegraf Bold"/>
                  <a:ea typeface="Telegraf Bold"/>
                  <a:cs typeface="Telegraf Bold"/>
                  <a:sym typeface="Telegraf Bold"/>
                </a:rPr>
                <a:t> de confusion </a:t>
              </a:r>
              <a:r>
                <a:rPr lang="en-US" sz="3000" b="1" dirty="0" err="1">
                  <a:solidFill>
                    <a:srgbClr val="FFFFFF"/>
                  </a:solidFill>
                  <a:latin typeface="Telegraf Bold"/>
                  <a:ea typeface="Telegraf Bold"/>
                  <a:cs typeface="Telegraf Bold"/>
                  <a:sym typeface="Telegraf Bold"/>
                </a:rPr>
                <a:t>permet</a:t>
              </a:r>
              <a:r>
                <a:rPr lang="en-US" sz="3000" b="1" dirty="0">
                  <a:solidFill>
                    <a:srgbClr val="FFFFFF"/>
                  </a:solidFill>
                  <a:latin typeface="Telegraf Bold"/>
                  <a:ea typeface="Telegraf Bold"/>
                  <a:cs typeface="Telegraf Bold"/>
                  <a:sym typeface="Telegraf Bold"/>
                </a:rPr>
                <a:t> </a:t>
              </a:r>
              <a:r>
                <a:rPr lang="en-US" sz="3000" b="1" dirty="0" err="1">
                  <a:solidFill>
                    <a:srgbClr val="FFFFFF"/>
                  </a:solidFill>
                  <a:latin typeface="Telegraf Bold"/>
                  <a:ea typeface="Telegraf Bold"/>
                  <a:cs typeface="Telegraf Bold"/>
                  <a:sym typeface="Telegraf Bold"/>
                </a:rPr>
                <a:t>d'analyser</a:t>
              </a:r>
              <a:r>
                <a:rPr lang="en-US" sz="3000" b="1" dirty="0">
                  <a:solidFill>
                    <a:srgbClr val="FFFFFF"/>
                  </a:solidFill>
                  <a:latin typeface="Telegraf Bold"/>
                  <a:ea typeface="Telegraf Bold"/>
                  <a:cs typeface="Telegraf Bold"/>
                  <a:sym typeface="Telegraf Bold"/>
                </a:rPr>
                <a:t> les </a:t>
              </a:r>
              <a:r>
                <a:rPr lang="en-US" sz="3000" b="1" dirty="0" err="1">
                  <a:solidFill>
                    <a:srgbClr val="FFFFFF"/>
                  </a:solidFill>
                  <a:latin typeface="Telegraf Bold"/>
                  <a:ea typeface="Telegraf Bold"/>
                  <a:cs typeface="Telegraf Bold"/>
                  <a:sym typeface="Telegraf Bold"/>
                </a:rPr>
                <a:t>erreurs</a:t>
              </a:r>
              <a:r>
                <a:rPr lang="en-US" sz="3000" b="1" dirty="0">
                  <a:solidFill>
                    <a:srgbClr val="FFFFFF"/>
                  </a:solidFill>
                  <a:latin typeface="Telegraf Bold"/>
                  <a:ea typeface="Telegraf Bold"/>
                  <a:cs typeface="Telegraf Bold"/>
                  <a:sym typeface="Telegraf Bold"/>
                </a:rPr>
                <a:t> du </a:t>
              </a:r>
              <a:r>
                <a:rPr lang="en-US" sz="3000" b="1" dirty="0" err="1">
                  <a:solidFill>
                    <a:srgbClr val="FFFFFF"/>
                  </a:solidFill>
                  <a:latin typeface="Telegraf Bold"/>
                  <a:ea typeface="Telegraf Bold"/>
                  <a:cs typeface="Telegraf Bold"/>
                  <a:sym typeface="Telegraf Bold"/>
                </a:rPr>
                <a:t>modèle</a:t>
              </a:r>
              <a:endParaRPr lang="en-US" sz="3000" b="1" dirty="0">
                <a:solidFill>
                  <a:srgbClr val="FFFFFF"/>
                </a:solidFill>
                <a:latin typeface="Telegraf Bold"/>
                <a:ea typeface="Telegraf Bold"/>
                <a:cs typeface="Telegraf Bold"/>
                <a:sym typeface="Telegraf Bold"/>
              </a:endParaRPr>
            </a:p>
          </p:txBody>
        </p:sp>
      </p:grpSp>
      <p:grpSp>
        <p:nvGrpSpPr>
          <p:cNvPr id="5" name="Group 5"/>
          <p:cNvGrpSpPr/>
          <p:nvPr/>
        </p:nvGrpSpPr>
        <p:grpSpPr>
          <a:xfrm>
            <a:off x="17364075" y="9330701"/>
            <a:ext cx="750152" cy="750152"/>
            <a:chOff x="0" y="0"/>
            <a:chExt cx="812800" cy="812800"/>
          </a:xfrm>
        </p:grpSpPr>
        <p:sp>
          <p:nvSpPr>
            <p:cNvPr id="6" name="Freeform 6"/>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7562B"/>
            </a:solidFill>
          </p:spPr>
        </p:sp>
        <p:sp>
          <p:nvSpPr>
            <p:cNvPr id="7" name="TextBox 7"/>
            <p:cNvSpPr txBox="1"/>
            <p:nvPr/>
          </p:nvSpPr>
          <p:spPr>
            <a:xfrm>
              <a:off x="76200" y="85725"/>
              <a:ext cx="660400" cy="650875"/>
            </a:xfrm>
            <a:prstGeom prst="rect">
              <a:avLst/>
            </a:prstGeom>
          </p:spPr>
          <p:txBody>
            <a:bodyPr lIns="50800" tIns="50800" rIns="50800" bIns="50800" rtlCol="0" anchor="ctr"/>
            <a:lstStyle/>
            <a:p>
              <a:pPr algn="ctr">
                <a:lnSpc>
                  <a:spcPts val="2400"/>
                </a:lnSpc>
              </a:pPr>
              <a:r>
                <a:rPr lang="en-US" sz="2400" b="1" spc="117">
                  <a:solidFill>
                    <a:srgbClr val="FFFFFF"/>
                  </a:solidFill>
                  <a:latin typeface="Telegraf Bold"/>
                  <a:ea typeface="Telegraf Bold"/>
                  <a:cs typeface="Telegraf Bold"/>
                  <a:sym typeface="Telegraf Bold"/>
                </a:rPr>
                <a:t>17</a:t>
              </a:r>
            </a:p>
          </p:txBody>
        </p:sp>
      </p:grpSp>
      <p:sp>
        <p:nvSpPr>
          <p:cNvPr id="8" name="Freeform 8"/>
          <p:cNvSpPr/>
          <p:nvPr/>
        </p:nvSpPr>
        <p:spPr>
          <a:xfrm>
            <a:off x="7202041" y="1773114"/>
            <a:ext cx="10057259" cy="7932663"/>
          </a:xfrm>
          <a:custGeom>
            <a:avLst/>
            <a:gdLst/>
            <a:ahLst/>
            <a:cxnLst/>
            <a:rect l="l" t="t" r="r" b="b"/>
            <a:pathLst>
              <a:path w="10057259" h="7932663">
                <a:moveTo>
                  <a:pt x="0" y="0"/>
                </a:moveTo>
                <a:lnTo>
                  <a:pt x="10057259" y="0"/>
                </a:lnTo>
                <a:lnTo>
                  <a:pt x="10057259" y="7932663"/>
                </a:lnTo>
                <a:lnTo>
                  <a:pt x="0" y="7932663"/>
                </a:lnTo>
                <a:lnTo>
                  <a:pt x="0" y="0"/>
                </a:lnTo>
                <a:close/>
              </a:path>
            </a:pathLst>
          </a:custGeom>
          <a:blipFill>
            <a:blip r:embed="rId2"/>
            <a:stretch>
              <a:fillRect/>
            </a:stretch>
          </a:blipFill>
        </p:spPr>
      </p:sp>
      <p:sp>
        <p:nvSpPr>
          <p:cNvPr id="9" name="TextBox 9"/>
          <p:cNvSpPr txBox="1"/>
          <p:nvPr/>
        </p:nvSpPr>
        <p:spPr>
          <a:xfrm>
            <a:off x="852607" y="595031"/>
            <a:ext cx="6898782" cy="1865630"/>
          </a:xfrm>
          <a:prstGeom prst="rect">
            <a:avLst/>
          </a:prstGeom>
        </p:spPr>
        <p:txBody>
          <a:bodyPr lIns="0" tIns="0" rIns="0" bIns="0" rtlCol="0" anchor="t">
            <a:spAutoFit/>
          </a:bodyPr>
          <a:lstStyle/>
          <a:p>
            <a:pPr algn="l">
              <a:lnSpc>
                <a:spcPts val="6699"/>
              </a:lnSpc>
            </a:pPr>
            <a:r>
              <a:rPr lang="en-US" sz="6699" spc="328">
                <a:solidFill>
                  <a:srgbClr val="290606"/>
                </a:solidFill>
                <a:latin typeface="Cheddar"/>
                <a:ea typeface="Cheddar"/>
                <a:cs typeface="Cheddar"/>
                <a:sym typeface="Cheddar"/>
              </a:rPr>
              <a:t>MATRICE DE CONFUSION</a:t>
            </a:r>
          </a:p>
        </p:txBody>
      </p:sp>
      <p:pic>
        <p:nvPicPr>
          <p:cNvPr id="10" name="Image 9"/>
          <p:cNvPicPr>
            <a:picLocks noChangeAspect="1"/>
          </p:cNvPicPr>
          <p:nvPr/>
        </p:nvPicPr>
        <p:blipFill>
          <a:blip r:embed="rId3"/>
          <a:stretch>
            <a:fillRect/>
          </a:stretch>
        </p:blipFill>
        <p:spPr>
          <a:xfrm>
            <a:off x="1066800" y="5600700"/>
            <a:ext cx="5181600" cy="3030523"/>
          </a:xfrm>
          <a:prstGeom prst="rect">
            <a:avLst/>
          </a:prstGeom>
        </p:spPr>
      </p:pic>
      <p:pic>
        <p:nvPicPr>
          <p:cNvPr id="11" name="Image 10"/>
          <p:cNvPicPr>
            <a:picLocks noChangeAspect="1"/>
          </p:cNvPicPr>
          <p:nvPr/>
        </p:nvPicPr>
        <p:blipFill>
          <a:blip r:embed="rId4"/>
          <a:stretch>
            <a:fillRect/>
          </a:stretch>
        </p:blipFill>
        <p:spPr>
          <a:xfrm>
            <a:off x="15011400" y="495300"/>
            <a:ext cx="1609950" cy="933580"/>
          </a:xfrm>
          <a:prstGeom prst="rect">
            <a:avLst/>
          </a:prstGeom>
        </p:spPr>
      </p:pic>
    </p:spTree>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EEF4F3"/>
        </a:solidFill>
        <a:effectLst/>
      </p:bgPr>
    </p:bg>
    <p:spTree>
      <p:nvGrpSpPr>
        <p:cNvPr id="1" name=""/>
        <p:cNvGrpSpPr/>
        <p:nvPr/>
      </p:nvGrpSpPr>
      <p:grpSpPr>
        <a:xfrm>
          <a:off x="0" y="0"/>
          <a:ext cx="0" cy="0"/>
          <a:chOff x="0" y="0"/>
          <a:chExt cx="0" cy="0"/>
        </a:xfrm>
      </p:grpSpPr>
      <p:grpSp>
        <p:nvGrpSpPr>
          <p:cNvPr id="2" name="Group 2"/>
          <p:cNvGrpSpPr/>
          <p:nvPr/>
        </p:nvGrpSpPr>
        <p:grpSpPr>
          <a:xfrm>
            <a:off x="779349" y="1560512"/>
            <a:ext cx="8411349" cy="1130975"/>
            <a:chOff x="0" y="0"/>
            <a:chExt cx="5231820" cy="703461"/>
          </a:xfrm>
        </p:grpSpPr>
        <p:sp>
          <p:nvSpPr>
            <p:cNvPr id="3" name="Freeform 3"/>
            <p:cNvSpPr/>
            <p:nvPr/>
          </p:nvSpPr>
          <p:spPr>
            <a:xfrm>
              <a:off x="0" y="0"/>
              <a:ext cx="5231820" cy="703461"/>
            </a:xfrm>
            <a:custGeom>
              <a:avLst/>
              <a:gdLst/>
              <a:ahLst/>
              <a:cxnLst/>
              <a:rect l="l" t="t" r="r" b="b"/>
              <a:pathLst>
                <a:path w="5231820" h="703461">
                  <a:moveTo>
                    <a:pt x="17488" y="0"/>
                  </a:moveTo>
                  <a:lnTo>
                    <a:pt x="5214332" y="0"/>
                  </a:lnTo>
                  <a:cubicBezTo>
                    <a:pt x="5223990" y="0"/>
                    <a:pt x="5231820" y="7830"/>
                    <a:pt x="5231820" y="17488"/>
                  </a:cubicBezTo>
                  <a:lnTo>
                    <a:pt x="5231820" y="685973"/>
                  </a:lnTo>
                  <a:cubicBezTo>
                    <a:pt x="5231820" y="690611"/>
                    <a:pt x="5229978" y="695059"/>
                    <a:pt x="5226698" y="698339"/>
                  </a:cubicBezTo>
                  <a:cubicBezTo>
                    <a:pt x="5223418" y="701619"/>
                    <a:pt x="5218971" y="703461"/>
                    <a:pt x="5214332" y="703461"/>
                  </a:cubicBezTo>
                  <a:lnTo>
                    <a:pt x="17488" y="703461"/>
                  </a:lnTo>
                  <a:cubicBezTo>
                    <a:pt x="7830" y="703461"/>
                    <a:pt x="0" y="695632"/>
                    <a:pt x="0" y="685973"/>
                  </a:cubicBezTo>
                  <a:lnTo>
                    <a:pt x="0" y="17488"/>
                  </a:lnTo>
                  <a:cubicBezTo>
                    <a:pt x="0" y="7830"/>
                    <a:pt x="7830" y="0"/>
                    <a:pt x="17488" y="0"/>
                  </a:cubicBezTo>
                  <a:close/>
                </a:path>
              </a:pathLst>
            </a:custGeom>
            <a:solidFill>
              <a:srgbClr val="02B676"/>
            </a:solidFill>
          </p:spPr>
        </p:sp>
        <p:sp>
          <p:nvSpPr>
            <p:cNvPr id="4" name="TextBox 4"/>
            <p:cNvSpPr txBox="1"/>
            <p:nvPr/>
          </p:nvSpPr>
          <p:spPr>
            <a:xfrm>
              <a:off x="0" y="57150"/>
              <a:ext cx="5231820" cy="646311"/>
            </a:xfrm>
            <a:prstGeom prst="rect">
              <a:avLst/>
            </a:prstGeom>
          </p:spPr>
          <p:txBody>
            <a:bodyPr lIns="50800" tIns="50800" rIns="50800" bIns="50800" rtlCol="0" anchor="ctr"/>
            <a:lstStyle/>
            <a:p>
              <a:pPr algn="ctr">
                <a:lnSpc>
                  <a:spcPts val="3090"/>
                </a:lnSpc>
              </a:pPr>
              <a:r>
                <a:rPr lang="en-US" sz="3000" b="1" spc="213">
                  <a:solidFill>
                    <a:srgbClr val="FDF8F8"/>
                  </a:solidFill>
                  <a:latin typeface="Canva Sans Bold"/>
                  <a:ea typeface="Canva Sans Bold"/>
                  <a:cs typeface="Canva Sans Bold"/>
                  <a:sym typeface="Canva Sans Bold"/>
                </a:rPr>
                <a:t>Voici des exemples de prédictions effectuées par notre modèle.</a:t>
              </a:r>
            </a:p>
          </p:txBody>
        </p:sp>
      </p:grpSp>
      <p:grpSp>
        <p:nvGrpSpPr>
          <p:cNvPr id="5" name="Group 5"/>
          <p:cNvGrpSpPr/>
          <p:nvPr/>
        </p:nvGrpSpPr>
        <p:grpSpPr>
          <a:xfrm>
            <a:off x="17364075" y="9330701"/>
            <a:ext cx="750152" cy="750152"/>
            <a:chOff x="0" y="0"/>
            <a:chExt cx="812800" cy="812800"/>
          </a:xfrm>
        </p:grpSpPr>
        <p:sp>
          <p:nvSpPr>
            <p:cNvPr id="6" name="Freeform 6"/>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7562B"/>
            </a:solidFill>
          </p:spPr>
        </p:sp>
        <p:sp>
          <p:nvSpPr>
            <p:cNvPr id="7" name="TextBox 7"/>
            <p:cNvSpPr txBox="1"/>
            <p:nvPr/>
          </p:nvSpPr>
          <p:spPr>
            <a:xfrm>
              <a:off x="76200" y="85725"/>
              <a:ext cx="660400" cy="650875"/>
            </a:xfrm>
            <a:prstGeom prst="rect">
              <a:avLst/>
            </a:prstGeom>
          </p:spPr>
          <p:txBody>
            <a:bodyPr lIns="50800" tIns="50800" rIns="50800" bIns="50800" rtlCol="0" anchor="ctr"/>
            <a:lstStyle/>
            <a:p>
              <a:pPr algn="ctr">
                <a:lnSpc>
                  <a:spcPts val="2400"/>
                </a:lnSpc>
              </a:pPr>
              <a:r>
                <a:rPr lang="en-US" sz="2400" b="1" spc="117">
                  <a:solidFill>
                    <a:srgbClr val="FFFFFF"/>
                  </a:solidFill>
                  <a:latin typeface="Telegraf Bold"/>
                  <a:ea typeface="Telegraf Bold"/>
                  <a:cs typeface="Telegraf Bold"/>
                  <a:sym typeface="Telegraf Bold"/>
                </a:rPr>
                <a:t>18</a:t>
              </a:r>
            </a:p>
          </p:txBody>
        </p:sp>
      </p:grpSp>
      <p:sp>
        <p:nvSpPr>
          <p:cNvPr id="8" name="Freeform 8"/>
          <p:cNvSpPr/>
          <p:nvPr/>
        </p:nvSpPr>
        <p:spPr>
          <a:xfrm>
            <a:off x="0" y="4020437"/>
            <a:ext cx="18288000" cy="3569532"/>
          </a:xfrm>
          <a:custGeom>
            <a:avLst/>
            <a:gdLst/>
            <a:ahLst/>
            <a:cxnLst/>
            <a:rect l="l" t="t" r="r" b="b"/>
            <a:pathLst>
              <a:path w="18288000" h="3569532">
                <a:moveTo>
                  <a:pt x="0" y="0"/>
                </a:moveTo>
                <a:lnTo>
                  <a:pt x="18288000" y="0"/>
                </a:lnTo>
                <a:lnTo>
                  <a:pt x="18288000" y="3569533"/>
                </a:lnTo>
                <a:lnTo>
                  <a:pt x="0" y="3569533"/>
                </a:lnTo>
                <a:lnTo>
                  <a:pt x="0" y="0"/>
                </a:lnTo>
                <a:close/>
              </a:path>
            </a:pathLst>
          </a:custGeom>
          <a:blipFill>
            <a:blip r:embed="rId2"/>
            <a:stretch>
              <a:fillRect t="-913" b="-913"/>
            </a:stretch>
          </a:blipFill>
        </p:spPr>
      </p:sp>
      <p:sp>
        <p:nvSpPr>
          <p:cNvPr id="9" name="TextBox 9"/>
          <p:cNvSpPr txBox="1"/>
          <p:nvPr/>
        </p:nvSpPr>
        <p:spPr>
          <a:xfrm>
            <a:off x="779349" y="487363"/>
            <a:ext cx="8115300" cy="1073150"/>
          </a:xfrm>
          <a:prstGeom prst="rect">
            <a:avLst/>
          </a:prstGeom>
        </p:spPr>
        <p:txBody>
          <a:bodyPr lIns="0" tIns="0" rIns="0" bIns="0" rtlCol="0" anchor="t">
            <a:spAutoFit/>
          </a:bodyPr>
          <a:lstStyle/>
          <a:p>
            <a:pPr algn="l">
              <a:lnSpc>
                <a:spcPts val="6999"/>
              </a:lnSpc>
            </a:pPr>
            <a:r>
              <a:rPr lang="en-US" sz="6999" spc="342">
                <a:solidFill>
                  <a:srgbClr val="290606"/>
                </a:solidFill>
                <a:latin typeface="Cheddar"/>
                <a:ea typeface="Cheddar"/>
                <a:cs typeface="Cheddar"/>
                <a:sym typeface="Cheddar"/>
              </a:rPr>
              <a:t>PRÉDICTIONS FINALES</a:t>
            </a:r>
          </a:p>
        </p:txBody>
      </p:sp>
      <p:sp>
        <p:nvSpPr>
          <p:cNvPr id="10" name="Freeform 10"/>
          <p:cNvSpPr/>
          <p:nvPr/>
        </p:nvSpPr>
        <p:spPr>
          <a:xfrm>
            <a:off x="16206555" y="3684459"/>
            <a:ext cx="2081445" cy="1059645"/>
          </a:xfrm>
          <a:custGeom>
            <a:avLst/>
            <a:gdLst/>
            <a:ahLst/>
            <a:cxnLst/>
            <a:rect l="l" t="t" r="r" b="b"/>
            <a:pathLst>
              <a:path w="2081445" h="1059645">
                <a:moveTo>
                  <a:pt x="0" y="0"/>
                </a:moveTo>
                <a:lnTo>
                  <a:pt x="2081445" y="0"/>
                </a:lnTo>
                <a:lnTo>
                  <a:pt x="2081445" y="1059645"/>
                </a:lnTo>
                <a:lnTo>
                  <a:pt x="0" y="1059645"/>
                </a:lnTo>
                <a:lnTo>
                  <a:pt x="0" y="0"/>
                </a:lnTo>
                <a:close/>
              </a:path>
            </a:pathLst>
          </a:custGeom>
          <a:blipFill>
            <a:blip r:embed="rId3">
              <a:extLst>
                <a:ext uri="{96DAC541-7B7A-43D3-8B79-37D633B846F1}">
                  <asvg:svgBlip xmlns="" xmlns:asvg="http://schemas.microsoft.com/office/drawing/2016/SVG/main" r:embed="rId4"/>
                </a:ext>
              </a:extLst>
            </a:blip>
            <a:stretch>
              <a:fillRect/>
            </a:stretch>
          </a:blipFill>
        </p:spPr>
      </p:sp>
      <p:pic>
        <p:nvPicPr>
          <p:cNvPr id="11" name="Image 10"/>
          <p:cNvPicPr>
            <a:picLocks noChangeAspect="1"/>
          </p:cNvPicPr>
          <p:nvPr/>
        </p:nvPicPr>
        <p:blipFill>
          <a:blip r:embed="rId5"/>
          <a:stretch>
            <a:fillRect/>
          </a:stretch>
        </p:blipFill>
        <p:spPr>
          <a:xfrm>
            <a:off x="14722459" y="-82929"/>
            <a:ext cx="3590941" cy="2623585"/>
          </a:xfrm>
          <a:prstGeom prst="rect">
            <a:avLst/>
          </a:prstGeom>
        </p:spPr>
      </p:pic>
      <p:pic>
        <p:nvPicPr>
          <p:cNvPr id="12" name="Image 11"/>
          <p:cNvPicPr>
            <a:picLocks noChangeAspect="1"/>
          </p:cNvPicPr>
          <p:nvPr/>
        </p:nvPicPr>
        <p:blipFill>
          <a:blip r:embed="rId6"/>
          <a:stretch>
            <a:fillRect/>
          </a:stretch>
        </p:blipFill>
        <p:spPr>
          <a:xfrm>
            <a:off x="0" y="7505700"/>
            <a:ext cx="3581400" cy="2829433"/>
          </a:xfrm>
          <a:prstGeom prst="rect">
            <a:avLst/>
          </a:prstGeom>
        </p:spPr>
      </p:pic>
    </p:spTree>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EEF4F3"/>
        </a:solidFill>
        <a:effectLst/>
      </p:bgPr>
    </p:bg>
    <p:spTree>
      <p:nvGrpSpPr>
        <p:cNvPr id="1" name=""/>
        <p:cNvGrpSpPr/>
        <p:nvPr/>
      </p:nvGrpSpPr>
      <p:grpSpPr>
        <a:xfrm>
          <a:off x="0" y="0"/>
          <a:ext cx="0" cy="0"/>
          <a:chOff x="0" y="0"/>
          <a:chExt cx="0" cy="0"/>
        </a:xfrm>
      </p:grpSpPr>
      <p:sp>
        <p:nvSpPr>
          <p:cNvPr id="2" name="AutoShape 2"/>
          <p:cNvSpPr/>
          <p:nvPr/>
        </p:nvSpPr>
        <p:spPr>
          <a:xfrm>
            <a:off x="-886757" y="3754522"/>
            <a:ext cx="20061513" cy="0"/>
          </a:xfrm>
          <a:prstGeom prst="line">
            <a:avLst/>
          </a:prstGeom>
          <a:ln w="28575" cap="flat">
            <a:solidFill>
              <a:srgbClr val="02B676"/>
            </a:solidFill>
            <a:prstDash val="solid"/>
            <a:headEnd type="none" w="sm" len="sm"/>
            <a:tailEnd type="none" w="sm" len="sm"/>
          </a:ln>
        </p:spPr>
      </p:sp>
      <p:sp>
        <p:nvSpPr>
          <p:cNvPr id="3" name="TextBox 3"/>
          <p:cNvSpPr txBox="1"/>
          <p:nvPr/>
        </p:nvSpPr>
        <p:spPr>
          <a:xfrm>
            <a:off x="979374" y="754063"/>
            <a:ext cx="5445738" cy="1304283"/>
          </a:xfrm>
          <a:prstGeom prst="rect">
            <a:avLst/>
          </a:prstGeom>
        </p:spPr>
        <p:txBody>
          <a:bodyPr lIns="0" tIns="0" rIns="0" bIns="0" rtlCol="0" anchor="t">
            <a:spAutoFit/>
          </a:bodyPr>
          <a:lstStyle/>
          <a:p>
            <a:pPr algn="l">
              <a:lnSpc>
                <a:spcPts val="8599"/>
              </a:lnSpc>
            </a:pPr>
            <a:r>
              <a:rPr lang="en-US" sz="8599" spc="421">
                <a:solidFill>
                  <a:srgbClr val="290606"/>
                </a:solidFill>
                <a:latin typeface="Cheddar"/>
                <a:ea typeface="Cheddar"/>
                <a:cs typeface="Cheddar"/>
                <a:sym typeface="Cheddar"/>
              </a:rPr>
              <a:t>CONCLUSION</a:t>
            </a:r>
          </a:p>
        </p:txBody>
      </p:sp>
      <p:grpSp>
        <p:nvGrpSpPr>
          <p:cNvPr id="4" name="Group 4"/>
          <p:cNvGrpSpPr/>
          <p:nvPr/>
        </p:nvGrpSpPr>
        <p:grpSpPr>
          <a:xfrm>
            <a:off x="1099456" y="5163102"/>
            <a:ext cx="16089086" cy="4039224"/>
            <a:chOff x="248553" y="116695"/>
            <a:chExt cx="9760257" cy="2512379"/>
          </a:xfrm>
        </p:grpSpPr>
        <p:sp>
          <p:nvSpPr>
            <p:cNvPr id="5" name="Freeform 5"/>
            <p:cNvSpPr/>
            <p:nvPr/>
          </p:nvSpPr>
          <p:spPr>
            <a:xfrm>
              <a:off x="248553" y="116695"/>
              <a:ext cx="9760257" cy="2512379"/>
            </a:xfrm>
            <a:custGeom>
              <a:avLst/>
              <a:gdLst/>
              <a:ahLst/>
              <a:cxnLst/>
              <a:rect l="l" t="t" r="r" b="b"/>
              <a:pathLst>
                <a:path w="9760257" h="2512379">
                  <a:moveTo>
                    <a:pt x="9374" y="0"/>
                  </a:moveTo>
                  <a:lnTo>
                    <a:pt x="9750883" y="0"/>
                  </a:lnTo>
                  <a:cubicBezTo>
                    <a:pt x="9756060" y="0"/>
                    <a:pt x="9760257" y="4197"/>
                    <a:pt x="9760257" y="9374"/>
                  </a:cubicBezTo>
                  <a:lnTo>
                    <a:pt x="9760257" y="2503005"/>
                  </a:lnTo>
                  <a:cubicBezTo>
                    <a:pt x="9760257" y="2508182"/>
                    <a:pt x="9756060" y="2512379"/>
                    <a:pt x="9750883" y="2512379"/>
                  </a:cubicBezTo>
                  <a:lnTo>
                    <a:pt x="9374" y="2512379"/>
                  </a:lnTo>
                  <a:cubicBezTo>
                    <a:pt x="4197" y="2512379"/>
                    <a:pt x="0" y="2508182"/>
                    <a:pt x="0" y="2503005"/>
                  </a:cubicBezTo>
                  <a:lnTo>
                    <a:pt x="0" y="9374"/>
                  </a:lnTo>
                  <a:cubicBezTo>
                    <a:pt x="0" y="4197"/>
                    <a:pt x="4197" y="0"/>
                    <a:pt x="9374" y="0"/>
                  </a:cubicBezTo>
                  <a:close/>
                </a:path>
              </a:pathLst>
            </a:custGeom>
            <a:solidFill>
              <a:srgbClr val="02B676"/>
            </a:solidFill>
          </p:spPr>
        </p:sp>
        <p:sp>
          <p:nvSpPr>
            <p:cNvPr id="6" name="TextBox 6"/>
            <p:cNvSpPr txBox="1"/>
            <p:nvPr/>
          </p:nvSpPr>
          <p:spPr>
            <a:xfrm>
              <a:off x="375671" y="138372"/>
              <a:ext cx="9384586" cy="2374007"/>
            </a:xfrm>
            <a:prstGeom prst="rect">
              <a:avLst/>
            </a:prstGeom>
          </p:spPr>
          <p:txBody>
            <a:bodyPr lIns="50800" tIns="50800" rIns="50800" bIns="50800" rtlCol="0" anchor="ctr"/>
            <a:lstStyle/>
            <a:p>
              <a:pPr algn="l">
                <a:lnSpc>
                  <a:spcPts val="3600"/>
                </a:lnSpc>
              </a:pPr>
              <a:r>
                <a:rPr lang="en-US" sz="3000" b="1" spc="189" dirty="0">
                  <a:solidFill>
                    <a:srgbClr val="FDF8F8"/>
                  </a:solidFill>
                  <a:latin typeface="Canva Sans Bold"/>
                  <a:ea typeface="Canva Sans Bold"/>
                  <a:cs typeface="Canva Sans Bold"/>
                  <a:sym typeface="Canva Sans Bold"/>
                </a:rPr>
                <a:t>Notre travail a </a:t>
              </a:r>
              <a:r>
                <a:rPr lang="en-US" sz="3000" b="1" spc="189" dirty="0" err="1">
                  <a:solidFill>
                    <a:srgbClr val="FDF8F8"/>
                  </a:solidFill>
                  <a:latin typeface="Canva Sans Bold"/>
                  <a:ea typeface="Canva Sans Bold"/>
                  <a:cs typeface="Canva Sans Bold"/>
                  <a:sym typeface="Canva Sans Bold"/>
                </a:rPr>
                <a:t>abouti</a:t>
              </a:r>
              <a:r>
                <a:rPr lang="en-US" sz="3000" b="1" spc="189" dirty="0">
                  <a:solidFill>
                    <a:srgbClr val="FDF8F8"/>
                  </a:solidFill>
                  <a:latin typeface="Canva Sans Bold"/>
                  <a:ea typeface="Canva Sans Bold"/>
                  <a:cs typeface="Canva Sans Bold"/>
                  <a:sym typeface="Canva Sans Bold"/>
                </a:rPr>
                <a:t> à la construction d’un </a:t>
              </a:r>
              <a:r>
                <a:rPr lang="en-US" sz="3000" b="1" spc="189" dirty="0" err="1">
                  <a:solidFill>
                    <a:srgbClr val="FDF8F8"/>
                  </a:solidFill>
                  <a:latin typeface="Canva Sans Bold"/>
                  <a:ea typeface="Canva Sans Bold"/>
                  <a:cs typeface="Canva Sans Bold"/>
                  <a:sym typeface="Canva Sans Bold"/>
                </a:rPr>
                <a:t>modèle</a:t>
              </a:r>
              <a:r>
                <a:rPr lang="en-US" sz="3000" b="1" spc="189" dirty="0">
                  <a:solidFill>
                    <a:srgbClr val="FDF8F8"/>
                  </a:solidFill>
                  <a:latin typeface="Canva Sans Bold"/>
                  <a:ea typeface="Canva Sans Bold"/>
                  <a:cs typeface="Canva Sans Bold"/>
                  <a:sym typeface="Canva Sans Bold"/>
                </a:rPr>
                <a:t> </a:t>
              </a:r>
              <a:r>
                <a:rPr lang="en-US" sz="3000" b="1" spc="189" dirty="0" err="1">
                  <a:solidFill>
                    <a:srgbClr val="FDF8F8"/>
                  </a:solidFill>
                  <a:latin typeface="Canva Sans Bold"/>
                  <a:ea typeface="Canva Sans Bold"/>
                  <a:cs typeface="Canva Sans Bold"/>
                  <a:sym typeface="Canva Sans Bold"/>
                </a:rPr>
                <a:t>fiable</a:t>
              </a:r>
              <a:r>
                <a:rPr lang="en-US" sz="3000" b="1" spc="189" dirty="0">
                  <a:solidFill>
                    <a:srgbClr val="FDF8F8"/>
                  </a:solidFill>
                  <a:latin typeface="Canva Sans Bold"/>
                  <a:ea typeface="Canva Sans Bold"/>
                  <a:cs typeface="Canva Sans Bold"/>
                  <a:sym typeface="Canva Sans Bold"/>
                </a:rPr>
                <a:t> pour la </a:t>
              </a:r>
              <a:r>
                <a:rPr lang="en-US" sz="3000" b="1" spc="189" dirty="0" err="1">
                  <a:solidFill>
                    <a:srgbClr val="FDF8F8"/>
                  </a:solidFill>
                  <a:latin typeface="Canva Sans Bold"/>
                  <a:ea typeface="Canva Sans Bold"/>
                  <a:cs typeface="Canva Sans Bold"/>
                  <a:sym typeface="Canva Sans Bold"/>
                </a:rPr>
                <a:t>prédiction</a:t>
              </a:r>
              <a:r>
                <a:rPr lang="en-US" sz="3000" b="1" spc="189" dirty="0">
                  <a:solidFill>
                    <a:srgbClr val="FDF8F8"/>
                  </a:solidFill>
                  <a:latin typeface="Canva Sans Bold"/>
                  <a:ea typeface="Canva Sans Bold"/>
                  <a:cs typeface="Canva Sans Bold"/>
                  <a:sym typeface="Canva Sans Bold"/>
                </a:rPr>
                <a:t> des maladies </a:t>
              </a:r>
              <a:r>
                <a:rPr lang="en-US" sz="3000" b="1" spc="189" dirty="0" err="1">
                  <a:solidFill>
                    <a:srgbClr val="FDF8F8"/>
                  </a:solidFill>
                  <a:latin typeface="Canva Sans Bold"/>
                  <a:ea typeface="Canva Sans Bold"/>
                  <a:cs typeface="Canva Sans Bold"/>
                  <a:sym typeface="Canva Sans Bold"/>
                </a:rPr>
                <a:t>cardiaques</a:t>
              </a:r>
              <a:r>
                <a:rPr lang="en-US" sz="3000" b="1" spc="189" dirty="0">
                  <a:solidFill>
                    <a:srgbClr val="FDF8F8"/>
                  </a:solidFill>
                  <a:latin typeface="Canva Sans Bold"/>
                  <a:ea typeface="Canva Sans Bold"/>
                  <a:cs typeface="Canva Sans Bold"/>
                  <a:sym typeface="Canva Sans Bold"/>
                </a:rPr>
                <a:t>. </a:t>
              </a:r>
              <a:r>
                <a:rPr lang="en-US" sz="3000" b="1" spc="189" dirty="0" err="1">
                  <a:solidFill>
                    <a:srgbClr val="FDF8F8"/>
                  </a:solidFill>
                  <a:latin typeface="Canva Sans Bold"/>
                  <a:ea typeface="Canva Sans Bold"/>
                  <a:cs typeface="Canva Sans Bold"/>
                  <a:sym typeface="Canva Sans Bold"/>
                </a:rPr>
                <a:t>Voici</a:t>
              </a:r>
              <a:r>
                <a:rPr lang="en-US" sz="3000" b="1" spc="189" dirty="0">
                  <a:solidFill>
                    <a:srgbClr val="FDF8F8"/>
                  </a:solidFill>
                  <a:latin typeface="Canva Sans Bold"/>
                  <a:ea typeface="Canva Sans Bold"/>
                  <a:cs typeface="Canva Sans Bold"/>
                  <a:sym typeface="Canva Sans Bold"/>
                </a:rPr>
                <a:t> les </a:t>
              </a:r>
              <a:r>
                <a:rPr lang="en-US" sz="3000" b="1" spc="189" dirty="0" err="1">
                  <a:solidFill>
                    <a:srgbClr val="FDF8F8"/>
                  </a:solidFill>
                  <a:latin typeface="Canva Sans Bold"/>
                  <a:ea typeface="Canva Sans Bold"/>
                  <a:cs typeface="Canva Sans Bold"/>
                  <a:sym typeface="Canva Sans Bold"/>
                </a:rPr>
                <a:t>principaux</a:t>
              </a:r>
              <a:r>
                <a:rPr lang="en-US" sz="3000" b="1" spc="189" dirty="0">
                  <a:solidFill>
                    <a:srgbClr val="FDF8F8"/>
                  </a:solidFill>
                  <a:latin typeface="Canva Sans Bold"/>
                  <a:ea typeface="Canva Sans Bold"/>
                  <a:cs typeface="Canva Sans Bold"/>
                  <a:sym typeface="Canva Sans Bold"/>
                </a:rPr>
                <a:t> points à </a:t>
              </a:r>
              <a:r>
                <a:rPr lang="en-US" sz="3000" b="1" spc="189" dirty="0" err="1">
                  <a:solidFill>
                    <a:srgbClr val="FDF8F8"/>
                  </a:solidFill>
                  <a:latin typeface="Canva Sans Bold"/>
                  <a:ea typeface="Canva Sans Bold"/>
                  <a:cs typeface="Canva Sans Bold"/>
                  <a:sym typeface="Canva Sans Bold"/>
                </a:rPr>
                <a:t>retenir</a:t>
              </a:r>
              <a:r>
                <a:rPr lang="en-US" sz="3000" spc="189" dirty="0">
                  <a:solidFill>
                    <a:srgbClr val="FDF8F8"/>
                  </a:solidFill>
                  <a:latin typeface="Canva Sans"/>
                  <a:ea typeface="Canva Sans"/>
                  <a:cs typeface="Canva Sans"/>
                  <a:sym typeface="Canva Sans"/>
                </a:rPr>
                <a:t> :</a:t>
              </a:r>
            </a:p>
            <a:p>
              <a:pPr algn="l">
                <a:lnSpc>
                  <a:spcPts val="3600"/>
                </a:lnSpc>
              </a:pPr>
              <a:endParaRPr lang="en-US" sz="3000" spc="189" dirty="0">
                <a:solidFill>
                  <a:srgbClr val="FDF8F8"/>
                </a:solidFill>
                <a:latin typeface="Canva Sans"/>
                <a:ea typeface="Canva Sans"/>
                <a:cs typeface="Canva Sans"/>
                <a:sym typeface="Canva Sans"/>
              </a:endParaRPr>
            </a:p>
            <a:p>
              <a:pPr marL="647711" lvl="1" indent="-323856" algn="l">
                <a:lnSpc>
                  <a:spcPts val="3600"/>
                </a:lnSpc>
                <a:buFont typeface="Arial"/>
                <a:buChar char="•"/>
              </a:pPr>
              <a:r>
                <a:rPr lang="en-US" sz="3000" b="1" spc="189" dirty="0" err="1">
                  <a:solidFill>
                    <a:srgbClr val="FDF8F8"/>
                  </a:solidFill>
                  <a:latin typeface="Canva Sans Bold"/>
                  <a:ea typeface="Canva Sans Bold"/>
                  <a:cs typeface="Canva Sans Bold"/>
                  <a:sym typeface="Canva Sans Bold"/>
                </a:rPr>
                <a:t>Modèle</a:t>
              </a:r>
              <a:r>
                <a:rPr lang="en-US" sz="3000" b="1" spc="189" dirty="0">
                  <a:solidFill>
                    <a:srgbClr val="FDF8F8"/>
                  </a:solidFill>
                  <a:latin typeface="Canva Sans Bold"/>
                  <a:ea typeface="Canva Sans Bold"/>
                  <a:cs typeface="Canva Sans Bold"/>
                  <a:sym typeface="Canva Sans Bold"/>
                </a:rPr>
                <a:t> performant pour la </a:t>
              </a:r>
              <a:r>
                <a:rPr lang="en-US" sz="3000" b="1" spc="189" dirty="0" err="1">
                  <a:solidFill>
                    <a:srgbClr val="FDF8F8"/>
                  </a:solidFill>
                  <a:latin typeface="Canva Sans Bold"/>
                  <a:ea typeface="Canva Sans Bold"/>
                  <a:cs typeface="Canva Sans Bold"/>
                  <a:sym typeface="Canva Sans Bold"/>
                </a:rPr>
                <a:t>prédiction</a:t>
              </a:r>
              <a:r>
                <a:rPr lang="en-US" sz="3000" b="1" spc="189" dirty="0">
                  <a:solidFill>
                    <a:srgbClr val="FDF8F8"/>
                  </a:solidFill>
                  <a:latin typeface="Canva Sans Bold"/>
                  <a:ea typeface="Canva Sans Bold"/>
                  <a:cs typeface="Canva Sans Bold"/>
                  <a:sym typeface="Canva Sans Bold"/>
                </a:rPr>
                <a:t> des maladies </a:t>
              </a:r>
              <a:r>
                <a:rPr lang="en-US" sz="3000" b="1" spc="189" dirty="0" err="1">
                  <a:solidFill>
                    <a:srgbClr val="FDF8F8"/>
                  </a:solidFill>
                  <a:latin typeface="Canva Sans Bold"/>
                  <a:ea typeface="Canva Sans Bold"/>
                  <a:cs typeface="Canva Sans Bold"/>
                  <a:sym typeface="Canva Sans Bold"/>
                </a:rPr>
                <a:t>cardiaques</a:t>
              </a:r>
              <a:r>
                <a:rPr lang="en-US" sz="3000" b="1" spc="189" dirty="0">
                  <a:solidFill>
                    <a:srgbClr val="FDF8F8"/>
                  </a:solidFill>
                  <a:latin typeface="Canva Sans Bold"/>
                  <a:ea typeface="Canva Sans Bold"/>
                  <a:cs typeface="Canva Sans Bold"/>
                  <a:sym typeface="Canva Sans Bold"/>
                </a:rPr>
                <a:t>.</a:t>
              </a:r>
            </a:p>
            <a:p>
              <a:pPr marL="647711" lvl="1" indent="-323856" algn="l">
                <a:lnSpc>
                  <a:spcPts val="3600"/>
                </a:lnSpc>
                <a:buFont typeface="Arial"/>
                <a:buChar char="•"/>
              </a:pPr>
              <a:r>
                <a:rPr lang="en-US" sz="3000" b="1" spc="189" dirty="0">
                  <a:solidFill>
                    <a:srgbClr val="FDF8F8"/>
                  </a:solidFill>
                  <a:latin typeface="Canva Sans Bold"/>
                  <a:ea typeface="Canva Sans Bold"/>
                  <a:cs typeface="Canva Sans Bold"/>
                  <a:sym typeface="Canva Sans Bold"/>
                </a:rPr>
                <a:t>Importance du </a:t>
              </a:r>
              <a:r>
                <a:rPr lang="en-US" sz="3000" b="1" spc="189" dirty="0" err="1">
                  <a:solidFill>
                    <a:srgbClr val="FDF8F8"/>
                  </a:solidFill>
                  <a:latin typeface="Canva Sans Bold"/>
                  <a:ea typeface="Canva Sans Bold"/>
                  <a:cs typeface="Canva Sans Bold"/>
                  <a:sym typeface="Canva Sans Bold"/>
                </a:rPr>
                <a:t>nettoyage</a:t>
              </a:r>
              <a:r>
                <a:rPr lang="en-US" sz="3000" b="1" spc="189" dirty="0">
                  <a:solidFill>
                    <a:srgbClr val="FDF8F8"/>
                  </a:solidFill>
                  <a:latin typeface="Canva Sans Bold"/>
                  <a:ea typeface="Canva Sans Bold"/>
                  <a:cs typeface="Canva Sans Bold"/>
                  <a:sym typeface="Canva Sans Bold"/>
                </a:rPr>
                <a:t> des </a:t>
              </a:r>
              <a:r>
                <a:rPr lang="en-US" sz="3000" b="1" spc="189" dirty="0" err="1">
                  <a:solidFill>
                    <a:srgbClr val="FDF8F8"/>
                  </a:solidFill>
                  <a:latin typeface="Canva Sans Bold"/>
                  <a:ea typeface="Canva Sans Bold"/>
                  <a:cs typeface="Canva Sans Bold"/>
                  <a:sym typeface="Canva Sans Bold"/>
                </a:rPr>
                <a:t>données</a:t>
              </a:r>
              <a:r>
                <a:rPr lang="en-US" sz="3000" b="1" spc="189" dirty="0">
                  <a:solidFill>
                    <a:srgbClr val="FDF8F8"/>
                  </a:solidFill>
                  <a:latin typeface="Canva Sans Bold"/>
                  <a:ea typeface="Canva Sans Bold"/>
                  <a:cs typeface="Canva Sans Bold"/>
                  <a:sym typeface="Canva Sans Bold"/>
                </a:rPr>
                <a:t> pour de </a:t>
              </a:r>
              <a:r>
                <a:rPr lang="en-US" sz="3000" b="1" spc="189" dirty="0" err="1">
                  <a:solidFill>
                    <a:srgbClr val="FDF8F8"/>
                  </a:solidFill>
                  <a:latin typeface="Canva Sans Bold"/>
                  <a:ea typeface="Canva Sans Bold"/>
                  <a:cs typeface="Canva Sans Bold"/>
                  <a:sym typeface="Canva Sans Bold"/>
                </a:rPr>
                <a:t>bons</a:t>
              </a:r>
              <a:r>
                <a:rPr lang="en-US" sz="3000" b="1" spc="189" dirty="0">
                  <a:solidFill>
                    <a:srgbClr val="FDF8F8"/>
                  </a:solidFill>
                  <a:latin typeface="Canva Sans Bold"/>
                  <a:ea typeface="Canva Sans Bold"/>
                  <a:cs typeface="Canva Sans Bold"/>
                  <a:sym typeface="Canva Sans Bold"/>
                </a:rPr>
                <a:t> </a:t>
              </a:r>
              <a:r>
                <a:rPr lang="en-US" sz="3000" b="1" spc="189" dirty="0" err="1">
                  <a:solidFill>
                    <a:srgbClr val="FDF8F8"/>
                  </a:solidFill>
                  <a:latin typeface="Canva Sans Bold"/>
                  <a:ea typeface="Canva Sans Bold"/>
                  <a:cs typeface="Canva Sans Bold"/>
                  <a:sym typeface="Canva Sans Bold"/>
                </a:rPr>
                <a:t>résultats</a:t>
              </a:r>
              <a:r>
                <a:rPr lang="en-US" sz="3000" b="1" spc="189" dirty="0">
                  <a:solidFill>
                    <a:srgbClr val="FDF8F8"/>
                  </a:solidFill>
                  <a:latin typeface="Canva Sans Bold"/>
                  <a:ea typeface="Canva Sans Bold"/>
                  <a:cs typeface="Canva Sans Bold"/>
                  <a:sym typeface="Canva Sans Bold"/>
                </a:rPr>
                <a:t>.</a:t>
              </a:r>
            </a:p>
            <a:p>
              <a:pPr marL="647711" lvl="1" indent="-323856" algn="l">
                <a:lnSpc>
                  <a:spcPts val="3600"/>
                </a:lnSpc>
                <a:buFont typeface="Arial"/>
                <a:buChar char="•"/>
              </a:pPr>
              <a:r>
                <a:rPr lang="en-US" sz="3000" b="1" spc="189" dirty="0" err="1">
                  <a:solidFill>
                    <a:srgbClr val="FDF8F8"/>
                  </a:solidFill>
                  <a:latin typeface="Canva Sans Bold"/>
                  <a:ea typeface="Canva Sans Bold"/>
                  <a:cs typeface="Canva Sans Bold"/>
                  <a:sym typeface="Canva Sans Bold"/>
                </a:rPr>
                <a:t>XGBoost</a:t>
              </a:r>
              <a:r>
                <a:rPr lang="en-US" sz="3000" b="1" spc="189" dirty="0">
                  <a:solidFill>
                    <a:srgbClr val="FDF8F8"/>
                  </a:solidFill>
                  <a:latin typeface="Canva Sans Bold"/>
                  <a:ea typeface="Canva Sans Bold"/>
                  <a:cs typeface="Canva Sans Bold"/>
                  <a:sym typeface="Canva Sans Bold"/>
                </a:rPr>
                <a:t> </a:t>
              </a:r>
              <a:r>
                <a:rPr lang="en-US" sz="3000" b="1" spc="189" dirty="0" err="1">
                  <a:solidFill>
                    <a:srgbClr val="FDF8F8"/>
                  </a:solidFill>
                  <a:latin typeface="Canva Sans Bold"/>
                  <a:ea typeface="Canva Sans Bold"/>
                  <a:cs typeface="Canva Sans Bold"/>
                  <a:sym typeface="Canva Sans Bold"/>
                </a:rPr>
                <a:t>est</a:t>
              </a:r>
              <a:r>
                <a:rPr lang="en-US" sz="3000" b="1" spc="189" dirty="0">
                  <a:solidFill>
                    <a:srgbClr val="FDF8F8"/>
                  </a:solidFill>
                  <a:latin typeface="Canva Sans Bold"/>
                  <a:ea typeface="Canva Sans Bold"/>
                  <a:cs typeface="Canva Sans Bold"/>
                  <a:sym typeface="Canva Sans Bold"/>
                </a:rPr>
                <a:t> </a:t>
              </a:r>
              <a:r>
                <a:rPr lang="en-US" sz="3000" b="1" spc="189" dirty="0" err="1">
                  <a:solidFill>
                    <a:srgbClr val="FDF8F8"/>
                  </a:solidFill>
                  <a:latin typeface="Canva Sans Bold"/>
                  <a:ea typeface="Canva Sans Bold"/>
                  <a:cs typeface="Canva Sans Bold"/>
                  <a:sym typeface="Canva Sans Bold"/>
                </a:rPr>
                <a:t>optimisé</a:t>
              </a:r>
              <a:r>
                <a:rPr lang="en-US" sz="3000" b="1" spc="189" dirty="0">
                  <a:solidFill>
                    <a:srgbClr val="FDF8F8"/>
                  </a:solidFill>
                  <a:latin typeface="Canva Sans Bold"/>
                  <a:ea typeface="Canva Sans Bold"/>
                  <a:cs typeface="Canva Sans Bold"/>
                  <a:sym typeface="Canva Sans Bold"/>
                </a:rPr>
                <a:t> pour la </a:t>
              </a:r>
              <a:r>
                <a:rPr lang="en-US" sz="3000" b="1" spc="189" dirty="0" err="1">
                  <a:solidFill>
                    <a:srgbClr val="FDF8F8"/>
                  </a:solidFill>
                  <a:latin typeface="Canva Sans Bold"/>
                  <a:ea typeface="Canva Sans Bold"/>
                  <a:cs typeface="Canva Sans Bold"/>
                  <a:sym typeface="Canva Sans Bold"/>
                </a:rPr>
                <a:t>vitesse</a:t>
              </a:r>
              <a:r>
                <a:rPr lang="en-US" sz="3000" b="1" spc="189" dirty="0">
                  <a:solidFill>
                    <a:srgbClr val="FDF8F8"/>
                  </a:solidFill>
                  <a:latin typeface="Canva Sans Bold"/>
                  <a:ea typeface="Canva Sans Bold"/>
                  <a:cs typeface="Canva Sans Bold"/>
                  <a:sym typeface="Canva Sans Bold"/>
                </a:rPr>
                <a:t> et </a:t>
              </a:r>
              <a:r>
                <a:rPr lang="en-US" sz="3000" b="1" spc="189" dirty="0" err="1">
                  <a:solidFill>
                    <a:srgbClr val="FDF8F8"/>
                  </a:solidFill>
                  <a:latin typeface="Canva Sans Bold"/>
                  <a:ea typeface="Canva Sans Bold"/>
                  <a:cs typeface="Canva Sans Bold"/>
                  <a:sym typeface="Canva Sans Bold"/>
                </a:rPr>
                <a:t>l'efficacité</a:t>
              </a:r>
              <a:r>
                <a:rPr lang="en-US" sz="3000" b="1" spc="189" dirty="0">
                  <a:solidFill>
                    <a:srgbClr val="FDF8F8"/>
                  </a:solidFill>
                  <a:latin typeface="Canva Sans Bold"/>
                  <a:ea typeface="Canva Sans Bold"/>
                  <a:cs typeface="Canva Sans Bold"/>
                  <a:sym typeface="Canva Sans Bold"/>
                </a:rPr>
                <a:t>, grâce à son </a:t>
              </a:r>
              <a:r>
                <a:rPr lang="en-US" sz="3000" b="1" spc="189" dirty="0" err="1">
                  <a:solidFill>
                    <a:srgbClr val="FDF8F8"/>
                  </a:solidFill>
                  <a:latin typeface="Canva Sans Bold"/>
                  <a:ea typeface="Canva Sans Bold"/>
                  <a:cs typeface="Canva Sans Bold"/>
                  <a:sym typeface="Canva Sans Bold"/>
                </a:rPr>
                <a:t>parallélisme</a:t>
              </a:r>
              <a:r>
                <a:rPr lang="en-US" sz="3000" b="1" spc="189" dirty="0">
                  <a:solidFill>
                    <a:srgbClr val="FDF8F8"/>
                  </a:solidFill>
                  <a:latin typeface="Canva Sans Bold"/>
                  <a:ea typeface="Canva Sans Bold"/>
                  <a:cs typeface="Canva Sans Bold"/>
                  <a:sym typeface="Canva Sans Bold"/>
                </a:rPr>
                <a:t> et </a:t>
              </a:r>
              <a:r>
                <a:rPr lang="en-US" sz="3000" b="1" spc="189" dirty="0" err="1">
                  <a:solidFill>
                    <a:srgbClr val="FDF8F8"/>
                  </a:solidFill>
                  <a:latin typeface="Canva Sans Bold"/>
                  <a:ea typeface="Canva Sans Bold"/>
                  <a:cs typeface="Canva Sans Bold"/>
                  <a:sym typeface="Canva Sans Bold"/>
                </a:rPr>
                <a:t>ses</a:t>
              </a:r>
              <a:r>
                <a:rPr lang="en-US" sz="3000" b="1" spc="189" dirty="0">
                  <a:solidFill>
                    <a:srgbClr val="FDF8F8"/>
                  </a:solidFill>
                  <a:latin typeface="Canva Sans Bold"/>
                  <a:ea typeface="Canva Sans Bold"/>
                  <a:cs typeface="Canva Sans Bold"/>
                  <a:sym typeface="Canva Sans Bold"/>
                </a:rPr>
                <a:t> techniques de </a:t>
              </a:r>
              <a:r>
                <a:rPr lang="en-US" sz="3000" b="1" spc="189" dirty="0" err="1">
                  <a:solidFill>
                    <a:srgbClr val="FDF8F8"/>
                  </a:solidFill>
                  <a:latin typeface="Canva Sans Bold"/>
                  <a:ea typeface="Canva Sans Bold"/>
                  <a:cs typeface="Canva Sans Bold"/>
                  <a:sym typeface="Canva Sans Bold"/>
                </a:rPr>
                <a:t>régularisation</a:t>
              </a:r>
              <a:r>
                <a:rPr lang="en-US" sz="3000" b="1" spc="189" dirty="0">
                  <a:solidFill>
                    <a:srgbClr val="FDF8F8"/>
                  </a:solidFill>
                  <a:latin typeface="Canva Sans Bold"/>
                  <a:ea typeface="Canva Sans Bold"/>
                  <a:cs typeface="Canva Sans Bold"/>
                  <a:sym typeface="Canva Sans Bold"/>
                </a:rPr>
                <a:t>.</a:t>
              </a:r>
            </a:p>
          </p:txBody>
        </p:sp>
      </p:grpSp>
      <p:grpSp>
        <p:nvGrpSpPr>
          <p:cNvPr id="7" name="Group 7"/>
          <p:cNvGrpSpPr/>
          <p:nvPr/>
        </p:nvGrpSpPr>
        <p:grpSpPr>
          <a:xfrm>
            <a:off x="17364075" y="9330701"/>
            <a:ext cx="750152" cy="750152"/>
            <a:chOff x="0" y="0"/>
            <a:chExt cx="812800" cy="812800"/>
          </a:xfrm>
        </p:grpSpPr>
        <p:sp>
          <p:nvSpPr>
            <p:cNvPr id="8" name="Freeform 8"/>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7562B"/>
            </a:solidFill>
          </p:spPr>
        </p:sp>
        <p:sp>
          <p:nvSpPr>
            <p:cNvPr id="9" name="TextBox 9"/>
            <p:cNvSpPr txBox="1"/>
            <p:nvPr/>
          </p:nvSpPr>
          <p:spPr>
            <a:xfrm>
              <a:off x="76200" y="85725"/>
              <a:ext cx="660400" cy="650875"/>
            </a:xfrm>
            <a:prstGeom prst="rect">
              <a:avLst/>
            </a:prstGeom>
          </p:spPr>
          <p:txBody>
            <a:bodyPr lIns="50800" tIns="50800" rIns="50800" bIns="50800" rtlCol="0" anchor="ctr"/>
            <a:lstStyle/>
            <a:p>
              <a:pPr algn="ctr">
                <a:lnSpc>
                  <a:spcPts val="2400"/>
                </a:lnSpc>
              </a:pPr>
              <a:r>
                <a:rPr lang="en-US" sz="2400" b="1" spc="117">
                  <a:solidFill>
                    <a:srgbClr val="FFFFFF"/>
                  </a:solidFill>
                  <a:latin typeface="Telegraf Bold"/>
                  <a:ea typeface="Telegraf Bold"/>
                  <a:cs typeface="Telegraf Bold"/>
                  <a:sym typeface="Telegraf Bold"/>
                </a:rPr>
                <a:t>19</a:t>
              </a:r>
            </a:p>
          </p:txBody>
        </p:sp>
      </p:grpSp>
      <p:pic>
        <p:nvPicPr>
          <p:cNvPr id="10" name="Image 9"/>
          <p:cNvPicPr>
            <a:picLocks noChangeAspect="1"/>
          </p:cNvPicPr>
          <p:nvPr/>
        </p:nvPicPr>
        <p:blipFill>
          <a:blip r:embed="rId2"/>
          <a:stretch>
            <a:fillRect/>
          </a:stretch>
        </p:blipFill>
        <p:spPr>
          <a:xfrm>
            <a:off x="12725400" y="-5443"/>
            <a:ext cx="5237837" cy="2932733"/>
          </a:xfrm>
          <a:prstGeom prst="rect">
            <a:avLst/>
          </a:prstGeom>
        </p:spPr>
      </p:pic>
      <p:pic>
        <p:nvPicPr>
          <p:cNvPr id="11" name="Image 10"/>
          <p:cNvPicPr>
            <a:picLocks noChangeAspect="1"/>
          </p:cNvPicPr>
          <p:nvPr/>
        </p:nvPicPr>
        <p:blipFill>
          <a:blip r:embed="rId3"/>
          <a:stretch>
            <a:fillRect/>
          </a:stretch>
        </p:blipFill>
        <p:spPr>
          <a:xfrm>
            <a:off x="2069934" y="2927290"/>
            <a:ext cx="14148130" cy="1408580"/>
          </a:xfrm>
          <a:prstGeom prst="rect">
            <a:avLst/>
          </a:prstGeom>
        </p:spPr>
      </p:pic>
    </p:spTree>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EEF4F3"/>
        </a:solidFill>
        <a:effectLst/>
      </p:bgPr>
    </p:bg>
    <p:spTree>
      <p:nvGrpSpPr>
        <p:cNvPr id="1" name=""/>
        <p:cNvGrpSpPr/>
        <p:nvPr/>
      </p:nvGrpSpPr>
      <p:grpSpPr>
        <a:xfrm>
          <a:off x="0" y="0"/>
          <a:ext cx="0" cy="0"/>
          <a:chOff x="0" y="0"/>
          <a:chExt cx="0" cy="0"/>
        </a:xfrm>
      </p:grpSpPr>
      <p:sp>
        <p:nvSpPr>
          <p:cNvPr id="2" name="TextBox 2"/>
          <p:cNvSpPr txBox="1"/>
          <p:nvPr/>
        </p:nvSpPr>
        <p:spPr>
          <a:xfrm>
            <a:off x="6170944" y="3635828"/>
            <a:ext cx="5445738" cy="3475983"/>
          </a:xfrm>
          <a:prstGeom prst="rect">
            <a:avLst/>
          </a:prstGeom>
        </p:spPr>
        <p:txBody>
          <a:bodyPr lIns="0" tIns="0" rIns="0" bIns="0" rtlCol="0" anchor="t">
            <a:spAutoFit/>
          </a:bodyPr>
          <a:lstStyle/>
          <a:p>
            <a:pPr algn="ctr">
              <a:lnSpc>
                <a:spcPts val="8599"/>
              </a:lnSpc>
            </a:pPr>
            <a:r>
              <a:rPr lang="en-US" sz="8599" spc="421" dirty="0">
                <a:solidFill>
                  <a:srgbClr val="290606"/>
                </a:solidFill>
                <a:latin typeface="Cheddar"/>
                <a:ea typeface="Cheddar"/>
                <a:cs typeface="Cheddar"/>
                <a:sym typeface="Cheddar"/>
              </a:rPr>
              <a:t>MERCI POUR VOTRE ATTENTION</a:t>
            </a:r>
          </a:p>
        </p:txBody>
      </p:sp>
      <p:pic>
        <p:nvPicPr>
          <p:cNvPr id="3" name="Image 2"/>
          <p:cNvPicPr>
            <a:picLocks noChangeAspect="1"/>
          </p:cNvPicPr>
          <p:nvPr/>
        </p:nvPicPr>
        <p:blipFill>
          <a:blip r:embed="rId2"/>
          <a:stretch>
            <a:fillRect/>
          </a:stretch>
        </p:blipFill>
        <p:spPr>
          <a:xfrm>
            <a:off x="29029" y="419100"/>
            <a:ext cx="5791618" cy="4419600"/>
          </a:xfrm>
          <a:prstGeom prst="rect">
            <a:avLst/>
          </a:prstGeom>
        </p:spPr>
      </p:pic>
      <p:pic>
        <p:nvPicPr>
          <p:cNvPr id="4" name="Image 3"/>
          <p:cNvPicPr>
            <a:picLocks noChangeAspect="1"/>
          </p:cNvPicPr>
          <p:nvPr/>
        </p:nvPicPr>
        <p:blipFill>
          <a:blip r:embed="rId3"/>
          <a:stretch>
            <a:fillRect/>
          </a:stretch>
        </p:blipFill>
        <p:spPr>
          <a:xfrm>
            <a:off x="12649200" y="4838700"/>
            <a:ext cx="5334000" cy="5185198"/>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18</TotalTime>
  <Words>911</Words>
  <Application>Microsoft Office PowerPoint</Application>
  <PresentationFormat>Personnalisé</PresentationFormat>
  <Paragraphs>130</Paragraphs>
  <Slides>20</Slides>
  <Notes>0</Notes>
  <HiddenSlides>0</HiddenSlides>
  <MMClips>0</MMClips>
  <ScaleCrop>false</ScaleCrop>
  <HeadingPairs>
    <vt:vector size="6" baseType="variant">
      <vt:variant>
        <vt:lpstr>Polices utilisées</vt:lpstr>
      </vt:variant>
      <vt:variant>
        <vt:i4>10</vt:i4>
      </vt:variant>
      <vt:variant>
        <vt:lpstr>Thème</vt:lpstr>
      </vt:variant>
      <vt:variant>
        <vt:i4>1</vt:i4>
      </vt:variant>
      <vt:variant>
        <vt:lpstr>Titres des diapositives</vt:lpstr>
      </vt:variant>
      <vt:variant>
        <vt:i4>20</vt:i4>
      </vt:variant>
    </vt:vector>
  </HeadingPairs>
  <TitlesOfParts>
    <vt:vector size="31" baseType="lpstr">
      <vt:lpstr>Arial</vt:lpstr>
      <vt:lpstr>Canva Sans Bold</vt:lpstr>
      <vt:lpstr>Cheddar</vt:lpstr>
      <vt:lpstr>Telegraf Medium</vt:lpstr>
      <vt:lpstr>TT Berlinerins</vt:lpstr>
      <vt:lpstr>Telegraf Bold</vt:lpstr>
      <vt:lpstr>Telegraf</vt:lpstr>
      <vt:lpstr>Canva Sans</vt:lpstr>
      <vt:lpstr>Calibri</vt:lpstr>
      <vt:lpstr>Arimo</vt:lpstr>
      <vt:lpstr>Office Theme</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vector>
  </TitlesOfParts>
  <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XG_Boost_ML_project</dc:title>
  <cp:lastModifiedBy>pc</cp:lastModifiedBy>
  <cp:revision>5</cp:revision>
  <dcterms:created xsi:type="dcterms:W3CDTF">2006-08-16T00:00:00Z</dcterms:created>
  <dcterms:modified xsi:type="dcterms:W3CDTF">2025-03-21T17:51:52Z</dcterms:modified>
  <dc:identifier>DAGhvvT0Eh0</dc:identifier>
</cp:coreProperties>
</file>